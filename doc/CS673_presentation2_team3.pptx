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Source Code Pro"/>
      <p:regular r:id="rId32"/>
      <p:bold r:id="rId33"/>
      <p:italic r:id="rId34"/>
      <p:boldItalic r:id="rId35"/>
    </p:embeddedFont>
    <p:embeddedFont>
      <p:font typeface="Oswald"/>
      <p:regular r:id="rId36"/>
      <p:bold r:id="rId37"/>
    </p:embeddedFont>
    <p:embeddedFont>
      <p:font typeface="Merriweather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1C9163-D9FB-4124-9839-BF2BB97B691D}">
  <a:tblStyle styleId="{AC1C9163-D9FB-4124-9839-BF2BB97B69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4.xml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SourceCodePro-bold.fntdata"/><Relationship Id="rId10" Type="http://schemas.openxmlformats.org/officeDocument/2006/relationships/slide" Target="slides/slide4.xml"/><Relationship Id="rId32" Type="http://schemas.openxmlformats.org/officeDocument/2006/relationships/font" Target="fonts/SourceCodePro-regular.fntdata"/><Relationship Id="rId13" Type="http://schemas.openxmlformats.org/officeDocument/2006/relationships/slide" Target="slides/slide7.xml"/><Relationship Id="rId35" Type="http://schemas.openxmlformats.org/officeDocument/2006/relationships/font" Target="fonts/SourceCodePro-boldItalic.fntdata"/><Relationship Id="rId12" Type="http://schemas.openxmlformats.org/officeDocument/2006/relationships/slide" Target="slides/slide6.xml"/><Relationship Id="rId34" Type="http://schemas.openxmlformats.org/officeDocument/2006/relationships/font" Target="fonts/SourceCodePro-italic.fntdata"/><Relationship Id="rId15" Type="http://schemas.openxmlformats.org/officeDocument/2006/relationships/slide" Target="slides/slide9.xml"/><Relationship Id="rId37" Type="http://schemas.openxmlformats.org/officeDocument/2006/relationships/font" Target="fonts/Oswald-bold.fntdata"/><Relationship Id="rId14" Type="http://schemas.openxmlformats.org/officeDocument/2006/relationships/slide" Target="slides/slide8.xml"/><Relationship Id="rId36" Type="http://schemas.openxmlformats.org/officeDocument/2006/relationships/font" Target="fonts/Oswald-regular.fntdata"/><Relationship Id="rId17" Type="http://schemas.openxmlformats.org/officeDocument/2006/relationships/slide" Target="slides/slide11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0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690baa33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a690baa33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ea690baa33_0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690baa33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a690baa33_0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a690baa33_0_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491225f5f_0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491225f5f_0_1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491225f5f_0_18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491225f5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491225f5f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491225f5f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491225f5f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491225f5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e491225f5f_0_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a690baa33_3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a690baa33_3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ea690baa33_3_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491225f5f_0_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491225f5f_0_1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e491225f5f_0_15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491225f5f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491225f5f_0_1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e491225f5f_0_17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17463"/>
            <a:ext cx="9144000" cy="2171700"/>
          </a:xfrm>
          <a:prstGeom prst="rect">
            <a:avLst/>
          </a:prstGeom>
          <a:gradFill>
            <a:gsLst>
              <a:gs pos="0">
                <a:srgbClr val="333333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09600" y="272415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610496" y="1217613"/>
            <a:ext cx="6858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361950"/>
            <a:ext cx="78867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52550"/>
            <a:ext cx="78867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7924800" y="5873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6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46;p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" name="Google Shape;55;p1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6" name="Google Shape;56;p1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5" name="Google Shape;6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848788" y="776175"/>
            <a:ext cx="68580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8108"/>
              <a:buNone/>
            </a:pPr>
            <a:r>
              <a:rPr b="1" lang="en-US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CS673 Software Engineering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8108"/>
              <a:buNone/>
            </a:pPr>
            <a:r>
              <a:rPr b="1" lang="en-US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Team 3 – DJVY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108108"/>
              <a:buNone/>
            </a:pPr>
            <a:r>
              <a:rPr b="1" lang="en-US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AI Test Generator</a:t>
            </a:r>
            <a:endParaRPr b="1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ct val="77838"/>
              <a:buNone/>
            </a:pPr>
            <a:r>
              <a:rPr b="1" lang="en-US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Proposal &amp; Planning</a:t>
            </a:r>
            <a:r>
              <a:rPr lang="en-US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2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848800" y="2493100"/>
            <a:ext cx="1751526" cy="19503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Danielle Leask</a:t>
            </a:r>
            <a:b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Vy Trinh</a:t>
            </a:r>
            <a:b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Jannatul Tuba</a:t>
            </a:r>
            <a:b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-U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Yuting Shi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000500" y="2116380"/>
            <a:ext cx="128922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Iteration </a:t>
            </a:r>
            <a:r>
              <a:rPr lang="en-US" sz="2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628650" y="323850"/>
            <a:ext cx="7886700" cy="841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600">
                <a:solidFill>
                  <a:schemeClr val="dk1"/>
                </a:solidFill>
              </a:rPr>
              <a:t>Team Members and Roles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809524" y="1439050"/>
            <a:ext cx="2954755" cy="2614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</a:rPr>
              <a:t>Danielle Leask</a:t>
            </a:r>
            <a:endParaRPr b="1" sz="1600">
              <a:solidFill>
                <a:schemeClr val="dk2"/>
              </a:solidFill>
            </a:endParaRPr>
          </a:p>
          <a:p>
            <a:pPr indent="-285750" lvl="0" marL="412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Team Lead</a:t>
            </a:r>
            <a:endParaRPr sz="1600">
              <a:solidFill>
                <a:schemeClr val="dk2"/>
              </a:solidFill>
            </a:endParaRPr>
          </a:p>
          <a:p>
            <a:pPr indent="-285750" lvl="0" marL="412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Requirement Lead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600">
                <a:solidFill>
                  <a:schemeClr val="dk1"/>
                </a:solidFill>
              </a:rPr>
              <a:t>Jannatul Tuba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Configuration Lead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2"/>
                </a:solidFill>
              </a:rPr>
              <a:t>QA Lead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sp>
        <p:nvSpPr>
          <p:cNvPr id="85" name="Google Shape;85;p16"/>
          <p:cNvSpPr/>
          <p:nvPr/>
        </p:nvSpPr>
        <p:spPr>
          <a:xfrm>
            <a:off x="-1544638" y="-506413"/>
            <a:ext cx="18415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555625" y="26988"/>
            <a:ext cx="5105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Presentation Title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4572000" y="1416190"/>
            <a:ext cx="3811345" cy="3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Vy Trinh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&amp; Implementation Lead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Security Lead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Yuting Shi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&amp; Implementation Lead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Problem &amp; Motivation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2049780" y="1502150"/>
            <a:ext cx="6425820" cy="3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Current testing tools lack project context.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Generic test cases need manual changes.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Old documents slow down software releases.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Manual test creation takes too long.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Wrong requirements cause big system bugs.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Good AI tools fix these problems.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Project Overview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2049780" y="1502150"/>
            <a:ext cx="6425820" cy="3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SpecCheck makes smart automatic test cases.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Main users are software QA teams.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System reads many different file types.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Simple dashboard helps manage test work.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Platform protects all private user data.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Project aims for fast test generation.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Key Features - Completed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50525" y="1532625"/>
            <a:ext cx="4141500" cy="3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3429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User authentication system (Login &amp; Logout) fully implemented.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3429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User registration (Signup) completed and connected to MongoDB.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3429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Document upload and storage functionality completed.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3429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OCR/text extraction and document processing pipeline implemented.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3429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RAG (Retrieval-Augmented Generation) knowledge indexing completed.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1710650" cy="175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388" y="0"/>
            <a:ext cx="1326198" cy="17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6325" y="0"/>
            <a:ext cx="1256382" cy="175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6">
            <a:alphaModFix/>
          </a:blip>
          <a:srcRect b="0" l="0" r="36540" t="0"/>
          <a:stretch/>
        </p:blipFill>
        <p:spPr>
          <a:xfrm>
            <a:off x="5318109" y="3337075"/>
            <a:ext cx="2339465" cy="1754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1846250"/>
            <a:ext cx="2673766" cy="13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Key Features - Completed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468825"/>
            <a:ext cx="40617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416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875"/>
              <a:buFont typeface="Arial"/>
              <a:buChar char="●"/>
            </a:pPr>
            <a:r>
              <a:rPr lang="en-US" sz="875">
                <a:latin typeface="Arial"/>
                <a:ea typeface="Arial"/>
                <a:cs typeface="Arial"/>
                <a:sym typeface="Arial"/>
              </a:rPr>
              <a:t>AI-powered test case generation integrated using OpenAI APIs.</a:t>
            </a:r>
            <a:endParaRPr sz="875">
              <a:latin typeface="Arial"/>
              <a:ea typeface="Arial"/>
              <a:cs typeface="Arial"/>
              <a:sym typeface="Arial"/>
            </a:endParaRPr>
          </a:p>
          <a:p>
            <a:pPr indent="-28416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875"/>
              <a:buFont typeface="Arial"/>
              <a:buChar char="●"/>
            </a:pPr>
            <a:r>
              <a:rPr lang="en-US" sz="875">
                <a:latin typeface="Arial"/>
                <a:ea typeface="Arial"/>
                <a:cs typeface="Arial"/>
                <a:sym typeface="Arial"/>
              </a:rPr>
              <a:t>Test Case Dashboard implemented.</a:t>
            </a:r>
            <a:endParaRPr sz="875">
              <a:latin typeface="Arial"/>
              <a:ea typeface="Arial"/>
              <a:cs typeface="Arial"/>
              <a:sym typeface="Arial"/>
            </a:endParaRPr>
          </a:p>
          <a:p>
            <a:pPr indent="-28416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875"/>
              <a:buFont typeface="Arial"/>
              <a:buChar char="●"/>
            </a:pPr>
            <a:r>
              <a:rPr lang="en-US" sz="875">
                <a:latin typeface="Arial"/>
                <a:ea typeface="Arial"/>
                <a:cs typeface="Arial"/>
                <a:sym typeface="Arial"/>
              </a:rPr>
              <a:t>REST API endpoints documented and tested.</a:t>
            </a:r>
            <a:endParaRPr sz="875">
              <a:latin typeface="Arial"/>
              <a:ea typeface="Arial"/>
              <a:cs typeface="Arial"/>
              <a:sym typeface="Arial"/>
            </a:endParaRPr>
          </a:p>
          <a:p>
            <a:pPr indent="-28416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875"/>
              <a:buFont typeface="Arial"/>
              <a:buChar char="●"/>
            </a:pPr>
            <a:r>
              <a:rPr lang="en-US" sz="875">
                <a:latin typeface="Arial"/>
                <a:ea typeface="Arial"/>
                <a:cs typeface="Arial"/>
                <a:sym typeface="Arial"/>
              </a:rPr>
              <a:t>Frontend architecture refactored into reusable React components.</a:t>
            </a:r>
            <a:endParaRPr sz="875">
              <a:latin typeface="Arial"/>
              <a:ea typeface="Arial"/>
              <a:cs typeface="Arial"/>
              <a:sym typeface="Arial"/>
            </a:endParaRPr>
          </a:p>
          <a:p>
            <a:pPr indent="-284165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875"/>
              <a:buFont typeface="Arial"/>
              <a:buChar char="●"/>
            </a:pPr>
            <a:r>
              <a:rPr lang="en-US" sz="875">
                <a:latin typeface="Arial"/>
                <a:ea typeface="Arial"/>
                <a:cs typeface="Arial"/>
                <a:sym typeface="Arial"/>
              </a:rPr>
              <a:t>Docker containerization completed for development and testing.</a:t>
            </a:r>
            <a:endParaRPr sz="875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400" y="253400"/>
            <a:ext cx="2689574" cy="174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400" y="2152849"/>
            <a:ext cx="4465798" cy="246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Key Features - In Progress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50526" y="1532625"/>
            <a:ext cx="6411900" cy="30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Development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Password hashing using bcrypt.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role-based access control.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output quality improvements.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Prompt optimization and hallucination reduction.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case coverage analysis.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Additional automated testing.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UI refinement.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Key Features - Pending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695" y="1511430"/>
            <a:ext cx="5311200" cy="30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Planned Features</a:t>
            </a:r>
            <a:endParaRPr b="1"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Change Impact Analysis.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Historical test case search and filtering.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AI-generated test coverage metrics.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Cloud deployment.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Production monitoring and logging.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Char char="●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Multi-project management support.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Technology Stack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50520" y="1532630"/>
            <a:ext cx="5067300" cy="30088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Frontend uses basic web design tools.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Backend uses stable Node Express setup.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MongoDB database stores all system data.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OpenAI models run the AI features.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GitHub code repository manages team work.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Jira platform tracks weekly group tasks.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Architecture &amp; Workflow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384125"/>
            <a:ext cx="7796400" cy="30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System Workflow</a:t>
            </a:r>
            <a:endParaRPr b="1"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User uploads project documents.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Documents are validated and stored.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Text is extracted and processed.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Content is chunked and indexed.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Relevant context is retrieved using RAG.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User submits requirements or user stories.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AI generates functional, negative, and edge test cases.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Generated results are stored in MongoDB.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Users review results through the dashboard</a:t>
            </a:r>
            <a:endParaRPr sz="1400">
              <a:solidFill>
                <a:srgbClr val="2D2D2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Architecture &amp; Workflow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501488" y="4491925"/>
            <a:ext cx="2013900" cy="2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high-level architecture diagram	</a:t>
            </a:r>
            <a:endParaRPr/>
          </a:p>
        </p:txBody>
      </p:sp>
      <p:pic>
        <p:nvPicPr>
          <p:cNvPr id="158" name="Google Shape;158;p25" title="Screenshot 2026-06-09 at 10.12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350" y="849300"/>
            <a:ext cx="3554174" cy="357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382375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Current Status &amp; Progress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2197325" y="4628624"/>
            <a:ext cx="506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Overall Progress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~75-80% complete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6" name="Google Shape;166;p26"/>
          <p:cNvGraphicFramePr/>
          <p:nvPr/>
        </p:nvGraphicFramePr>
        <p:xfrm>
          <a:off x="1544825" y="11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{AC1C9163-D9FB-4124-9839-BF2BB97B691D}</a:tableStyleId>
              </a:tblPr>
              <a:tblGrid>
                <a:gridCol w="1442650"/>
                <a:gridCol w="1442650"/>
              </a:tblGrid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Component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Status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Login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Logout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Signup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Document Upload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MongoDB Integration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Persistence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API Documentation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AI Generation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Complete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7" name="Google Shape;167;p26"/>
          <p:cNvGraphicFramePr/>
          <p:nvPr/>
        </p:nvGraphicFramePr>
        <p:xfrm>
          <a:off x="5174200" y="177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{AC1C9163-D9FB-4124-9839-BF2BB97B691D}</a:tableStyleId>
              </a:tblPr>
              <a:tblGrid>
                <a:gridCol w="1299500"/>
                <a:gridCol w="1299500"/>
              </a:tblGrid>
              <a:tr h="348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Component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Status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55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Test Case Dashboard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RAG Retrieval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Password Hashing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Automated Testing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62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Deployment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Planned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solidFill>
                  <a:schemeClr val="dk1"/>
                </a:solidFill>
              </a:rPr>
              <a:t>Timeline &amp; Next Steps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805325" y="1478700"/>
            <a:ext cx="3999900" cy="3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Iteration 3 Goals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endParaRPr sz="1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bcrypt password hashing.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authentication security.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 sz="1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automated testing coverage.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integration tests.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AI output evaluation metrics.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 txBox="1"/>
          <p:nvPr>
            <p:ph idx="2" type="body"/>
          </p:nvPr>
        </p:nvSpPr>
        <p:spPr>
          <a:xfrm>
            <a:off x="5158175" y="1800675"/>
            <a:ext cx="2927400" cy="18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Export generated test cases.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Impact Analysis.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Search and filtering capabilities.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Deployment</a:t>
            </a:r>
            <a:endParaRPr sz="10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 environment setup.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CI/CD improvements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3000">
                <a:solidFill>
                  <a:schemeClr val="dk1"/>
                </a:solidFill>
              </a:rPr>
              <a:t>Risks &amp; Mitigation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350375"/>
            <a:ext cx="39999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Technical Risks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 txBox="1"/>
          <p:nvPr>
            <p:ph idx="2" type="body"/>
          </p:nvPr>
        </p:nvSpPr>
        <p:spPr>
          <a:xfrm>
            <a:off x="5131975" y="1453650"/>
            <a:ext cx="36195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Process Risks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28"/>
          <p:cNvGraphicFramePr/>
          <p:nvPr/>
        </p:nvGraphicFramePr>
        <p:xfrm>
          <a:off x="371700" y="188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{AC1C9163-D9FB-4124-9839-BF2BB97B691D}</a:tableStyleId>
              </a:tblPr>
              <a:tblGrid>
                <a:gridCol w="1939950"/>
                <a:gridCol w="1939950"/>
              </a:tblGrid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Risk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Mitigation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AI hallucinated outputs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RAG grounding + prompt engineering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Security vulnerabilities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Password hashing + authentication review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MongoDB scaling issues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Optimized indexing and schema design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Incomplete test coverage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Automated testing pipeline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1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API dependency outages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Error handling and fallback logic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5" name="Google Shape;185;p28"/>
          <p:cNvGraphicFramePr/>
          <p:nvPr/>
        </p:nvGraphicFramePr>
        <p:xfrm>
          <a:off x="5212775" y="198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{AC1C9163-D9FB-4124-9839-BF2BB97B691D}</a:tableStyleId>
              </a:tblPr>
              <a:tblGrid>
                <a:gridCol w="1728950"/>
                <a:gridCol w="1728950"/>
              </a:tblGrid>
              <a:tr h="2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Risk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Mitigation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Requirement changes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Agile sprint planning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Merge conflicts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GitHub PR workflow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3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Defect accumulation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Jira tracking and prioritization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Testing Overview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30"/>
          <p:cNvCxnSpPr/>
          <p:nvPr/>
        </p:nvCxnSpPr>
        <p:spPr>
          <a:xfrm>
            <a:off x="457200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30"/>
          <p:cNvCxnSpPr/>
          <p:nvPr/>
        </p:nvCxnSpPr>
        <p:spPr>
          <a:xfrm>
            <a:off x="758952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30"/>
          <p:cNvCxnSpPr/>
          <p:nvPr/>
        </p:nvCxnSpPr>
        <p:spPr>
          <a:xfrm>
            <a:off x="1060704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30"/>
          <p:cNvSpPr/>
          <p:nvPr/>
        </p:nvSpPr>
        <p:spPr>
          <a:xfrm>
            <a:off x="320040" y="1188720"/>
            <a:ext cx="15546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0"/>
          <p:cNvSpPr/>
          <p:nvPr/>
        </p:nvSpPr>
        <p:spPr>
          <a:xfrm>
            <a:off x="320040" y="1188720"/>
            <a:ext cx="1554600" cy="1281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0"/>
          <p:cNvSpPr/>
          <p:nvPr/>
        </p:nvSpPr>
        <p:spPr>
          <a:xfrm>
            <a:off x="822960" y="1371600"/>
            <a:ext cx="548700" cy="548700"/>
          </a:xfrm>
          <a:prstGeom prst="ellipse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0"/>
          <p:cNvSpPr/>
          <p:nvPr/>
        </p:nvSpPr>
        <p:spPr>
          <a:xfrm>
            <a:off x="822960" y="13716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320040" y="201168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393192" y="2423160"/>
            <a:ext cx="140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Auth, upload, API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endpoints, DB CRUD,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logic, export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2020824" y="1188720"/>
            <a:ext cx="15546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/>
          <p:nvPr/>
        </p:nvSpPr>
        <p:spPr>
          <a:xfrm>
            <a:off x="2020824" y="1188720"/>
            <a:ext cx="1554600" cy="1281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0"/>
          <p:cNvSpPr/>
          <p:nvPr/>
        </p:nvSpPr>
        <p:spPr>
          <a:xfrm>
            <a:off x="2523744" y="1371600"/>
            <a:ext cx="548700" cy="548700"/>
          </a:xfrm>
          <a:prstGeom prst="ellipse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0"/>
          <p:cNvSpPr/>
          <p:nvPr/>
        </p:nvSpPr>
        <p:spPr>
          <a:xfrm>
            <a:off x="2523744" y="13716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0"/>
          <p:cNvSpPr/>
          <p:nvPr/>
        </p:nvSpPr>
        <p:spPr>
          <a:xfrm>
            <a:off x="2020824" y="201168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2093976" y="2423160"/>
            <a:ext cx="140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Frontend↔Backend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Backend↔MongoDB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AI↔Vector DB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3721608" y="1188720"/>
            <a:ext cx="15546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0"/>
          <p:cNvSpPr/>
          <p:nvPr/>
        </p:nvSpPr>
        <p:spPr>
          <a:xfrm>
            <a:off x="3721608" y="1188720"/>
            <a:ext cx="1554600" cy="1281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4224528" y="1371600"/>
            <a:ext cx="548700" cy="548700"/>
          </a:xfrm>
          <a:prstGeom prst="ellipse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4224528" y="13716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3721608" y="201168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3794760" y="2423160"/>
            <a:ext cx="140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Login, doc upload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AI generation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dashboard, export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5422392" y="1188720"/>
            <a:ext cx="15546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>
            <a:off x="5422392" y="1188720"/>
            <a:ext cx="1554600" cy="1281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5925312" y="1371600"/>
            <a:ext cx="548700" cy="548700"/>
          </a:xfrm>
          <a:prstGeom prst="ellipse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5925312" y="13716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5422392" y="201168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5495544" y="2423160"/>
            <a:ext cx="140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Functional cases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negative/edge cases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export accuracy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7123176" y="1188720"/>
            <a:ext cx="1554600" cy="347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7123176" y="1188720"/>
            <a:ext cx="1554600" cy="1281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7626096" y="1371600"/>
            <a:ext cx="548700" cy="548700"/>
          </a:xfrm>
          <a:prstGeom prst="ellipse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7626096" y="13716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7123176" y="201168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Regression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7196328" y="2423160"/>
            <a:ext cx="140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Auth, AI pipeline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upload/export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dashboard re-test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457200" y="47548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Manual + automated testing conducted collaboratively each iteration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231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231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/>
          <p:nvPr/>
        </p:nvSpPr>
        <p:spPr>
          <a:xfrm>
            <a:off x="457200" y="25603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Automation Framework &amp; Architecture</a:t>
            </a:r>
            <a:endParaRPr b="0" i="0" sz="2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33"/>
          <p:cNvCxnSpPr/>
          <p:nvPr/>
        </p:nvCxnSpPr>
        <p:spPr>
          <a:xfrm>
            <a:off x="457200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33"/>
          <p:cNvCxnSpPr/>
          <p:nvPr/>
        </p:nvCxnSpPr>
        <p:spPr>
          <a:xfrm>
            <a:off x="758952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33"/>
          <p:cNvCxnSpPr/>
          <p:nvPr/>
        </p:nvCxnSpPr>
        <p:spPr>
          <a:xfrm>
            <a:off x="1060704" y="10058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2D2D2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33"/>
          <p:cNvSpPr/>
          <p:nvPr/>
        </p:nvSpPr>
        <p:spPr>
          <a:xfrm>
            <a:off x="320040" y="1115568"/>
            <a:ext cx="1554600" cy="1005900"/>
          </a:xfrm>
          <a:prstGeom prst="rect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3"/>
          <p:cNvSpPr/>
          <p:nvPr/>
        </p:nvSpPr>
        <p:spPr>
          <a:xfrm>
            <a:off x="320040" y="115214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Browser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3"/>
          <p:cNvSpPr/>
          <p:nvPr/>
        </p:nvSpPr>
        <p:spPr>
          <a:xfrm>
            <a:off x="320040" y="1536192"/>
            <a:ext cx="1554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Playwright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1.44.0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020824" y="1115568"/>
            <a:ext cx="1554600" cy="1005900"/>
          </a:xfrm>
          <a:prstGeom prst="rect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020824" y="115214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Runner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2020824" y="1536192"/>
            <a:ext cx="1554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Pytest 8.2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3721608" y="1115568"/>
            <a:ext cx="1554600" cy="1005900"/>
          </a:xfrm>
          <a:prstGeom prst="rect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3721608" y="115214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BDD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3721608" y="1536192"/>
            <a:ext cx="1554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pytest-bdd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5422392" y="1115568"/>
            <a:ext cx="1554600" cy="1005900"/>
          </a:xfrm>
          <a:prstGeom prst="rect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5422392" y="115214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5422392" y="1536192"/>
            <a:ext cx="1554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pytest-html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7123176" y="1115568"/>
            <a:ext cx="1554600" cy="1005900"/>
          </a:xfrm>
          <a:prstGeom prst="rect">
            <a:avLst/>
          </a:prstGeom>
          <a:solidFill>
            <a:srgbClr val="FCE4ED"/>
          </a:solidFill>
          <a:ln cap="flat" cmpd="sng" w="12700">
            <a:solidFill>
              <a:srgbClr val="F4AAB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7123176" y="1152144"/>
            <a:ext cx="155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01E4A"/>
                </a:solidFill>
                <a:latin typeface="Arial"/>
                <a:ea typeface="Arial"/>
                <a:cs typeface="Arial"/>
                <a:sym typeface="Arial"/>
              </a:rPr>
              <a:t>Runtime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7123176" y="1536192"/>
            <a:ext cx="1554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D12B63"/>
                </a:solidFill>
                <a:latin typeface="Arial"/>
                <a:ea typeface="Arial"/>
                <a:cs typeface="Arial"/>
                <a:sym typeface="Arial"/>
              </a:rPr>
              <a:t>Python 3.12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457200" y="2286000"/>
            <a:ext cx="8229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Arial"/>
                <a:ea typeface="Arial"/>
                <a:cs typeface="Arial"/>
                <a:sym typeface="Arial"/>
              </a:rPr>
              <a:t>Page Object Model Architecture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365760" y="2697480"/>
            <a:ext cx="8412600" cy="39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3"/>
          <p:cNvSpPr/>
          <p:nvPr/>
        </p:nvSpPr>
        <p:spPr>
          <a:xfrm>
            <a:off x="365760" y="2697480"/>
            <a:ext cx="91500" cy="3933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548640" y="2697480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dashboard.feature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3063240" y="2697480"/>
            <a:ext cx="557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Gherkin BDD </a:t>
            </a:r>
            <a:r>
              <a:rPr lang="en-US" sz="1000">
                <a:solidFill>
                  <a:srgbClr val="666666"/>
                </a:solidFill>
              </a:rPr>
              <a:t>: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22 human-readable scenarios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365760" y="3154680"/>
            <a:ext cx="8412600" cy="393300"/>
          </a:xfrm>
          <a:prstGeom prst="rect">
            <a:avLst/>
          </a:prstGeom>
          <a:solidFill>
            <a:srgbClr val="FDF5F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365760" y="3154680"/>
            <a:ext cx="91500" cy="393300"/>
          </a:xfrm>
          <a:prstGeom prst="rect">
            <a:avLst/>
          </a:prstGeom>
          <a:solidFill>
            <a:srgbClr val="A01E4A"/>
          </a:solidFill>
          <a:ln cap="flat" cmpd="sng" w="12700">
            <a:solidFill>
              <a:srgbClr val="A01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"/>
          <p:cNvSpPr/>
          <p:nvPr/>
        </p:nvSpPr>
        <p:spPr>
          <a:xfrm>
            <a:off x="548640" y="3154680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dashboard_page.py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3063240" y="3154680"/>
            <a:ext cx="557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DashboardPage class </a:t>
            </a:r>
            <a:r>
              <a:rPr lang="en-US" sz="1000">
                <a:solidFill>
                  <a:srgbClr val="666666"/>
                </a:solidFill>
              </a:rPr>
              <a:t>: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all locators &amp; browser interactions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365760" y="3611880"/>
            <a:ext cx="8412600" cy="39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3"/>
          <p:cNvSpPr/>
          <p:nvPr/>
        </p:nvSpPr>
        <p:spPr>
          <a:xfrm>
            <a:off x="365760" y="3611880"/>
            <a:ext cx="91500" cy="393300"/>
          </a:xfrm>
          <a:prstGeom prst="rect">
            <a:avLst/>
          </a:prstGeom>
          <a:solidFill>
            <a:srgbClr val="D12B63"/>
          </a:solidFill>
          <a:ln cap="flat" cmpd="sng" w="12700">
            <a:solidFill>
              <a:srgbClr val="D12B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548640" y="3611880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dashboard_steps.py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3063240" y="3611880"/>
            <a:ext cx="557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@given / @when / @then step definitions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365760" y="4069080"/>
            <a:ext cx="8412600" cy="393300"/>
          </a:xfrm>
          <a:prstGeom prst="rect">
            <a:avLst/>
          </a:prstGeom>
          <a:solidFill>
            <a:srgbClr val="FDF5F8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3"/>
          <p:cNvSpPr/>
          <p:nvPr/>
        </p:nvSpPr>
        <p:spPr>
          <a:xfrm>
            <a:off x="365760" y="4069080"/>
            <a:ext cx="91500" cy="393300"/>
          </a:xfrm>
          <a:prstGeom prst="rect">
            <a:avLst/>
          </a:prstGeom>
          <a:solidFill>
            <a:srgbClr val="A01E4A"/>
          </a:solidFill>
          <a:ln cap="flat" cmpd="sng" w="12700">
            <a:solidFill>
              <a:srgbClr val="A01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3"/>
          <p:cNvSpPr/>
          <p:nvPr/>
        </p:nvSpPr>
        <p:spPr>
          <a:xfrm>
            <a:off x="548640" y="4069080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conftest.py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3"/>
          <p:cNvSpPr/>
          <p:nvPr/>
        </p:nvSpPr>
        <p:spPr>
          <a:xfrm>
            <a:off x="3063240" y="4069080"/>
            <a:ext cx="557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Session fixtures, fetch mock, screenshot-on-failure hook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3"/>
          <p:cNvSpPr/>
          <p:nvPr/>
        </p:nvSpPr>
        <p:spPr>
          <a:xfrm>
            <a:off x="365760" y="4526280"/>
            <a:ext cx="8412600" cy="393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3"/>
          <p:cNvSpPr/>
          <p:nvPr/>
        </p:nvSpPr>
        <p:spPr>
          <a:xfrm>
            <a:off x="365760" y="4526280"/>
            <a:ext cx="91500" cy="393300"/>
          </a:xfrm>
          <a:prstGeom prst="rect">
            <a:avLst/>
          </a:prstGeom>
          <a:solidFill>
            <a:srgbClr val="666666"/>
          </a:solidFill>
          <a:ln cap="flat" cmpd="sng" w="127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3"/>
          <p:cNvSpPr/>
          <p:nvPr/>
        </p:nvSpPr>
        <p:spPr>
          <a:xfrm>
            <a:off x="548640" y="4526280"/>
            <a:ext cx="2469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reports/report.html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3"/>
          <p:cNvSpPr/>
          <p:nvPr/>
        </p:nvSpPr>
        <p:spPr>
          <a:xfrm>
            <a:off x="3063240" y="4526280"/>
            <a:ext cx="5577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Auto-generated HTML test report after every run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48429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