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5143500" cy="9144000"/>
  <p:embeddedFontLst>
    <p:embeddedFont>
      <p:font typeface="Roboto"/>
      <p:regular r:id="rId56"/>
      <p:bold r:id="rId57"/>
      <p:italic r:id="rId58"/>
      <p:boldItalic r:id="rId59"/>
    </p:embeddedFont>
    <p:embeddedFont>
      <p:font typeface="Source Code Pro"/>
      <p:regular r:id="rId60"/>
      <p:bold r:id="rId61"/>
      <p:italic r:id="rId62"/>
      <p:boldItalic r:id="rId63"/>
    </p:embeddedFont>
    <p:embeddedFont>
      <p:font typeface="Oswald"/>
      <p:regular r:id="rId64"/>
      <p:bold r:id="rId65"/>
    </p:embeddedFont>
    <p:embeddedFont>
      <p:font typeface="Merriweather"/>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0" roundtripDataSignature="AMtx7mjwOA2COgbprzrR192++FZ4BGY4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829425-CA47-42D2-BFA8-2A0952B3F607}">
  <a:tblStyle styleId="{3A829425-CA47-42D2-BFA8-2A0952B3F60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customschemas.google.com/relationships/presentationmetadata" Target="meta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SourceCodePro-italic.fntdata"/><Relationship Id="rId61" Type="http://schemas.openxmlformats.org/officeDocument/2006/relationships/font" Target="fonts/SourceCodePro-bold.fntdata"/><Relationship Id="rId20" Type="http://schemas.openxmlformats.org/officeDocument/2006/relationships/slide" Target="slides/slide15.xml"/><Relationship Id="rId64" Type="http://schemas.openxmlformats.org/officeDocument/2006/relationships/font" Target="fonts/Oswald-regular.fntdata"/><Relationship Id="rId63" Type="http://schemas.openxmlformats.org/officeDocument/2006/relationships/font" Target="fonts/SourceCodePro-boldItalic.fntdata"/><Relationship Id="rId22" Type="http://schemas.openxmlformats.org/officeDocument/2006/relationships/slide" Target="slides/slide17.xml"/><Relationship Id="rId66" Type="http://schemas.openxmlformats.org/officeDocument/2006/relationships/font" Target="fonts/Merriweather-regular.fntdata"/><Relationship Id="rId21" Type="http://schemas.openxmlformats.org/officeDocument/2006/relationships/slide" Target="slides/slide16.xml"/><Relationship Id="rId65" Type="http://schemas.openxmlformats.org/officeDocument/2006/relationships/font" Target="fonts/Oswald-bold.fntdata"/><Relationship Id="rId24" Type="http://schemas.openxmlformats.org/officeDocument/2006/relationships/slide" Target="slides/slide19.xml"/><Relationship Id="rId68" Type="http://schemas.openxmlformats.org/officeDocument/2006/relationships/font" Target="fonts/Merriweather-italic.fntdata"/><Relationship Id="rId23" Type="http://schemas.openxmlformats.org/officeDocument/2006/relationships/slide" Target="slides/slide18.xml"/><Relationship Id="rId67" Type="http://schemas.openxmlformats.org/officeDocument/2006/relationships/font" Target="fonts/Merriweather-bold.fntdata"/><Relationship Id="rId60" Type="http://schemas.openxmlformats.org/officeDocument/2006/relationships/font" Target="fonts/SourceCodePro-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erriweather-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oboto-bold.fntdata"/><Relationship Id="rId12" Type="http://schemas.openxmlformats.org/officeDocument/2006/relationships/slide" Target="slides/slide7.xml"/><Relationship Id="rId56" Type="http://schemas.openxmlformats.org/officeDocument/2006/relationships/font" Target="fonts/Roboto-regular.fntdata"/><Relationship Id="rId15" Type="http://schemas.openxmlformats.org/officeDocument/2006/relationships/slide" Target="slides/slide10.xml"/><Relationship Id="rId59" Type="http://schemas.openxmlformats.org/officeDocument/2006/relationships/font" Target="fonts/Roboto-boldItalic.fntdata"/><Relationship Id="rId14" Type="http://schemas.openxmlformats.org/officeDocument/2006/relationships/slide" Target="slides/slide9.xml"/><Relationship Id="rId58" Type="http://schemas.openxmlformats.org/officeDocument/2006/relationships/font" Target="fonts/Robot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bfd5095cd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bfd5095cd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g3ebfd5095cd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bfd5095cd_2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3" name="Google Shape;73;g3ebfd5095cd_2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g3ebfd5095cd_2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c3edad01e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c3edad01e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g3ec3edad01e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c3edad01e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c3edad01e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g3ec3edad01e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c043b165a_0_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c043b165a_0_3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g3ec043b165a_0_3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ec043b165a_0_3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ec043b165a_0_3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g3ec043b165a_0_3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c3edad01e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c3edad01e_0_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ec3edad01e_0_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c043b165a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3ec043b165a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3ec043b165a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c043b165a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c043b165a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ec043b165a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c043b165a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ec043b165a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g3ec043b165a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c043b165a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c043b165a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ec043b165a_0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c043b165a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ec043b165a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ec043b165a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c043b165a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c043b165a_0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3ec043b165a_0_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c043b165a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c043b165a_0_1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ec043b165a_0_10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c043b165a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c043b165a_0_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ec043b165a_0_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ec043b165a_0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ec043b165a_0_1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ec043b165a_0_1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ec043b165a_0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ec043b165a_0_2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ec043b165a_0_2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ec043b165a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ec043b165a_0_2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3ec043b165a_0_20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ec043b165a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ec043b165a_0_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3ec043b165a_0_9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ec6dcfb5f0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ec6dcfb5f0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3ec6dcfb5f0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ec6dcfb5f0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ec6dcfb5f0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g3ec6dcfb5f0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f129ba84b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f129ba84b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g3f129ba84b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12f0a9926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f12f0a9926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3f12f0a9926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ec46b95f68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ec46b95f68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g3ec46b95f68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f12f0a9926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f12f0a9926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g3f12f0a9926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f129ba84b3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f129ba84b3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g3f129ba84b3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f12f0a9926_3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f12f0a9926_3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g3f12f0a9926_3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c6dcfb5f0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ec6dcfb5f0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g3ec6dcfb5f0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f12f0a9926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f12f0a9926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3f12f0a9926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f129ba84b3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f129ba84b3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g3f129ba84b3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f12f0a9926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f12f0a9926_0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g3f12f0a9926_0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f12f0a9926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f12f0a9926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g3f12f0a9926_0_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8" name="Google Shape;72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3" name="Google Shape;80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 name="Google Shape;84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0" name="Google Shape;85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1" name="Google Shape;85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 name="Google Shape;85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 name="Google Shape;86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5" name="Google Shape;92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6" name="Google Shape;92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ec043b165a_0_3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3ec043b165a_0_3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8" name="Google Shape;948;g3ec043b165a_0_3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ebfd5095cd_2_13"/>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g3ebfd5095cd_2_13"/>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g3ebfd5095cd_2_13"/>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7" name="Google Shape;17;g3ebfd5095cd_2_13"/>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8" name="Google Shape;18;g3ebfd5095cd_2_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g3ebfd5095cd_2_19"/>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g3ebfd5095cd_2_19"/>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22" name="Google Shape;22;g3ebfd5095cd_2_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cxnSp>
        <p:nvCxnSpPr>
          <p:cNvPr id="24" name="Google Shape;24;g3ebfd5095cd_2_23"/>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5" name="Google Shape;25;g3ebfd5095cd_2_23"/>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g3ebfd5095cd_2_23"/>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g3ebfd5095cd_2_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g3ebfd5095cd_2_28"/>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30" name="Google Shape;30;g3ebfd5095cd_2_28"/>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g3ebfd5095cd_2_28"/>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g3ebfd5095cd_2_28"/>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g3ebfd5095cd_2_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g3ebfd5095cd_2_3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g3ebfd5095cd_2_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cxnSp>
        <p:nvCxnSpPr>
          <p:cNvPr id="38" name="Google Shape;38;g3ebfd5095cd_2_3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9" name="Google Shape;39;g3ebfd5095cd_2_3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g3ebfd5095cd_2_3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g3ebfd5095cd_2_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2" name="Shape 42"/>
        <p:cNvGrpSpPr/>
        <p:nvPr/>
      </p:nvGrpSpPr>
      <p:grpSpPr>
        <a:xfrm>
          <a:off x="0" y="0"/>
          <a:ext cx="0" cy="0"/>
          <a:chOff x="0" y="0"/>
          <a:chExt cx="0" cy="0"/>
        </a:xfrm>
      </p:grpSpPr>
      <p:sp>
        <p:nvSpPr>
          <p:cNvPr id="43" name="Google Shape;43;g3ebfd5095cd_2_42"/>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4" name="Google Shape;44;g3ebfd5095cd_2_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5" name="Shape 45"/>
        <p:cNvGrpSpPr/>
        <p:nvPr/>
      </p:nvGrpSpPr>
      <p:grpSpPr>
        <a:xfrm>
          <a:off x="0" y="0"/>
          <a:ext cx="0" cy="0"/>
          <a:chOff x="0" y="0"/>
          <a:chExt cx="0" cy="0"/>
        </a:xfrm>
      </p:grpSpPr>
      <p:sp>
        <p:nvSpPr>
          <p:cNvPr id="46" name="Google Shape;46;g3ebfd5095cd_2_45"/>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g3ebfd5095cd_2_45"/>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8" name="Google Shape;48;g3ebfd5095cd_2_45"/>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9" name="Google Shape;49;g3ebfd5095cd_2_45"/>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0" name="Google Shape;50;g3ebfd5095cd_2_4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1" name="Google Shape;51;g3ebfd5095cd_2_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g3ebfd5095cd_2_5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4" name="Google Shape;54;g3ebfd5095cd_2_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cxnSp>
        <p:nvCxnSpPr>
          <p:cNvPr id="56" name="Google Shape;56;g3ebfd5095cd_2_55"/>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7" name="Google Shape;57;g3ebfd5095cd_2_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8" name="Google Shape;58;g3ebfd5095cd_2_5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9" name="Google Shape;59;g3ebfd5095cd_2_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g3ebfd5095cd_2_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2" name="Shape 6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9" name="Shape 9"/>
        <p:cNvGrpSpPr/>
        <p:nvPr/>
      </p:nvGrpSpPr>
      <p:grpSpPr>
        <a:xfrm>
          <a:off x="0" y="0"/>
          <a:ext cx="0" cy="0"/>
          <a:chOff x="0" y="0"/>
          <a:chExt cx="0" cy="0"/>
        </a:xfrm>
      </p:grpSpPr>
      <p:sp>
        <p:nvSpPr>
          <p:cNvPr id="10" name="Google Shape;10;g3ebfd5095cd_2_9"/>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11" name="Google Shape;11;g3ebfd5095cd_2_9"/>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12" name="Google Shape;12;g3ebfd5095cd_2_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descr="/tmp/band.png" id="68" name="Google Shape;68;g3ebfd5095cd_2_0"/>
          <p:cNvPicPr preferRelativeResize="0"/>
          <p:nvPr/>
        </p:nvPicPr>
        <p:blipFill rotWithShape="1">
          <a:blip r:embed="rId3">
            <a:alphaModFix/>
          </a:blip>
          <a:srcRect b="0" l="0" r="0" t="0"/>
          <a:stretch/>
        </p:blipFill>
        <p:spPr>
          <a:xfrm>
            <a:off x="0" y="0"/>
            <a:ext cx="9144000" cy="2429700"/>
          </a:xfrm>
          <a:prstGeom prst="rect">
            <a:avLst/>
          </a:prstGeom>
          <a:noFill/>
          <a:ln>
            <a:noFill/>
          </a:ln>
        </p:spPr>
      </p:pic>
      <p:sp>
        <p:nvSpPr>
          <p:cNvPr id="69" name="Google Shape;69;g3ebfd5095cd_2_0"/>
          <p:cNvSpPr txBox="1"/>
          <p:nvPr/>
        </p:nvSpPr>
        <p:spPr>
          <a:xfrm>
            <a:off x="1540050" y="479550"/>
            <a:ext cx="5240700" cy="1125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750"/>
              </a:spcBef>
              <a:spcAft>
                <a:spcPts val="0"/>
              </a:spcAft>
              <a:buNone/>
            </a:pPr>
            <a:r>
              <a:rPr b="1" lang="en-US" sz="1800">
                <a:solidFill>
                  <a:schemeClr val="lt1"/>
                </a:solidFill>
                <a:latin typeface="Merriweather"/>
                <a:ea typeface="Merriweather"/>
                <a:cs typeface="Merriweather"/>
                <a:sym typeface="Merriweather"/>
              </a:rPr>
              <a:t>CS673 Software Engineering</a:t>
            </a:r>
            <a:endParaRPr b="1" sz="1800">
              <a:solidFill>
                <a:schemeClr val="lt1"/>
              </a:solidFill>
              <a:latin typeface="Merriweather"/>
              <a:ea typeface="Merriweather"/>
              <a:cs typeface="Merriweather"/>
              <a:sym typeface="Merriweather"/>
            </a:endParaRPr>
          </a:p>
          <a:p>
            <a:pPr indent="0" lvl="0" marL="0" rtl="0" algn="l">
              <a:lnSpc>
                <a:spcPct val="90000"/>
              </a:lnSpc>
              <a:spcBef>
                <a:spcPts val="750"/>
              </a:spcBef>
              <a:spcAft>
                <a:spcPts val="0"/>
              </a:spcAft>
              <a:buNone/>
            </a:pPr>
            <a:r>
              <a:rPr b="1" lang="en-US" sz="1800">
                <a:solidFill>
                  <a:schemeClr val="lt1"/>
                </a:solidFill>
                <a:latin typeface="Merriweather"/>
                <a:ea typeface="Merriweather"/>
                <a:cs typeface="Merriweather"/>
                <a:sym typeface="Merriweather"/>
              </a:rPr>
              <a:t>Team 3 – SpecCheck</a:t>
            </a:r>
            <a:endParaRPr b="1" sz="1800">
              <a:solidFill>
                <a:schemeClr val="lt1"/>
              </a:solidFill>
              <a:latin typeface="Merriweather"/>
              <a:ea typeface="Merriweather"/>
              <a:cs typeface="Merriweather"/>
              <a:sym typeface="Merriweather"/>
            </a:endParaRPr>
          </a:p>
          <a:p>
            <a:pPr indent="0" lvl="0" marL="0" rtl="0" algn="l">
              <a:lnSpc>
                <a:spcPct val="90000"/>
              </a:lnSpc>
              <a:spcBef>
                <a:spcPts val="750"/>
              </a:spcBef>
              <a:spcAft>
                <a:spcPts val="0"/>
              </a:spcAft>
              <a:buNone/>
            </a:pPr>
            <a:r>
              <a:rPr b="1" lang="en-US" sz="1800">
                <a:solidFill>
                  <a:schemeClr val="lt1"/>
                </a:solidFill>
                <a:latin typeface="Merriweather"/>
                <a:ea typeface="Merriweather"/>
                <a:cs typeface="Merriweather"/>
                <a:sym typeface="Merriweather"/>
              </a:rPr>
              <a:t>AI Test Generator</a:t>
            </a:r>
            <a:endParaRPr sz="2500">
              <a:solidFill>
                <a:schemeClr val="lt1"/>
              </a:solidFill>
              <a:latin typeface="Merriweather"/>
              <a:ea typeface="Merriweather"/>
              <a:cs typeface="Merriweather"/>
              <a:sym typeface="Merriweather"/>
            </a:endParaRPr>
          </a:p>
        </p:txBody>
      </p:sp>
      <p:sp>
        <p:nvSpPr>
          <p:cNvPr id="70" name="Google Shape;70;g3ebfd5095cd_2_0"/>
          <p:cNvSpPr txBox="1"/>
          <p:nvPr/>
        </p:nvSpPr>
        <p:spPr>
          <a:xfrm>
            <a:off x="1540050" y="2599950"/>
            <a:ext cx="3000000" cy="21396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1200"/>
              </a:spcBef>
              <a:spcAft>
                <a:spcPts val="0"/>
              </a:spcAft>
              <a:buNone/>
            </a:pPr>
            <a:r>
              <a:rPr lang="en-US" sz="1300">
                <a:solidFill>
                  <a:schemeClr val="dk2"/>
                </a:solidFill>
                <a:latin typeface="Roboto"/>
                <a:ea typeface="Roboto"/>
                <a:cs typeface="Roboto"/>
                <a:sym typeface="Roboto"/>
              </a:rPr>
              <a:t>Danielle Leask</a:t>
            </a:r>
            <a:br>
              <a:rPr lang="en-US" sz="1300">
                <a:solidFill>
                  <a:schemeClr val="dk2"/>
                </a:solidFill>
                <a:latin typeface="Roboto"/>
                <a:ea typeface="Roboto"/>
                <a:cs typeface="Roboto"/>
                <a:sym typeface="Roboto"/>
              </a:rPr>
            </a:br>
            <a:r>
              <a:rPr lang="en-US" sz="1300">
                <a:solidFill>
                  <a:schemeClr val="dk2"/>
                </a:solidFill>
                <a:latin typeface="Roboto"/>
                <a:ea typeface="Roboto"/>
                <a:cs typeface="Roboto"/>
                <a:sym typeface="Roboto"/>
              </a:rPr>
              <a:t>Vy Trinh</a:t>
            </a:r>
            <a:br>
              <a:rPr lang="en-US" sz="1300">
                <a:solidFill>
                  <a:schemeClr val="dk2"/>
                </a:solidFill>
                <a:latin typeface="Roboto"/>
                <a:ea typeface="Roboto"/>
                <a:cs typeface="Roboto"/>
                <a:sym typeface="Roboto"/>
              </a:rPr>
            </a:br>
            <a:r>
              <a:rPr lang="en-US" sz="1300">
                <a:solidFill>
                  <a:schemeClr val="dk2"/>
                </a:solidFill>
                <a:latin typeface="Roboto"/>
                <a:ea typeface="Roboto"/>
                <a:cs typeface="Roboto"/>
                <a:sym typeface="Roboto"/>
              </a:rPr>
              <a:t>Jannatul Tuba</a:t>
            </a:r>
            <a:br>
              <a:rPr lang="en-US" sz="1300">
                <a:solidFill>
                  <a:schemeClr val="dk2"/>
                </a:solidFill>
                <a:latin typeface="Roboto"/>
                <a:ea typeface="Roboto"/>
                <a:cs typeface="Roboto"/>
                <a:sym typeface="Roboto"/>
              </a:rPr>
            </a:br>
            <a:r>
              <a:rPr lang="en-US" sz="1300">
                <a:solidFill>
                  <a:schemeClr val="dk2"/>
                </a:solidFill>
                <a:latin typeface="Roboto"/>
                <a:ea typeface="Roboto"/>
                <a:cs typeface="Roboto"/>
                <a:sym typeface="Roboto"/>
              </a:rPr>
              <a:t>Yuting Shi</a:t>
            </a:r>
            <a:endParaRPr sz="1300">
              <a:solidFill>
                <a:schemeClr val="dk2"/>
              </a:solidFill>
              <a:latin typeface="Roboto"/>
              <a:ea typeface="Roboto"/>
              <a:cs typeface="Roboto"/>
              <a:sym typeface="Roboto"/>
            </a:endParaRPr>
          </a:p>
          <a:p>
            <a:pPr indent="0" lvl="0" marL="0" rtl="0" algn="l">
              <a:lnSpc>
                <a:spcPct val="200000"/>
              </a:lnSpc>
              <a:spcBef>
                <a:spcPts val="120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ebfd5095cd_2_4"/>
          <p:cNvSpPr txBox="1"/>
          <p:nvPr/>
        </p:nvSpPr>
        <p:spPr>
          <a:xfrm>
            <a:off x="628650" y="323850"/>
            <a:ext cx="7886700" cy="8415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US" sz="3600">
                <a:solidFill>
                  <a:srgbClr val="E91D63"/>
                </a:solidFill>
                <a:latin typeface="Oswald"/>
                <a:ea typeface="Oswald"/>
                <a:cs typeface="Oswald"/>
                <a:sym typeface="Oswald"/>
              </a:rPr>
              <a:t>Team Members and Roles</a:t>
            </a:r>
            <a:endParaRPr sz="2400">
              <a:solidFill>
                <a:srgbClr val="424242"/>
              </a:solidFill>
              <a:latin typeface="Oswald"/>
              <a:ea typeface="Oswald"/>
              <a:cs typeface="Oswald"/>
              <a:sym typeface="Oswald"/>
            </a:endParaRPr>
          </a:p>
        </p:txBody>
      </p:sp>
      <p:sp>
        <p:nvSpPr>
          <p:cNvPr id="77" name="Google Shape;77;g3ebfd5095cd_2_4"/>
          <p:cNvSpPr txBox="1"/>
          <p:nvPr/>
        </p:nvSpPr>
        <p:spPr>
          <a:xfrm>
            <a:off x="4572000" y="1416190"/>
            <a:ext cx="3811200" cy="324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E91D63"/>
              </a:buClr>
              <a:buSzPts val="1100"/>
              <a:buFont typeface="Arial"/>
              <a:buNone/>
            </a:pPr>
            <a:r>
              <a:rPr b="1" i="0" lang="en-US" sz="1600" u="none" cap="none" strike="noStrike">
                <a:solidFill>
                  <a:srgbClr val="E91D63"/>
                </a:solidFill>
                <a:latin typeface="Arial"/>
                <a:ea typeface="Arial"/>
                <a:cs typeface="Arial"/>
                <a:sym typeface="Arial"/>
              </a:rPr>
              <a:t>Vy Trinh</a:t>
            </a:r>
            <a:endParaRPr b="1" i="0" sz="1600" u="none" cap="none" strike="noStrike">
              <a:solidFill>
                <a:srgbClr val="E91D63"/>
              </a:solidFill>
              <a:latin typeface="Arial"/>
              <a:ea typeface="Arial"/>
              <a:cs typeface="Arial"/>
              <a:sym typeface="Arial"/>
            </a:endParaRPr>
          </a:p>
          <a:p>
            <a:pPr indent="-330200" lvl="0" marL="457200" marR="0" rtl="0" algn="l">
              <a:lnSpc>
                <a:spcPct val="115000"/>
              </a:lnSpc>
              <a:spcBef>
                <a:spcPts val="1200"/>
              </a:spcBef>
              <a:spcAft>
                <a:spcPts val="0"/>
              </a:spcAft>
              <a:buClr>
                <a:srgbClr val="E91D63"/>
              </a:buClr>
              <a:buSzPts val="1600"/>
              <a:buFont typeface="Arial"/>
              <a:buChar char="●"/>
            </a:pPr>
            <a:r>
              <a:rPr b="0" i="0" lang="en-US" sz="1600" u="none" cap="none" strike="noStrike">
                <a:solidFill>
                  <a:srgbClr val="424242"/>
                </a:solidFill>
                <a:latin typeface="Arial"/>
                <a:ea typeface="Arial"/>
                <a:cs typeface="Arial"/>
                <a:sym typeface="Arial"/>
              </a:rPr>
              <a:t>Design &amp; Implementation Lead</a:t>
            </a:r>
            <a:endParaRPr b="0" i="0" sz="1600" u="none" cap="none" strike="noStrike">
              <a:solidFill>
                <a:srgbClr val="424242"/>
              </a:solidFill>
              <a:latin typeface="Arial"/>
              <a:ea typeface="Arial"/>
              <a:cs typeface="Arial"/>
              <a:sym typeface="Arial"/>
            </a:endParaRPr>
          </a:p>
          <a:p>
            <a:pPr indent="-330200" lvl="0" marL="457200" marR="0" rtl="0" algn="l">
              <a:lnSpc>
                <a:spcPct val="115000"/>
              </a:lnSpc>
              <a:spcBef>
                <a:spcPts val="0"/>
              </a:spcBef>
              <a:spcAft>
                <a:spcPts val="0"/>
              </a:spcAft>
              <a:buClr>
                <a:srgbClr val="E91D63"/>
              </a:buClr>
              <a:buSzPts val="1600"/>
              <a:buFont typeface="Arial"/>
              <a:buChar char="●"/>
            </a:pPr>
            <a:r>
              <a:rPr b="0" i="0" lang="en-US" sz="1600" u="none" cap="none" strike="noStrike">
                <a:solidFill>
                  <a:srgbClr val="424242"/>
                </a:solidFill>
                <a:latin typeface="Arial"/>
                <a:ea typeface="Arial"/>
                <a:cs typeface="Arial"/>
                <a:sym typeface="Arial"/>
              </a:rPr>
              <a:t>Security Lead</a:t>
            </a:r>
            <a:endParaRPr b="0" i="0" sz="1600" u="none" cap="none" strike="noStrike">
              <a:solidFill>
                <a:srgbClr val="424242"/>
              </a:solidFill>
              <a:latin typeface="Arial"/>
              <a:ea typeface="Arial"/>
              <a:cs typeface="Arial"/>
              <a:sym typeface="Arial"/>
            </a:endParaRPr>
          </a:p>
          <a:p>
            <a:pPr indent="0" lvl="0" marL="0" marR="0" rtl="0" algn="l">
              <a:lnSpc>
                <a:spcPct val="115000"/>
              </a:lnSpc>
              <a:spcBef>
                <a:spcPts val="1200"/>
              </a:spcBef>
              <a:spcAft>
                <a:spcPts val="0"/>
              </a:spcAft>
              <a:buClr>
                <a:srgbClr val="E91D63"/>
              </a:buClr>
              <a:buSzPts val="1100"/>
              <a:buFont typeface="Arial"/>
              <a:buNone/>
            </a:pPr>
            <a:r>
              <a:rPr b="1" i="0" lang="en-US" sz="1600" u="none" cap="none" strike="noStrike">
                <a:solidFill>
                  <a:srgbClr val="E91D63"/>
                </a:solidFill>
                <a:latin typeface="Arial"/>
                <a:ea typeface="Arial"/>
                <a:cs typeface="Arial"/>
                <a:sym typeface="Arial"/>
              </a:rPr>
              <a:t>Yuting Shi</a:t>
            </a:r>
            <a:endParaRPr b="1" i="0" sz="1600" u="none" cap="none" strike="noStrike">
              <a:solidFill>
                <a:srgbClr val="E91D63"/>
              </a:solidFill>
              <a:latin typeface="Arial"/>
              <a:ea typeface="Arial"/>
              <a:cs typeface="Arial"/>
              <a:sym typeface="Arial"/>
            </a:endParaRPr>
          </a:p>
          <a:p>
            <a:pPr indent="-330200" lvl="0" marL="457200" marR="0" rtl="0" algn="l">
              <a:lnSpc>
                <a:spcPct val="115000"/>
              </a:lnSpc>
              <a:spcBef>
                <a:spcPts val="1200"/>
              </a:spcBef>
              <a:spcAft>
                <a:spcPts val="0"/>
              </a:spcAft>
              <a:buClr>
                <a:srgbClr val="E91D63"/>
              </a:buClr>
              <a:buSzPts val="1600"/>
              <a:buFont typeface="Arial"/>
              <a:buChar char="●"/>
            </a:pPr>
            <a:r>
              <a:rPr b="0" i="0" lang="en-US" sz="1600" u="none" cap="none" strike="noStrike">
                <a:solidFill>
                  <a:srgbClr val="424242"/>
                </a:solidFill>
                <a:latin typeface="Arial"/>
                <a:ea typeface="Arial"/>
                <a:cs typeface="Arial"/>
                <a:sym typeface="Arial"/>
              </a:rPr>
              <a:t>Design &amp; Implementation Lead</a:t>
            </a:r>
            <a:endParaRPr b="0" i="0" sz="1600" u="none" cap="none" strike="noStrike">
              <a:solidFill>
                <a:srgbClr val="424242"/>
              </a:solidFill>
              <a:latin typeface="Arial"/>
              <a:ea typeface="Arial"/>
              <a:cs typeface="Arial"/>
              <a:sym typeface="Arial"/>
            </a:endParaRPr>
          </a:p>
          <a:p>
            <a:pPr indent="0" lvl="0" marL="0" marR="0" rtl="0" algn="l">
              <a:lnSpc>
                <a:spcPct val="100000"/>
              </a:lnSpc>
              <a:spcBef>
                <a:spcPts val="1200"/>
              </a:spcBef>
              <a:spcAft>
                <a:spcPts val="0"/>
              </a:spcAft>
              <a:buClr>
                <a:srgbClr val="E91D63"/>
              </a:buClr>
              <a:buSzPts val="1100"/>
              <a:buFont typeface="Arial"/>
              <a:buNone/>
            </a:pPr>
            <a:r>
              <a:t/>
            </a:r>
            <a:endParaRPr b="0" i="0" sz="1600" u="none" cap="none" strike="noStrike">
              <a:solidFill>
                <a:srgbClr val="4242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24242"/>
              </a:solidFill>
              <a:latin typeface="Arial"/>
              <a:ea typeface="Arial"/>
              <a:cs typeface="Arial"/>
              <a:sym typeface="Arial"/>
            </a:endParaRPr>
          </a:p>
        </p:txBody>
      </p:sp>
      <p:sp>
        <p:nvSpPr>
          <p:cNvPr id="78" name="Google Shape;78;g3ebfd5095cd_2_4"/>
          <p:cNvSpPr txBox="1"/>
          <p:nvPr/>
        </p:nvSpPr>
        <p:spPr>
          <a:xfrm>
            <a:off x="809524" y="1439050"/>
            <a:ext cx="2954700" cy="26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600">
                <a:solidFill>
                  <a:srgbClr val="E91D63"/>
                </a:solidFill>
                <a:latin typeface="Source Code Pro"/>
                <a:ea typeface="Source Code Pro"/>
                <a:cs typeface="Source Code Pro"/>
                <a:sym typeface="Source Code Pro"/>
              </a:rPr>
              <a:t>Danielle Leask</a:t>
            </a:r>
            <a:endParaRPr b="1" sz="1600">
              <a:solidFill>
                <a:srgbClr val="424242"/>
              </a:solidFill>
              <a:latin typeface="Source Code Pro"/>
              <a:ea typeface="Source Code Pro"/>
              <a:cs typeface="Source Code Pro"/>
              <a:sym typeface="Source Code Pro"/>
            </a:endParaRPr>
          </a:p>
          <a:p>
            <a:pPr indent="-285750" lvl="0" marL="412750" rtl="0" algn="l">
              <a:lnSpc>
                <a:spcPct val="115000"/>
              </a:lnSpc>
              <a:spcBef>
                <a:spcPts val="1200"/>
              </a:spcBef>
              <a:spcAft>
                <a:spcPts val="0"/>
              </a:spcAft>
              <a:buClr>
                <a:srgbClr val="E91D63"/>
              </a:buClr>
              <a:buSzPts val="1600"/>
              <a:buFont typeface="Source Code Pro"/>
              <a:buChar char="●"/>
            </a:pPr>
            <a:r>
              <a:rPr lang="en-US" sz="1600">
                <a:solidFill>
                  <a:srgbClr val="424242"/>
                </a:solidFill>
                <a:latin typeface="Source Code Pro"/>
                <a:ea typeface="Source Code Pro"/>
                <a:cs typeface="Source Code Pro"/>
                <a:sym typeface="Source Code Pro"/>
              </a:rPr>
              <a:t>Team Lead</a:t>
            </a:r>
            <a:endParaRPr sz="1600">
              <a:solidFill>
                <a:srgbClr val="424242"/>
              </a:solidFill>
              <a:latin typeface="Source Code Pro"/>
              <a:ea typeface="Source Code Pro"/>
              <a:cs typeface="Source Code Pro"/>
              <a:sym typeface="Source Code Pro"/>
            </a:endParaRPr>
          </a:p>
          <a:p>
            <a:pPr indent="-285750" lvl="0" marL="412750" rtl="0" algn="l">
              <a:lnSpc>
                <a:spcPct val="115000"/>
              </a:lnSpc>
              <a:spcBef>
                <a:spcPts val="0"/>
              </a:spcBef>
              <a:spcAft>
                <a:spcPts val="0"/>
              </a:spcAft>
              <a:buClr>
                <a:srgbClr val="E91D63"/>
              </a:buClr>
              <a:buSzPts val="1600"/>
              <a:buFont typeface="Source Code Pro"/>
              <a:buChar char="●"/>
            </a:pPr>
            <a:r>
              <a:rPr lang="en-US" sz="1600">
                <a:solidFill>
                  <a:srgbClr val="424242"/>
                </a:solidFill>
                <a:latin typeface="Source Code Pro"/>
                <a:ea typeface="Source Code Pro"/>
                <a:cs typeface="Source Code Pro"/>
                <a:sym typeface="Source Code Pro"/>
              </a:rPr>
              <a:t>Requirement Lead</a:t>
            </a:r>
            <a:endParaRPr sz="1600">
              <a:solidFill>
                <a:srgbClr val="424242"/>
              </a:solidFill>
              <a:latin typeface="Source Code Pro"/>
              <a:ea typeface="Source Code Pro"/>
              <a:cs typeface="Source Code Pro"/>
              <a:sym typeface="Source Code Pro"/>
            </a:endParaRPr>
          </a:p>
          <a:p>
            <a:pPr indent="0" lvl="0" marL="0" rtl="0" algn="l">
              <a:lnSpc>
                <a:spcPct val="115000"/>
              </a:lnSpc>
              <a:spcBef>
                <a:spcPts val="1200"/>
              </a:spcBef>
              <a:spcAft>
                <a:spcPts val="0"/>
              </a:spcAft>
              <a:buNone/>
            </a:pPr>
            <a:r>
              <a:rPr b="1" lang="en-US" sz="1600">
                <a:solidFill>
                  <a:srgbClr val="E91D63"/>
                </a:solidFill>
                <a:latin typeface="Source Code Pro"/>
                <a:ea typeface="Source Code Pro"/>
                <a:cs typeface="Source Code Pro"/>
                <a:sym typeface="Source Code Pro"/>
              </a:rPr>
              <a:t>Jannatul Tuba</a:t>
            </a:r>
            <a:endParaRPr b="1" sz="1600">
              <a:solidFill>
                <a:srgbClr val="E91D63"/>
              </a:solidFill>
              <a:latin typeface="Source Code Pro"/>
              <a:ea typeface="Source Code Pro"/>
              <a:cs typeface="Source Code Pro"/>
              <a:sym typeface="Source Code Pro"/>
            </a:endParaRPr>
          </a:p>
          <a:p>
            <a:pPr indent="-330200" lvl="0" marL="457200" rtl="0" algn="l">
              <a:lnSpc>
                <a:spcPct val="115000"/>
              </a:lnSpc>
              <a:spcBef>
                <a:spcPts val="1200"/>
              </a:spcBef>
              <a:spcAft>
                <a:spcPts val="0"/>
              </a:spcAft>
              <a:buClr>
                <a:srgbClr val="E91D63"/>
              </a:buClr>
              <a:buSzPts val="1600"/>
              <a:buFont typeface="Source Code Pro"/>
              <a:buChar char="●"/>
            </a:pPr>
            <a:r>
              <a:rPr lang="en-US" sz="1600">
                <a:solidFill>
                  <a:srgbClr val="424242"/>
                </a:solidFill>
                <a:latin typeface="Source Code Pro"/>
                <a:ea typeface="Source Code Pro"/>
                <a:cs typeface="Source Code Pro"/>
                <a:sym typeface="Source Code Pro"/>
              </a:rPr>
              <a:t>Configuration Lead</a:t>
            </a:r>
            <a:endParaRPr sz="1600">
              <a:solidFill>
                <a:srgbClr val="424242"/>
              </a:solidFill>
              <a:latin typeface="Source Code Pro"/>
              <a:ea typeface="Source Code Pro"/>
              <a:cs typeface="Source Code Pro"/>
              <a:sym typeface="Source Code Pro"/>
            </a:endParaRPr>
          </a:p>
          <a:p>
            <a:pPr indent="-330200" lvl="0" marL="457200" rtl="0" algn="l">
              <a:lnSpc>
                <a:spcPct val="115000"/>
              </a:lnSpc>
              <a:spcBef>
                <a:spcPts val="0"/>
              </a:spcBef>
              <a:spcAft>
                <a:spcPts val="0"/>
              </a:spcAft>
              <a:buClr>
                <a:srgbClr val="E91D63"/>
              </a:buClr>
              <a:buSzPts val="1600"/>
              <a:buFont typeface="Source Code Pro"/>
              <a:buChar char="●"/>
            </a:pPr>
            <a:r>
              <a:rPr lang="en-US" sz="1600">
                <a:solidFill>
                  <a:srgbClr val="424242"/>
                </a:solidFill>
                <a:latin typeface="Source Code Pro"/>
                <a:ea typeface="Source Code Pro"/>
                <a:cs typeface="Source Code Pro"/>
                <a:sym typeface="Source Code Pro"/>
              </a:rPr>
              <a:t>QA Lead</a:t>
            </a:r>
            <a:endParaRPr sz="1600">
              <a:solidFill>
                <a:srgbClr val="424242"/>
              </a:solidFill>
              <a:latin typeface="Source Code Pro"/>
              <a:ea typeface="Source Code Pro"/>
              <a:cs typeface="Source Code Pro"/>
              <a:sym typeface="Source Code Pro"/>
            </a:endParaRPr>
          </a:p>
          <a:p>
            <a:pPr indent="0" lvl="0" marL="0" rtl="0" algn="l">
              <a:spcBef>
                <a:spcPts val="1200"/>
              </a:spcBef>
              <a:spcAft>
                <a:spcPts val="0"/>
              </a:spcAft>
              <a:buNone/>
            </a:pPr>
            <a:r>
              <a:t/>
            </a:r>
            <a:endParaRPr sz="1600">
              <a:solidFill>
                <a:srgbClr val="424242"/>
              </a:solidFill>
              <a:latin typeface="Source Code Pro"/>
              <a:ea typeface="Source Code Pro"/>
              <a:cs typeface="Source Code Pro"/>
              <a:sym typeface="Source Code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ec3edad01e_0_11"/>
          <p:cNvSpPr txBox="1"/>
          <p:nvPr>
            <p:ph type="title"/>
          </p:nvPr>
        </p:nvSpPr>
        <p:spPr>
          <a:xfrm>
            <a:off x="296975" y="1582075"/>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US"/>
              <a:t>Stakeholders</a:t>
            </a:r>
            <a:endParaRPr/>
          </a:p>
          <a:p>
            <a:pPr indent="0" lvl="0" marL="0" rtl="0" algn="ctr">
              <a:spcBef>
                <a:spcPts val="0"/>
              </a:spcBef>
              <a:spcAft>
                <a:spcPts val="0"/>
              </a:spcAft>
              <a:buNone/>
            </a:pPr>
            <a:r>
              <a:rPr lang="en-US"/>
              <a:t>System Users</a:t>
            </a:r>
            <a:endParaRPr/>
          </a:p>
        </p:txBody>
      </p:sp>
      <p:sp>
        <p:nvSpPr>
          <p:cNvPr id="85" name="Google Shape;85;g3ec3edad01e_0_1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US"/>
              <a:t>QA Engineers</a:t>
            </a:r>
            <a:endParaRPr/>
          </a:p>
          <a:p>
            <a:pPr indent="0" lvl="0" marL="0" rtl="0" algn="l">
              <a:spcBef>
                <a:spcPts val="1200"/>
              </a:spcBef>
              <a:spcAft>
                <a:spcPts val="0"/>
              </a:spcAft>
              <a:buNone/>
            </a:pPr>
            <a:r>
              <a:rPr lang="en-US"/>
              <a:t>QA Leads</a:t>
            </a:r>
            <a:endParaRPr/>
          </a:p>
          <a:p>
            <a:pPr indent="0" lvl="0" marL="0" rtl="0" algn="l">
              <a:spcBef>
                <a:spcPts val="1200"/>
              </a:spcBef>
              <a:spcAft>
                <a:spcPts val="1200"/>
              </a:spcAft>
              <a:buNone/>
            </a:pPr>
            <a:r>
              <a:rPr lang="en-US"/>
              <a:t>Developers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0" name="Shape 90"/>
        <p:cNvGrpSpPr/>
        <p:nvPr/>
      </p:nvGrpSpPr>
      <p:grpSpPr>
        <a:xfrm>
          <a:off x="0" y="0"/>
          <a:ext cx="0" cy="0"/>
          <a:chOff x="0" y="0"/>
          <a:chExt cx="0" cy="0"/>
        </a:xfrm>
      </p:grpSpPr>
      <p:pic>
        <p:nvPicPr>
          <p:cNvPr id="91" name="Google Shape;91;g3ec3edad01e_0_34" title="use-case-diagram.png"/>
          <p:cNvPicPr preferRelativeResize="0"/>
          <p:nvPr/>
        </p:nvPicPr>
        <p:blipFill>
          <a:blip r:embed="rId3">
            <a:alphaModFix/>
          </a:blip>
          <a:stretch>
            <a:fillRect/>
          </a:stretch>
        </p:blipFill>
        <p:spPr>
          <a:xfrm>
            <a:off x="2283212" y="198363"/>
            <a:ext cx="4577576" cy="474677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ec043b165a_0_336"/>
          <p:cNvSpPr txBox="1"/>
          <p:nvPr>
            <p:ph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US" sz="3100">
                <a:solidFill>
                  <a:schemeClr val="dk1"/>
                </a:solidFill>
              </a:rPr>
              <a:t>Requirement Analysis </a:t>
            </a:r>
            <a:endParaRPr sz="3600">
              <a:solidFill>
                <a:schemeClr val="dk1"/>
              </a:solidFill>
            </a:endParaRPr>
          </a:p>
        </p:txBody>
      </p:sp>
      <p:sp>
        <p:nvSpPr>
          <p:cNvPr id="98" name="Google Shape;98;g3ec043b165a_0_336"/>
          <p:cNvSpPr txBox="1"/>
          <p:nvPr>
            <p:ph idx="1" type="body"/>
          </p:nvPr>
        </p:nvSpPr>
        <p:spPr>
          <a:xfrm>
            <a:off x="162250" y="1405900"/>
            <a:ext cx="3999900" cy="1677000"/>
          </a:xfrm>
          <a:prstGeom prst="rect">
            <a:avLst/>
          </a:prstGeom>
        </p:spPr>
        <p:txBody>
          <a:bodyPr anchorCtr="0" anchor="t" bIns="91425" lIns="91425" spcFirstLastPara="1" rIns="91425" wrap="square" tIns="91425">
            <a:normAutofit fontScale="62500" lnSpcReduction="20000"/>
          </a:bodyPr>
          <a:lstStyle/>
          <a:p>
            <a:pPr indent="0" lvl="0" marL="0" rtl="0" algn="l">
              <a:spcBef>
                <a:spcPts val="1200"/>
              </a:spcBef>
              <a:spcAft>
                <a:spcPts val="0"/>
              </a:spcAft>
              <a:buNone/>
            </a:pPr>
            <a:r>
              <a:rPr b="1" lang="en-US" sz="1650">
                <a:solidFill>
                  <a:schemeClr val="dk1"/>
                </a:solidFill>
                <a:latin typeface="Arial"/>
                <a:ea typeface="Arial"/>
                <a:cs typeface="Arial"/>
                <a:sym typeface="Arial"/>
              </a:rPr>
              <a:t>Functional Requirements</a:t>
            </a:r>
            <a:endParaRPr b="1" sz="1650">
              <a:solidFill>
                <a:schemeClr val="dk1"/>
              </a:solidFill>
              <a:latin typeface="Arial"/>
              <a:ea typeface="Arial"/>
              <a:cs typeface="Arial"/>
              <a:sym typeface="Arial"/>
            </a:endParaRPr>
          </a:p>
          <a:p>
            <a:pPr indent="-294066" lvl="0" marL="457200" rtl="0" algn="l">
              <a:spcBef>
                <a:spcPts val="1200"/>
              </a:spcBef>
              <a:spcAft>
                <a:spcPts val="0"/>
              </a:spcAft>
              <a:buClr>
                <a:srgbClr val="000000"/>
              </a:buClr>
              <a:buSzPct val="100000"/>
              <a:buFont typeface="Arial"/>
              <a:buChar char="●"/>
            </a:pPr>
            <a:r>
              <a:rPr lang="en-US" sz="1650">
                <a:solidFill>
                  <a:srgbClr val="000000"/>
                </a:solidFill>
                <a:latin typeface="Arial"/>
                <a:ea typeface="Arial"/>
                <a:cs typeface="Arial"/>
                <a:sym typeface="Arial"/>
              </a:rPr>
              <a:t>User Login &amp; Registration</a:t>
            </a:r>
            <a:endParaRPr sz="1650">
              <a:solidFill>
                <a:srgbClr val="000000"/>
              </a:solidFill>
              <a:latin typeface="Arial"/>
              <a:ea typeface="Arial"/>
              <a:cs typeface="Arial"/>
              <a:sym typeface="Arial"/>
            </a:endParaRPr>
          </a:p>
          <a:p>
            <a:pPr indent="-294066" lvl="0" marL="457200" rtl="0" algn="l">
              <a:spcBef>
                <a:spcPts val="0"/>
              </a:spcBef>
              <a:spcAft>
                <a:spcPts val="0"/>
              </a:spcAft>
              <a:buClr>
                <a:srgbClr val="000000"/>
              </a:buClr>
              <a:buSzPct val="100000"/>
              <a:buFont typeface="Arial"/>
              <a:buChar char="●"/>
            </a:pPr>
            <a:r>
              <a:rPr lang="en-US" sz="1650">
                <a:solidFill>
                  <a:srgbClr val="000000"/>
                </a:solidFill>
                <a:latin typeface="Arial"/>
                <a:ea typeface="Arial"/>
                <a:cs typeface="Arial"/>
                <a:sym typeface="Arial"/>
              </a:rPr>
              <a:t>Document Upload &amp; Knowledge Indexing</a:t>
            </a:r>
            <a:endParaRPr sz="1650">
              <a:solidFill>
                <a:srgbClr val="000000"/>
              </a:solidFill>
              <a:latin typeface="Arial"/>
              <a:ea typeface="Arial"/>
              <a:cs typeface="Arial"/>
              <a:sym typeface="Arial"/>
            </a:endParaRPr>
          </a:p>
          <a:p>
            <a:pPr indent="-294066" lvl="0" marL="457200" rtl="0" algn="l">
              <a:spcBef>
                <a:spcPts val="0"/>
              </a:spcBef>
              <a:spcAft>
                <a:spcPts val="0"/>
              </a:spcAft>
              <a:buClr>
                <a:srgbClr val="000000"/>
              </a:buClr>
              <a:buSzPct val="100000"/>
              <a:buFont typeface="Arial"/>
              <a:buChar char="●"/>
            </a:pPr>
            <a:r>
              <a:rPr lang="en-US" sz="1650">
                <a:solidFill>
                  <a:srgbClr val="000000"/>
                </a:solidFill>
                <a:latin typeface="Arial"/>
                <a:ea typeface="Arial"/>
                <a:cs typeface="Arial"/>
                <a:sym typeface="Arial"/>
              </a:rPr>
              <a:t>User Story Input &amp; Analysis</a:t>
            </a:r>
            <a:endParaRPr sz="1650">
              <a:solidFill>
                <a:srgbClr val="000000"/>
              </a:solidFill>
              <a:latin typeface="Arial"/>
              <a:ea typeface="Arial"/>
              <a:cs typeface="Arial"/>
              <a:sym typeface="Arial"/>
            </a:endParaRPr>
          </a:p>
          <a:p>
            <a:pPr indent="-294066" lvl="0" marL="457200" rtl="0" algn="l">
              <a:spcBef>
                <a:spcPts val="0"/>
              </a:spcBef>
              <a:spcAft>
                <a:spcPts val="0"/>
              </a:spcAft>
              <a:buClr>
                <a:srgbClr val="000000"/>
              </a:buClr>
              <a:buSzPct val="100000"/>
              <a:buFont typeface="Arial"/>
              <a:buChar char="●"/>
            </a:pPr>
            <a:r>
              <a:rPr lang="en-US" sz="1650">
                <a:solidFill>
                  <a:srgbClr val="000000"/>
                </a:solidFill>
                <a:latin typeface="Arial"/>
                <a:ea typeface="Arial"/>
                <a:cs typeface="Arial"/>
                <a:sym typeface="Arial"/>
              </a:rPr>
              <a:t>AI Test Case Generation</a:t>
            </a:r>
            <a:endParaRPr sz="1650">
              <a:solidFill>
                <a:srgbClr val="000000"/>
              </a:solidFill>
              <a:latin typeface="Arial"/>
              <a:ea typeface="Arial"/>
              <a:cs typeface="Arial"/>
              <a:sym typeface="Arial"/>
            </a:endParaRPr>
          </a:p>
          <a:p>
            <a:pPr indent="-294066" lvl="0" marL="457200" rtl="0" algn="l">
              <a:spcBef>
                <a:spcPts val="0"/>
              </a:spcBef>
              <a:spcAft>
                <a:spcPts val="0"/>
              </a:spcAft>
              <a:buClr>
                <a:srgbClr val="000000"/>
              </a:buClr>
              <a:buSzPct val="100000"/>
              <a:buFont typeface="Arial"/>
              <a:buChar char="●"/>
            </a:pPr>
            <a:r>
              <a:rPr lang="en-US" sz="1650">
                <a:solidFill>
                  <a:srgbClr val="000000"/>
                </a:solidFill>
                <a:latin typeface="Arial"/>
                <a:ea typeface="Arial"/>
                <a:cs typeface="Arial"/>
                <a:sym typeface="Arial"/>
              </a:rPr>
              <a:t>Document Management Dashboard</a:t>
            </a:r>
            <a:endParaRPr sz="1650">
              <a:solidFill>
                <a:srgbClr val="000000"/>
              </a:solidFill>
              <a:latin typeface="Arial"/>
              <a:ea typeface="Arial"/>
              <a:cs typeface="Arial"/>
              <a:sym typeface="Arial"/>
            </a:endParaRPr>
          </a:p>
          <a:p>
            <a:pPr indent="-294066" lvl="0" marL="457200" rtl="0" algn="l">
              <a:spcBef>
                <a:spcPts val="0"/>
              </a:spcBef>
              <a:spcAft>
                <a:spcPts val="0"/>
              </a:spcAft>
              <a:buClr>
                <a:srgbClr val="000000"/>
              </a:buClr>
              <a:buSzPct val="100000"/>
              <a:buFont typeface="Arial"/>
              <a:buChar char="●"/>
            </a:pPr>
            <a:r>
              <a:rPr lang="en-US" sz="1650">
                <a:solidFill>
                  <a:srgbClr val="000000"/>
                </a:solidFill>
                <a:latin typeface="Arial"/>
                <a:ea typeface="Arial"/>
                <a:cs typeface="Arial"/>
                <a:sym typeface="Arial"/>
              </a:rPr>
              <a:t>Export Test Cases (CSV/TXT)</a:t>
            </a:r>
            <a:endParaRPr sz="165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99" name="Google Shape;99;g3ec043b165a_0_336"/>
          <p:cNvSpPr txBox="1"/>
          <p:nvPr>
            <p:ph idx="2" type="body"/>
          </p:nvPr>
        </p:nvSpPr>
        <p:spPr>
          <a:xfrm>
            <a:off x="5123375" y="1405900"/>
            <a:ext cx="3354600" cy="1857900"/>
          </a:xfrm>
          <a:prstGeom prst="rect">
            <a:avLst/>
          </a:prstGeom>
        </p:spPr>
        <p:txBody>
          <a:bodyPr anchorCtr="0" anchor="t" bIns="91425" lIns="91425" spcFirstLastPara="1" rIns="91425" wrap="square" tIns="91425">
            <a:normAutofit fontScale="25000"/>
          </a:bodyPr>
          <a:lstStyle/>
          <a:p>
            <a:pPr indent="0" lvl="0" marL="0" rtl="0" algn="l">
              <a:spcBef>
                <a:spcPts val="1200"/>
              </a:spcBef>
              <a:spcAft>
                <a:spcPts val="0"/>
              </a:spcAft>
              <a:buNone/>
            </a:pPr>
            <a:r>
              <a:rPr b="1" lang="en-US" sz="4000">
                <a:solidFill>
                  <a:schemeClr val="dk1"/>
                </a:solidFill>
                <a:latin typeface="Arial"/>
                <a:ea typeface="Arial"/>
                <a:cs typeface="Arial"/>
                <a:sym typeface="Arial"/>
              </a:rPr>
              <a:t>Non-Functional Requirements</a:t>
            </a:r>
            <a:endParaRPr b="1" sz="4000">
              <a:solidFill>
                <a:schemeClr val="dk1"/>
              </a:solidFill>
              <a:latin typeface="Arial"/>
              <a:ea typeface="Arial"/>
              <a:cs typeface="Arial"/>
              <a:sym typeface="Arial"/>
            </a:endParaRPr>
          </a:p>
          <a:p>
            <a:pPr indent="-292100" lvl="0" marL="457200" rtl="0" algn="l">
              <a:spcBef>
                <a:spcPts val="1200"/>
              </a:spcBef>
              <a:spcAft>
                <a:spcPts val="0"/>
              </a:spcAft>
              <a:buClr>
                <a:srgbClr val="000000"/>
              </a:buClr>
              <a:buSzPct val="100000"/>
              <a:buFont typeface="Arial"/>
              <a:buChar char="●"/>
            </a:pPr>
            <a:r>
              <a:rPr lang="en-US" sz="4000">
                <a:solidFill>
                  <a:srgbClr val="000000"/>
                </a:solidFill>
                <a:latin typeface="Arial"/>
                <a:ea typeface="Arial"/>
                <a:cs typeface="Arial"/>
                <a:sym typeface="Arial"/>
              </a:rPr>
              <a:t>Secure Authentication &amp; Data Protection</a:t>
            </a:r>
            <a:endParaRPr sz="4000">
              <a:solidFill>
                <a:srgbClr val="000000"/>
              </a:solidFill>
              <a:latin typeface="Arial"/>
              <a:ea typeface="Arial"/>
              <a:cs typeface="Arial"/>
              <a:sym typeface="Arial"/>
            </a:endParaRPr>
          </a:p>
          <a:p>
            <a:pPr indent="-292100" lvl="0" marL="457200" rtl="0" algn="l">
              <a:spcBef>
                <a:spcPts val="0"/>
              </a:spcBef>
              <a:spcAft>
                <a:spcPts val="0"/>
              </a:spcAft>
              <a:buClr>
                <a:srgbClr val="000000"/>
              </a:buClr>
              <a:buSzPct val="100000"/>
              <a:buFont typeface="Arial"/>
              <a:buChar char="●"/>
            </a:pPr>
            <a:r>
              <a:rPr lang="en-US" sz="4000">
                <a:solidFill>
                  <a:srgbClr val="000000"/>
                </a:solidFill>
                <a:latin typeface="Arial"/>
                <a:ea typeface="Arial"/>
                <a:cs typeface="Arial"/>
                <a:sym typeface="Arial"/>
              </a:rPr>
              <a:t>Fast Response Times (&lt; 15 sec AI generation)</a:t>
            </a:r>
            <a:endParaRPr sz="4000">
              <a:solidFill>
                <a:srgbClr val="000000"/>
              </a:solidFill>
              <a:latin typeface="Arial"/>
              <a:ea typeface="Arial"/>
              <a:cs typeface="Arial"/>
              <a:sym typeface="Arial"/>
            </a:endParaRPr>
          </a:p>
          <a:p>
            <a:pPr indent="-292100" lvl="0" marL="457200" rtl="0" algn="l">
              <a:spcBef>
                <a:spcPts val="0"/>
              </a:spcBef>
              <a:spcAft>
                <a:spcPts val="0"/>
              </a:spcAft>
              <a:buClr>
                <a:srgbClr val="000000"/>
              </a:buClr>
              <a:buSzPct val="100000"/>
              <a:buFont typeface="Arial"/>
              <a:buChar char="●"/>
            </a:pPr>
            <a:r>
              <a:rPr lang="en-US" sz="4000">
                <a:solidFill>
                  <a:srgbClr val="000000"/>
                </a:solidFill>
                <a:latin typeface="Arial"/>
                <a:ea typeface="Arial"/>
                <a:cs typeface="Arial"/>
                <a:sym typeface="Arial"/>
              </a:rPr>
              <a:t>Reliable Document Storage</a:t>
            </a:r>
            <a:endParaRPr sz="4000">
              <a:solidFill>
                <a:srgbClr val="000000"/>
              </a:solidFill>
              <a:latin typeface="Arial"/>
              <a:ea typeface="Arial"/>
              <a:cs typeface="Arial"/>
              <a:sym typeface="Arial"/>
            </a:endParaRPr>
          </a:p>
          <a:p>
            <a:pPr indent="-292100" lvl="0" marL="457200" rtl="0" algn="l">
              <a:spcBef>
                <a:spcPts val="0"/>
              </a:spcBef>
              <a:spcAft>
                <a:spcPts val="0"/>
              </a:spcAft>
              <a:buClr>
                <a:srgbClr val="000000"/>
              </a:buClr>
              <a:buSzPct val="100000"/>
              <a:buFont typeface="Arial"/>
              <a:buChar char="●"/>
            </a:pPr>
            <a:r>
              <a:rPr lang="en-US" sz="4000">
                <a:solidFill>
                  <a:srgbClr val="000000"/>
                </a:solidFill>
                <a:latin typeface="Arial"/>
                <a:ea typeface="Arial"/>
                <a:cs typeface="Arial"/>
                <a:sym typeface="Arial"/>
              </a:rPr>
              <a:t>Scalable Architecture</a:t>
            </a:r>
            <a:endParaRPr sz="4000">
              <a:solidFill>
                <a:srgbClr val="000000"/>
              </a:solidFill>
              <a:latin typeface="Arial"/>
              <a:ea typeface="Arial"/>
              <a:cs typeface="Arial"/>
              <a:sym typeface="Arial"/>
            </a:endParaRPr>
          </a:p>
          <a:p>
            <a:pPr indent="-292100" lvl="0" marL="457200" rtl="0" algn="l">
              <a:spcBef>
                <a:spcPts val="0"/>
              </a:spcBef>
              <a:spcAft>
                <a:spcPts val="0"/>
              </a:spcAft>
              <a:buClr>
                <a:srgbClr val="000000"/>
              </a:buClr>
              <a:buSzPct val="100000"/>
              <a:buFont typeface="Arial"/>
              <a:buChar char="●"/>
            </a:pPr>
            <a:r>
              <a:rPr lang="en-US" sz="4000">
                <a:solidFill>
                  <a:srgbClr val="000000"/>
                </a:solidFill>
                <a:latin typeface="Arial"/>
                <a:ea typeface="Arial"/>
                <a:cs typeface="Arial"/>
                <a:sym typeface="Arial"/>
              </a:rPr>
              <a:t>User-Friendly Interface</a:t>
            </a:r>
            <a:endParaRPr sz="4000">
              <a:solidFill>
                <a:srgbClr val="000000"/>
              </a:solidFill>
              <a:latin typeface="Arial"/>
              <a:ea typeface="Arial"/>
              <a:cs typeface="Arial"/>
              <a:sym typeface="Arial"/>
            </a:endParaRPr>
          </a:p>
          <a:p>
            <a:pPr indent="0" lvl="0" marL="457200" rtl="0" algn="l">
              <a:spcBef>
                <a:spcPts val="1200"/>
              </a:spcBef>
              <a:spcAft>
                <a:spcPts val="0"/>
              </a:spcAft>
              <a:buNone/>
            </a:pPr>
            <a:r>
              <a:t/>
            </a:r>
            <a:endParaRPr b="1" sz="13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00" name="Google Shape;100;g3ec043b165a_0_336"/>
          <p:cNvSpPr txBox="1"/>
          <p:nvPr/>
        </p:nvSpPr>
        <p:spPr>
          <a:xfrm>
            <a:off x="311700" y="3216600"/>
            <a:ext cx="2995200" cy="165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000">
                <a:solidFill>
                  <a:schemeClr val="dk1"/>
                </a:solidFill>
              </a:rPr>
              <a:t>Requirement Artifacts</a:t>
            </a:r>
            <a:endParaRPr b="1" sz="1000">
              <a:solidFill>
                <a:schemeClr val="dk1"/>
              </a:solidFill>
            </a:endParaRPr>
          </a:p>
          <a:p>
            <a:pPr indent="-292100" lvl="0" marL="457200" rtl="0" algn="l">
              <a:lnSpc>
                <a:spcPct val="115000"/>
              </a:lnSpc>
              <a:spcBef>
                <a:spcPts val="1200"/>
              </a:spcBef>
              <a:spcAft>
                <a:spcPts val="0"/>
              </a:spcAft>
              <a:buSzPts val="1000"/>
              <a:buChar char="●"/>
            </a:pPr>
            <a:r>
              <a:rPr lang="en-US" sz="1000"/>
              <a:t>User Stories</a:t>
            </a:r>
            <a:endParaRPr sz="1000"/>
          </a:p>
          <a:p>
            <a:pPr indent="-292100" lvl="0" marL="457200" rtl="0" algn="l">
              <a:lnSpc>
                <a:spcPct val="115000"/>
              </a:lnSpc>
              <a:spcBef>
                <a:spcPts val="0"/>
              </a:spcBef>
              <a:spcAft>
                <a:spcPts val="0"/>
              </a:spcAft>
              <a:buSzPts val="1000"/>
              <a:buChar char="●"/>
            </a:pPr>
            <a:r>
              <a:rPr lang="en-US" sz="1000"/>
              <a:t>Use Case Diagram</a:t>
            </a:r>
            <a:endParaRPr sz="1000"/>
          </a:p>
          <a:p>
            <a:pPr indent="-292100" lvl="0" marL="457200" rtl="0" algn="l">
              <a:lnSpc>
                <a:spcPct val="115000"/>
              </a:lnSpc>
              <a:spcBef>
                <a:spcPts val="0"/>
              </a:spcBef>
              <a:spcAft>
                <a:spcPts val="0"/>
              </a:spcAft>
              <a:buSzPts val="1000"/>
              <a:buChar char="●"/>
            </a:pPr>
            <a:r>
              <a:rPr lang="en-US" sz="1000"/>
              <a:t>Jira Product Backlog</a:t>
            </a:r>
            <a:endParaRPr sz="1000"/>
          </a:p>
          <a:p>
            <a:pPr indent="-292100" lvl="0" marL="457200" rtl="0" algn="l">
              <a:lnSpc>
                <a:spcPct val="115000"/>
              </a:lnSpc>
              <a:spcBef>
                <a:spcPts val="0"/>
              </a:spcBef>
              <a:spcAft>
                <a:spcPts val="0"/>
              </a:spcAft>
              <a:buSzPts val="1000"/>
              <a:buChar char="●"/>
            </a:pPr>
            <a:r>
              <a:rPr lang="en-US" sz="1000"/>
              <a:t>Sprint Planning &amp; Tracking</a:t>
            </a:r>
            <a:endParaRPr sz="1000"/>
          </a:p>
          <a:p>
            <a:pPr indent="0" lvl="0" marL="0" rtl="0" algn="l">
              <a:spcBef>
                <a:spcPts val="1200"/>
              </a:spcBef>
              <a:spcAft>
                <a:spcPts val="0"/>
              </a:spcAft>
              <a:buNone/>
            </a:pPr>
            <a:r>
              <a:t/>
            </a:r>
            <a:endParaRPr sz="1800">
              <a:solidFill>
                <a:schemeClr val="dk2"/>
              </a:solidFill>
              <a:latin typeface="Source Code Pro"/>
              <a:ea typeface="Source Code Pro"/>
              <a:cs typeface="Source Code Pro"/>
              <a:sym typeface="Source Code Pro"/>
            </a:endParaRPr>
          </a:p>
        </p:txBody>
      </p:sp>
      <p:sp>
        <p:nvSpPr>
          <p:cNvPr id="101" name="Google Shape;101;g3ec043b165a_0_336"/>
          <p:cNvSpPr txBox="1"/>
          <p:nvPr/>
        </p:nvSpPr>
        <p:spPr>
          <a:xfrm>
            <a:off x="5025525" y="2933525"/>
            <a:ext cx="3130200" cy="209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100">
                <a:solidFill>
                  <a:schemeClr val="dk1"/>
                </a:solidFill>
              </a:rPr>
              <a:t>Track requirements</a:t>
            </a:r>
            <a:endParaRPr sz="1100">
              <a:solidFill>
                <a:schemeClr val="dk1"/>
              </a:solidFill>
            </a:endParaRPr>
          </a:p>
          <a:p>
            <a:pPr indent="0" lvl="0" marL="0" rtl="0" algn="l">
              <a:lnSpc>
                <a:spcPct val="115000"/>
              </a:lnSpc>
              <a:spcBef>
                <a:spcPts val="1200"/>
              </a:spcBef>
              <a:spcAft>
                <a:spcPts val="0"/>
              </a:spcAft>
              <a:buNone/>
            </a:pPr>
            <a:r>
              <a:rPr i="1" lang="en-US" sz="1100"/>
              <a:t>Use Jira as backlog management tool. </a:t>
            </a:r>
            <a:endParaRPr i="1" sz="1100"/>
          </a:p>
          <a:p>
            <a:pPr indent="-298450" lvl="0" marL="457200" rtl="0" algn="l">
              <a:lnSpc>
                <a:spcPct val="115000"/>
              </a:lnSpc>
              <a:spcBef>
                <a:spcPts val="1200"/>
              </a:spcBef>
              <a:spcAft>
                <a:spcPts val="0"/>
              </a:spcAft>
              <a:buSzPts val="1100"/>
              <a:buChar char="●"/>
            </a:pPr>
            <a:r>
              <a:rPr b="1" lang="en-US" sz="1100"/>
              <a:t>Planned user stories:</a:t>
            </a:r>
            <a:r>
              <a:rPr lang="en-US" sz="1100"/>
              <a:t> 20</a:t>
            </a:r>
            <a:endParaRPr sz="1100"/>
          </a:p>
          <a:p>
            <a:pPr indent="-298450" lvl="0" marL="457200" rtl="0" algn="l">
              <a:lnSpc>
                <a:spcPct val="115000"/>
              </a:lnSpc>
              <a:spcBef>
                <a:spcPts val="0"/>
              </a:spcBef>
              <a:spcAft>
                <a:spcPts val="0"/>
              </a:spcAft>
              <a:buSzPts val="1100"/>
              <a:buChar char="●"/>
            </a:pPr>
            <a:r>
              <a:rPr b="1" lang="en-US" sz="1100"/>
              <a:t>Completed user stories:</a:t>
            </a:r>
            <a:r>
              <a:rPr lang="en-US" sz="1100"/>
              <a:t> 18</a:t>
            </a:r>
            <a:endParaRPr sz="1100"/>
          </a:p>
          <a:p>
            <a:pPr indent="-298450" lvl="0" marL="457200" rtl="0" algn="l">
              <a:lnSpc>
                <a:spcPct val="115000"/>
              </a:lnSpc>
              <a:spcBef>
                <a:spcPts val="0"/>
              </a:spcBef>
              <a:spcAft>
                <a:spcPts val="0"/>
              </a:spcAft>
              <a:buSzPts val="1100"/>
              <a:buChar char="●"/>
            </a:pPr>
            <a:r>
              <a:rPr b="1" lang="en-US" sz="1100"/>
              <a:t>Planned story points:</a:t>
            </a:r>
            <a:r>
              <a:rPr lang="en-US" sz="1100"/>
              <a:t> 35</a:t>
            </a:r>
            <a:endParaRPr sz="1100"/>
          </a:p>
          <a:p>
            <a:pPr indent="-298450" lvl="0" marL="457200" rtl="0" algn="l">
              <a:lnSpc>
                <a:spcPct val="115000"/>
              </a:lnSpc>
              <a:spcBef>
                <a:spcPts val="0"/>
              </a:spcBef>
              <a:spcAft>
                <a:spcPts val="0"/>
              </a:spcAft>
              <a:buSzPts val="1100"/>
              <a:buChar char="●"/>
            </a:pPr>
            <a:r>
              <a:rPr b="1" lang="en-US" sz="1100"/>
              <a:t>Completed story points:</a:t>
            </a:r>
            <a:r>
              <a:rPr lang="en-US" sz="1100"/>
              <a:t> 30</a:t>
            </a:r>
            <a:endParaRPr sz="1100"/>
          </a:p>
          <a:p>
            <a:pPr indent="0" lvl="0" marL="0" rtl="0" algn="l">
              <a:spcBef>
                <a:spcPts val="1200"/>
              </a:spcBef>
              <a:spcAft>
                <a:spcPts val="0"/>
              </a:spcAft>
              <a:buNone/>
            </a:pPr>
            <a:r>
              <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ec043b165a_0_34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US">
                <a:solidFill>
                  <a:schemeClr val="dk1"/>
                </a:solidFill>
              </a:rPr>
              <a:t>Project Management </a:t>
            </a:r>
            <a:endParaRPr>
              <a:solidFill>
                <a:schemeClr val="dk1"/>
              </a:solidFill>
            </a:endParaRPr>
          </a:p>
        </p:txBody>
      </p:sp>
      <p:sp>
        <p:nvSpPr>
          <p:cNvPr id="108" name="Google Shape;108;g3ec043b165a_0_340"/>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US" sz="1000">
                <a:solidFill>
                  <a:schemeClr val="dk1"/>
                </a:solidFill>
                <a:latin typeface="Arial"/>
                <a:ea typeface="Arial"/>
                <a:cs typeface="Arial"/>
                <a:sym typeface="Arial"/>
              </a:rPr>
              <a:t>Team Roles</a:t>
            </a:r>
            <a:endParaRPr b="1" sz="1000">
              <a:solidFill>
                <a:schemeClr val="dk1"/>
              </a:solidFill>
              <a:latin typeface="Arial"/>
              <a:ea typeface="Arial"/>
              <a:cs typeface="Arial"/>
              <a:sym typeface="Arial"/>
            </a:endParaRPr>
          </a:p>
          <a:p>
            <a:pPr indent="0" lvl="0" marL="0" rtl="0" algn="l">
              <a:spcBef>
                <a:spcPts val="1200"/>
              </a:spcBef>
              <a:spcAft>
                <a:spcPts val="0"/>
              </a:spcAft>
              <a:buNone/>
            </a:pPr>
            <a:r>
              <a:rPr lang="en-US" sz="1000">
                <a:solidFill>
                  <a:srgbClr val="000000"/>
                </a:solidFill>
                <a:latin typeface="Arial"/>
                <a:ea typeface="Arial"/>
                <a:cs typeface="Arial"/>
                <a:sym typeface="Arial"/>
              </a:rPr>
              <a:t>Roles were assigned based on individual strengths, including frontend development, backend integration, testing, and documentation. </a:t>
            </a:r>
            <a:endParaRPr sz="1000">
              <a:solidFill>
                <a:srgbClr val="000000"/>
              </a:solidFill>
              <a:latin typeface="Arial"/>
              <a:ea typeface="Arial"/>
              <a:cs typeface="Arial"/>
              <a:sym typeface="Arial"/>
            </a:endParaRPr>
          </a:p>
          <a:p>
            <a:pPr indent="0" lvl="0" marL="0" rtl="0" algn="l">
              <a:spcBef>
                <a:spcPts val="1200"/>
              </a:spcBef>
              <a:spcAft>
                <a:spcPts val="0"/>
              </a:spcAft>
              <a:buNone/>
            </a:pPr>
            <a:br>
              <a:rPr lang="en-US" sz="1000">
                <a:latin typeface="Arial"/>
                <a:ea typeface="Arial"/>
                <a:cs typeface="Arial"/>
                <a:sym typeface="Arial"/>
              </a:rPr>
            </a:br>
            <a:r>
              <a:rPr b="1" lang="en-US" sz="1000">
                <a:solidFill>
                  <a:schemeClr val="dk1"/>
                </a:solidFill>
                <a:latin typeface="Arial"/>
                <a:ea typeface="Arial"/>
                <a:cs typeface="Arial"/>
                <a:sym typeface="Arial"/>
              </a:rPr>
              <a:t>Jira Tracking</a:t>
            </a:r>
            <a:endParaRPr b="1" sz="1000">
              <a:solidFill>
                <a:schemeClr val="dk1"/>
              </a:solidFill>
              <a:latin typeface="Arial"/>
              <a:ea typeface="Arial"/>
              <a:cs typeface="Arial"/>
              <a:sym typeface="Arial"/>
            </a:endParaRPr>
          </a:p>
          <a:p>
            <a:pPr indent="0" lvl="0" marL="0" rtl="0" algn="l">
              <a:spcBef>
                <a:spcPts val="1200"/>
              </a:spcBef>
              <a:spcAft>
                <a:spcPts val="1200"/>
              </a:spcAft>
              <a:buNone/>
            </a:pPr>
            <a:r>
              <a:rPr lang="en-US" sz="1000">
                <a:solidFill>
                  <a:srgbClr val="000000"/>
                </a:solidFill>
                <a:latin typeface="Arial"/>
                <a:ea typeface="Arial"/>
                <a:cs typeface="Arial"/>
                <a:sym typeface="Arial"/>
              </a:rPr>
              <a:t>Jira was used to manage user stories, assign tasks, and track sprint progress. It ensured clear ownership of work, continuous monitoring of development progress, and balanced workload distribution across the team. </a:t>
            </a:r>
            <a:endParaRPr sz="1000">
              <a:latin typeface="Arial"/>
              <a:ea typeface="Arial"/>
              <a:cs typeface="Arial"/>
              <a:sym typeface="Arial"/>
            </a:endParaRPr>
          </a:p>
        </p:txBody>
      </p:sp>
      <p:sp>
        <p:nvSpPr>
          <p:cNvPr id="109" name="Google Shape;109;g3ec043b165a_0_340"/>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US" sz="1150">
                <a:solidFill>
                  <a:schemeClr val="dk1"/>
                </a:solidFill>
                <a:latin typeface="Arial"/>
                <a:ea typeface="Arial"/>
                <a:cs typeface="Arial"/>
                <a:sym typeface="Arial"/>
              </a:rPr>
              <a:t>Agile Process</a:t>
            </a:r>
            <a:endParaRPr b="1" sz="1150">
              <a:solidFill>
                <a:schemeClr val="dk1"/>
              </a:solidFill>
              <a:latin typeface="Arial"/>
              <a:ea typeface="Arial"/>
              <a:cs typeface="Arial"/>
              <a:sym typeface="Arial"/>
            </a:endParaRPr>
          </a:p>
          <a:p>
            <a:pPr indent="0" lvl="0" marL="0" rtl="0" algn="l">
              <a:spcBef>
                <a:spcPts val="1200"/>
              </a:spcBef>
              <a:spcAft>
                <a:spcPts val="0"/>
              </a:spcAft>
              <a:buNone/>
            </a:pPr>
            <a:r>
              <a:rPr lang="en-US" sz="1150">
                <a:solidFill>
                  <a:srgbClr val="000000"/>
                </a:solidFill>
                <a:latin typeface="Arial"/>
                <a:ea typeface="Arial"/>
                <a:cs typeface="Arial"/>
                <a:sym typeface="Arial"/>
              </a:rPr>
              <a:t>The team followed an Agile, sprint-based development approach. Each iteration focused on a specific feature set: authentication, document handling, and AI test case generation. This allowed continuous feedback, incremental improvement, and early detection of issues throughout development. </a:t>
            </a:r>
            <a:endParaRPr sz="1150">
              <a:solidFill>
                <a:srgbClr val="000000"/>
              </a:solidFill>
              <a:latin typeface="Arial"/>
              <a:ea typeface="Arial"/>
              <a:cs typeface="Arial"/>
              <a:sym typeface="Arial"/>
            </a:endParaRPr>
          </a:p>
          <a:p>
            <a:pPr indent="0" lvl="0" marL="0" rtl="0" algn="l">
              <a:spcBef>
                <a:spcPts val="1200"/>
              </a:spcBef>
              <a:spcAft>
                <a:spcPts val="0"/>
              </a:spcAft>
              <a:buNone/>
            </a:pPr>
            <a:r>
              <a:t/>
            </a:r>
            <a:endParaRPr b="1" sz="1150">
              <a:solidFill>
                <a:srgbClr val="000000"/>
              </a:solidFill>
              <a:latin typeface="Arial"/>
              <a:ea typeface="Arial"/>
              <a:cs typeface="Arial"/>
              <a:sym typeface="Arial"/>
            </a:endParaRPr>
          </a:p>
          <a:p>
            <a:pPr indent="0" lvl="0" marL="0" rtl="0" algn="l">
              <a:spcBef>
                <a:spcPts val="1200"/>
              </a:spcBef>
              <a:spcAft>
                <a:spcPts val="0"/>
              </a:spcAft>
              <a:buNone/>
            </a:pPr>
            <a:br>
              <a:rPr b="1" lang="en-US" sz="1150">
                <a:solidFill>
                  <a:srgbClr val="000000"/>
                </a:solidFill>
                <a:latin typeface="Arial"/>
                <a:ea typeface="Arial"/>
                <a:cs typeface="Arial"/>
                <a:sym typeface="Arial"/>
              </a:rPr>
            </a:br>
            <a:r>
              <a:rPr b="1" lang="en-US" sz="1150">
                <a:solidFill>
                  <a:schemeClr val="dk1"/>
                </a:solidFill>
                <a:latin typeface="Arial"/>
                <a:ea typeface="Arial"/>
                <a:cs typeface="Arial"/>
                <a:sym typeface="Arial"/>
              </a:rPr>
              <a:t>Iterations</a:t>
            </a:r>
            <a:endParaRPr b="1" sz="1150">
              <a:solidFill>
                <a:schemeClr val="dk1"/>
              </a:solidFill>
              <a:latin typeface="Arial"/>
              <a:ea typeface="Arial"/>
              <a:cs typeface="Arial"/>
              <a:sym typeface="Arial"/>
            </a:endParaRPr>
          </a:p>
          <a:p>
            <a:pPr indent="0" lvl="0" marL="0" rtl="0" algn="l">
              <a:spcBef>
                <a:spcPts val="1200"/>
              </a:spcBef>
              <a:spcAft>
                <a:spcPts val="1200"/>
              </a:spcAft>
              <a:buNone/>
            </a:pPr>
            <a:r>
              <a:rPr lang="en-US" sz="1150">
                <a:solidFill>
                  <a:srgbClr val="000000"/>
                </a:solidFill>
                <a:latin typeface="Arial"/>
                <a:ea typeface="Arial"/>
                <a:cs typeface="Arial"/>
                <a:sym typeface="Arial"/>
              </a:rPr>
              <a:t>The project was developed over three iterative development cycles with milestone-based goals. Each iteration built on the previous one, starting from core authentication, then document management, and finally AI-powered test case generation and refinement. </a:t>
            </a:r>
            <a:br>
              <a:rPr lang="en-US" sz="1150">
                <a:solidFill>
                  <a:srgbClr val="9BE963"/>
                </a:solidFill>
                <a:latin typeface="Arial"/>
                <a:ea typeface="Arial"/>
                <a:cs typeface="Arial"/>
                <a:sym typeface="Arial"/>
              </a:rPr>
            </a:br>
            <a:br>
              <a:rPr lang="en-US" sz="1100">
                <a:solidFill>
                  <a:srgbClr val="9BE963"/>
                </a:solidFill>
                <a:latin typeface="Arial"/>
                <a:ea typeface="Arial"/>
                <a:cs typeface="Arial"/>
                <a:sym typeface="Arial"/>
              </a:rPr>
            </a:b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ec3edad01e_0_5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US">
                <a:solidFill>
                  <a:schemeClr val="dk1"/>
                </a:solidFill>
              </a:rPr>
              <a:t>Project Management Continued</a:t>
            </a:r>
            <a:endParaRPr>
              <a:solidFill>
                <a:schemeClr val="dk1"/>
              </a:solidFill>
            </a:endParaRPr>
          </a:p>
        </p:txBody>
      </p:sp>
      <p:sp>
        <p:nvSpPr>
          <p:cNvPr id="116" name="Google Shape;116;g3ec3edad01e_0_59"/>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US" sz="1000">
                <a:solidFill>
                  <a:schemeClr val="dk1"/>
                </a:solidFill>
                <a:latin typeface="Arial"/>
                <a:ea typeface="Arial"/>
                <a:cs typeface="Arial"/>
                <a:sym typeface="Arial"/>
              </a:rPr>
              <a:t>Risk Management</a:t>
            </a:r>
            <a:endParaRPr b="1" sz="1000">
              <a:solidFill>
                <a:schemeClr val="dk1"/>
              </a:solidFill>
              <a:latin typeface="Arial"/>
              <a:ea typeface="Arial"/>
              <a:cs typeface="Arial"/>
              <a:sym typeface="Arial"/>
            </a:endParaRPr>
          </a:p>
          <a:p>
            <a:pPr indent="0" lvl="0" marL="0" rtl="0" algn="l">
              <a:spcBef>
                <a:spcPts val="1200"/>
              </a:spcBef>
              <a:spcAft>
                <a:spcPts val="0"/>
              </a:spcAft>
              <a:buNone/>
            </a:pPr>
            <a:r>
              <a:rPr lang="en-US" sz="1000">
                <a:solidFill>
                  <a:srgbClr val="000000"/>
                </a:solidFill>
                <a:latin typeface="Arial"/>
                <a:ea typeface="Arial"/>
                <a:cs typeface="Arial"/>
                <a:sym typeface="Arial"/>
              </a:rPr>
              <a:t>Key risks included merge conflicts, duplicate work, and varying technical experience across the team. These were addressed by improving communication, using Jira for task clarity, and enforcing a structured branching strategy in GitHub. </a:t>
            </a:r>
            <a:endParaRPr b="1" sz="1000">
              <a:solidFill>
                <a:srgbClr val="000000"/>
              </a:solidFill>
              <a:latin typeface="Arial"/>
              <a:ea typeface="Arial"/>
              <a:cs typeface="Arial"/>
              <a:sym typeface="Arial"/>
            </a:endParaRPr>
          </a:p>
          <a:p>
            <a:pPr indent="0" lvl="0" marL="0" rtl="0" algn="l">
              <a:spcBef>
                <a:spcPts val="1200"/>
              </a:spcBef>
              <a:spcAft>
                <a:spcPts val="0"/>
              </a:spcAft>
              <a:buNone/>
            </a:pPr>
            <a:br>
              <a:rPr lang="en-US" sz="1000">
                <a:latin typeface="Arial"/>
                <a:ea typeface="Arial"/>
                <a:cs typeface="Arial"/>
                <a:sym typeface="Arial"/>
              </a:rPr>
            </a:br>
            <a:r>
              <a:rPr b="1" lang="en-US" sz="1000">
                <a:solidFill>
                  <a:schemeClr val="dk1"/>
                </a:solidFill>
                <a:latin typeface="Arial"/>
                <a:ea typeface="Arial"/>
                <a:cs typeface="Arial"/>
                <a:sym typeface="Arial"/>
              </a:rPr>
              <a:t>Quality Management</a:t>
            </a:r>
            <a:endParaRPr b="1" sz="1000">
              <a:solidFill>
                <a:schemeClr val="dk1"/>
              </a:solidFill>
              <a:latin typeface="Arial"/>
              <a:ea typeface="Arial"/>
              <a:cs typeface="Arial"/>
              <a:sym typeface="Arial"/>
            </a:endParaRPr>
          </a:p>
          <a:p>
            <a:pPr indent="0" lvl="0" marL="0" rtl="0" algn="l">
              <a:spcBef>
                <a:spcPts val="1200"/>
              </a:spcBef>
              <a:spcAft>
                <a:spcPts val="1200"/>
              </a:spcAft>
              <a:buNone/>
            </a:pPr>
            <a:r>
              <a:rPr lang="en-US" sz="1000">
                <a:solidFill>
                  <a:srgbClr val="000000"/>
                </a:solidFill>
                <a:latin typeface="Arial"/>
                <a:ea typeface="Arial"/>
                <a:cs typeface="Arial"/>
                <a:sym typeface="Arial"/>
              </a:rPr>
              <a:t>Quality was ensured through continuous testing using Playwright and pytest-bdd, along with manual testing. GitHub Actions supported integration checks to maintain stable builds during development. </a:t>
            </a:r>
            <a:endParaRPr b="1" sz="1000">
              <a:solidFill>
                <a:srgbClr val="000000"/>
              </a:solidFill>
              <a:latin typeface="Arial"/>
              <a:ea typeface="Arial"/>
              <a:cs typeface="Arial"/>
              <a:sym typeface="Arial"/>
            </a:endParaRPr>
          </a:p>
        </p:txBody>
      </p:sp>
      <p:sp>
        <p:nvSpPr>
          <p:cNvPr id="117" name="Google Shape;117;g3ec3edad01e_0_59"/>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US" sz="1150">
                <a:solidFill>
                  <a:schemeClr val="dk1"/>
                </a:solidFill>
                <a:latin typeface="Arial"/>
                <a:ea typeface="Arial"/>
                <a:cs typeface="Arial"/>
                <a:sym typeface="Arial"/>
              </a:rPr>
              <a:t>Achievements</a:t>
            </a:r>
            <a:endParaRPr b="1" sz="1150">
              <a:solidFill>
                <a:schemeClr val="dk1"/>
              </a:solidFill>
              <a:latin typeface="Arial"/>
              <a:ea typeface="Arial"/>
              <a:cs typeface="Arial"/>
              <a:sym typeface="Arial"/>
            </a:endParaRPr>
          </a:p>
          <a:p>
            <a:pPr indent="0" lvl="0" marL="0" rtl="0" algn="l">
              <a:spcBef>
                <a:spcPts val="1200"/>
              </a:spcBef>
              <a:spcAft>
                <a:spcPts val="0"/>
              </a:spcAft>
              <a:buNone/>
            </a:pPr>
            <a:r>
              <a:rPr lang="en-US" sz="1150">
                <a:solidFill>
                  <a:srgbClr val="000000"/>
                </a:solidFill>
                <a:latin typeface="Arial"/>
                <a:ea typeface="Arial"/>
                <a:cs typeface="Arial"/>
                <a:sym typeface="Arial"/>
              </a:rPr>
              <a:t>The project successfully delivered a working full-stack system with authentication, document management, and AI-based test case generation, along with automated testing and structured project documentation. </a:t>
            </a:r>
            <a:endParaRPr b="1" sz="1150">
              <a:solidFill>
                <a:srgbClr val="000000"/>
              </a:solidFill>
              <a:latin typeface="Arial"/>
              <a:ea typeface="Arial"/>
              <a:cs typeface="Arial"/>
              <a:sym typeface="Arial"/>
            </a:endParaRPr>
          </a:p>
          <a:p>
            <a:pPr indent="0" lvl="0" marL="0" rtl="0" algn="l">
              <a:spcBef>
                <a:spcPts val="1200"/>
              </a:spcBef>
              <a:spcAft>
                <a:spcPts val="0"/>
              </a:spcAft>
              <a:buNone/>
            </a:pPr>
            <a:r>
              <a:rPr b="1" lang="en-US" sz="1150">
                <a:solidFill>
                  <a:schemeClr val="dk1"/>
                </a:solidFill>
                <a:latin typeface="Arial"/>
                <a:ea typeface="Arial"/>
                <a:cs typeface="Arial"/>
                <a:sym typeface="Arial"/>
              </a:rPr>
              <a:t>Challenges</a:t>
            </a:r>
            <a:endParaRPr b="1" sz="1150">
              <a:solidFill>
                <a:schemeClr val="dk1"/>
              </a:solidFill>
              <a:latin typeface="Arial"/>
              <a:ea typeface="Arial"/>
              <a:cs typeface="Arial"/>
              <a:sym typeface="Arial"/>
            </a:endParaRPr>
          </a:p>
          <a:p>
            <a:pPr indent="0" lvl="0" marL="0" rtl="0" algn="l">
              <a:spcBef>
                <a:spcPts val="1200"/>
              </a:spcBef>
              <a:spcAft>
                <a:spcPts val="0"/>
              </a:spcAft>
              <a:buNone/>
            </a:pPr>
            <a:r>
              <a:rPr lang="en-US" sz="1150">
                <a:solidFill>
                  <a:srgbClr val="000000"/>
                </a:solidFill>
                <a:latin typeface="Arial"/>
                <a:ea typeface="Arial"/>
                <a:cs typeface="Arial"/>
                <a:sym typeface="Arial"/>
              </a:rPr>
              <a:t>Major challenges included merge conflicts, duplicate work, integrating AI features, and ensuring consistent testing across all components.</a:t>
            </a:r>
            <a:endParaRPr b="1" sz="1150">
              <a:solidFill>
                <a:srgbClr val="000000"/>
              </a:solidFill>
              <a:latin typeface="Arial"/>
              <a:ea typeface="Arial"/>
              <a:cs typeface="Arial"/>
              <a:sym typeface="Arial"/>
            </a:endParaRPr>
          </a:p>
          <a:p>
            <a:pPr indent="0" lvl="0" marL="0" rtl="0" algn="l">
              <a:spcBef>
                <a:spcPts val="1200"/>
              </a:spcBef>
              <a:spcAft>
                <a:spcPts val="0"/>
              </a:spcAft>
              <a:buNone/>
            </a:pPr>
            <a:r>
              <a:rPr b="1" lang="en-US" sz="1150">
                <a:solidFill>
                  <a:schemeClr val="dk1"/>
                </a:solidFill>
                <a:latin typeface="Arial"/>
                <a:ea typeface="Arial"/>
                <a:cs typeface="Arial"/>
                <a:sym typeface="Arial"/>
              </a:rPr>
              <a:t>Lessons Learned</a:t>
            </a:r>
            <a:endParaRPr b="1" sz="1150">
              <a:solidFill>
                <a:schemeClr val="dk1"/>
              </a:solidFill>
              <a:latin typeface="Arial"/>
              <a:ea typeface="Arial"/>
              <a:cs typeface="Arial"/>
              <a:sym typeface="Arial"/>
            </a:endParaRPr>
          </a:p>
          <a:p>
            <a:pPr indent="0" lvl="0" marL="0" rtl="0" algn="l">
              <a:spcBef>
                <a:spcPts val="1200"/>
              </a:spcBef>
              <a:spcAft>
                <a:spcPts val="1200"/>
              </a:spcAft>
              <a:buNone/>
            </a:pPr>
            <a:r>
              <a:rPr lang="en-US" sz="1150">
                <a:solidFill>
                  <a:srgbClr val="000000"/>
                </a:solidFill>
                <a:latin typeface="Arial"/>
                <a:ea typeface="Arial"/>
                <a:cs typeface="Arial"/>
                <a:sym typeface="Arial"/>
              </a:rPr>
              <a:t>The team learned the importance of early integration, clear task ownership, frequent communication, and maintaining a strong branching and testing strategy throughout development. </a:t>
            </a:r>
            <a:br>
              <a:rPr lang="en-US" sz="1150">
                <a:solidFill>
                  <a:srgbClr val="9BE963"/>
                </a:solidFill>
                <a:latin typeface="Arial"/>
                <a:ea typeface="Arial"/>
                <a:cs typeface="Arial"/>
                <a:sym typeface="Arial"/>
              </a:rPr>
            </a:br>
            <a:br>
              <a:rPr lang="en-US" sz="1100">
                <a:solidFill>
                  <a:srgbClr val="9BE963"/>
                </a:solidFill>
                <a:latin typeface="Arial"/>
                <a:ea typeface="Arial"/>
                <a:cs typeface="Arial"/>
                <a:sym typeface="Arial"/>
              </a:rPr>
            </a:b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01E4A"/>
        </a:solidFill>
      </p:bgPr>
    </p:bg>
    <p:spTree>
      <p:nvGrpSpPr>
        <p:cNvPr id="122" name="Shape 122"/>
        <p:cNvGrpSpPr/>
        <p:nvPr/>
      </p:nvGrpSpPr>
      <p:grpSpPr>
        <a:xfrm>
          <a:off x="0" y="0"/>
          <a:ext cx="0" cy="0"/>
          <a:chOff x="0" y="0"/>
          <a:chExt cx="0" cy="0"/>
        </a:xfrm>
      </p:grpSpPr>
      <p:pic>
        <p:nvPicPr>
          <p:cNvPr descr="/tmp/divider.png" id="123" name="Google Shape;123;g3ec043b165a_0_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4" name="Google Shape;124;g3ec043b165a_0_14"/>
          <p:cNvSpPr/>
          <p:nvPr/>
        </p:nvSpPr>
        <p:spPr>
          <a:xfrm>
            <a:off x="0" y="2331720"/>
            <a:ext cx="91440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AI Usage </a:t>
            </a:r>
            <a:endParaRPr b="0" i="0" sz="4000" u="none" cap="none" strike="noStrike">
              <a:solidFill>
                <a:schemeClr val="dk1"/>
              </a:solidFill>
              <a:latin typeface="Calibri"/>
              <a:ea typeface="Calibri"/>
              <a:cs typeface="Calibri"/>
              <a:sym typeface="Calibri"/>
            </a:endParaRPr>
          </a:p>
        </p:txBody>
      </p:sp>
      <p:sp>
        <p:nvSpPr>
          <p:cNvPr id="125" name="Google Shape;125;g3ec043b165a_0_14"/>
          <p:cNvSpPr/>
          <p:nvPr/>
        </p:nvSpPr>
        <p:spPr>
          <a:xfrm>
            <a:off x="0" y="3108960"/>
            <a:ext cx="91440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E4ED"/>
              </a:buClr>
              <a:buSzPts val="1400"/>
              <a:buFont typeface="Calibri"/>
              <a:buNone/>
            </a:pPr>
            <a:r>
              <a:rPr lang="en-US">
                <a:solidFill>
                  <a:srgbClr val="FCE4ED"/>
                </a:solidFill>
                <a:latin typeface="Calibri"/>
                <a:ea typeface="Calibri"/>
                <a:cs typeface="Calibri"/>
                <a:sym typeface="Calibri"/>
              </a:rPr>
              <a:t>How AI Contributed to our Project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graphicFrame>
        <p:nvGraphicFramePr>
          <p:cNvPr id="131" name="Google Shape;131;g3ec043b165a_0_31"/>
          <p:cNvGraphicFramePr/>
          <p:nvPr/>
        </p:nvGraphicFramePr>
        <p:xfrm>
          <a:off x="374400" y="1014180"/>
          <a:ext cx="3000000" cy="3000000"/>
        </p:xfrm>
        <a:graphic>
          <a:graphicData uri="http://schemas.openxmlformats.org/drawingml/2006/table">
            <a:tbl>
              <a:tblPr>
                <a:noFill/>
                <a:tableStyleId>{3A829425-CA47-42D2-BFA8-2A0952B3F607}</a:tableStyleId>
              </a:tblPr>
              <a:tblGrid>
                <a:gridCol w="1675425"/>
                <a:gridCol w="4176725"/>
                <a:gridCol w="2377450"/>
              </a:tblGrid>
              <a:tr h="384050">
                <a:tc>
                  <a:txBody>
                    <a:bodyPr/>
                    <a:lstStyle/>
                    <a:p>
                      <a:pPr indent="0" lvl="0" marL="0" marR="0" rtl="0" algn="l">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Platform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l">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Used for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l">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Project Contribution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Zoom Notes + ChatGPT</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a:latin typeface="Calibri"/>
                          <a:ea typeface="Calibri"/>
                          <a:cs typeface="Calibri"/>
                          <a:sym typeface="Calibri"/>
                        </a:rPr>
                        <a:t>Recording our meetings and generating meeting minute reports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a:solidFill>
                            <a:srgbClr val="A01E4A"/>
                          </a:solidFill>
                          <a:latin typeface="Calibri"/>
                          <a:ea typeface="Calibri"/>
                          <a:cs typeface="Calibri"/>
                          <a:sym typeface="Calibri"/>
                        </a:rPr>
                        <a:t>Meeting Minutes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Claude + ChatGPT</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a:latin typeface="Calibri"/>
                          <a:ea typeface="Calibri"/>
                          <a:cs typeface="Calibri"/>
                          <a:sym typeface="Calibri"/>
                        </a:rPr>
                        <a:t>Helped brainstorm functional requirements, and exploring possible tech stack options. The final evaluation, modifications, and implementation decisions were completed based on my own and team understanding and analysis.</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a:solidFill>
                            <a:srgbClr val="A01E4A"/>
                          </a:solidFill>
                          <a:latin typeface="Calibri"/>
                          <a:ea typeface="Calibri"/>
                          <a:cs typeface="Calibri"/>
                          <a:sym typeface="Calibri"/>
                        </a:rPr>
                        <a:t>SPPP, SDD</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ChatGPT</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Helped design defect management workflow, severity levels, release planning, and iteration task breakdown for project management documentation.</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a:solidFill>
                            <a:srgbClr val="A01E4A"/>
                          </a:solidFill>
                          <a:latin typeface="Calibri"/>
                          <a:ea typeface="Calibri"/>
                          <a:cs typeface="Calibri"/>
                          <a:sym typeface="Calibri"/>
                        </a:rPr>
                        <a:t>SPPP, SDD</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ChatGPT</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Created project logo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a:solidFill>
                            <a:srgbClr val="A01E4A"/>
                          </a:solidFill>
                          <a:latin typeface="Calibri"/>
                          <a:ea typeface="Calibri"/>
                          <a:cs typeface="Calibri"/>
                          <a:sym typeface="Calibri"/>
                        </a:rPr>
                        <a:t>Logo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bl>
          </a:graphicData>
        </a:graphic>
      </p:graphicFrame>
      <p:pic>
        <p:nvPicPr>
          <p:cNvPr descr="/tmp/band.png" id="132" name="Google Shape;132;g3ec043b165a_0_31"/>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133" name="Google Shape;133;g3ec043b165a_0_31"/>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134" name="Google Shape;134;g3ec043b165a_0_31"/>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AI Usage: Planning </a:t>
            </a:r>
            <a:endParaRPr b="0" i="0" sz="2500" u="none" cap="none" strike="noStrike">
              <a:solidFill>
                <a:schemeClr val="dk1"/>
              </a:solidFill>
              <a:latin typeface="Calibri"/>
              <a:ea typeface="Calibri"/>
              <a:cs typeface="Calibri"/>
              <a:sym typeface="Calibri"/>
            </a:endParaRPr>
          </a:p>
        </p:txBody>
      </p:sp>
      <p:sp>
        <p:nvSpPr>
          <p:cNvPr id="135" name="Google Shape;135;g3ec043b165a_0_31"/>
          <p:cNvSpPr/>
          <p:nvPr/>
        </p:nvSpPr>
        <p:spPr>
          <a:xfrm>
            <a:off x="3538038" y="4104450"/>
            <a:ext cx="2067900" cy="594300"/>
          </a:xfrm>
          <a:prstGeom prst="roundRect">
            <a:avLst>
              <a:gd fmla="val 9231" name="adj"/>
            </a:avLst>
          </a:prstGeom>
          <a:solidFill>
            <a:srgbClr val="FCE4ED"/>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ec043b165a_0_31"/>
          <p:cNvSpPr/>
          <p:nvPr/>
        </p:nvSpPr>
        <p:spPr>
          <a:xfrm>
            <a:off x="3742574" y="4104450"/>
            <a:ext cx="1783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600"/>
              <a:buFont typeface="Calibri"/>
              <a:buNone/>
            </a:pPr>
            <a:r>
              <a:rPr b="1" i="0" lang="en-US" sz="1600" u="none" cap="none" strike="noStrike">
                <a:solidFill>
                  <a:srgbClr val="D12B63"/>
                </a:solidFill>
                <a:latin typeface="Calibri"/>
                <a:ea typeface="Calibri"/>
                <a:cs typeface="Calibri"/>
                <a:sym typeface="Calibri"/>
              </a:rPr>
              <a:t> </a:t>
            </a:r>
            <a:r>
              <a:rPr lang="en-US" sz="1100">
                <a:solidFill>
                  <a:srgbClr val="2D2D2D"/>
                </a:solidFill>
                <a:latin typeface="Calibri"/>
                <a:ea typeface="Calibri"/>
                <a:cs typeface="Calibri"/>
                <a:sym typeface="Calibri"/>
              </a:rPr>
              <a:t>Estimated percentage:</a:t>
            </a:r>
            <a:r>
              <a:rPr b="0" i="0" lang="en-US" sz="1100" u="none" cap="none" strike="noStrike">
                <a:solidFill>
                  <a:srgbClr val="2D2D2D"/>
                </a:solidFill>
                <a:latin typeface="Calibri"/>
                <a:ea typeface="Calibri"/>
                <a:cs typeface="Calibri"/>
                <a:sym typeface="Calibri"/>
              </a:rPr>
              <a:t> </a:t>
            </a:r>
            <a:r>
              <a:rPr b="1" lang="en-US" sz="1600">
                <a:solidFill>
                  <a:srgbClr val="D12B63"/>
                </a:solidFill>
                <a:latin typeface="Calibri"/>
                <a:ea typeface="Calibri"/>
                <a:cs typeface="Calibri"/>
                <a:sym typeface="Calibri"/>
              </a:rPr>
              <a:t>30</a:t>
            </a:r>
            <a:r>
              <a:rPr b="1" lang="en-US" sz="1600">
                <a:solidFill>
                  <a:srgbClr val="D12B63"/>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graphicFrame>
        <p:nvGraphicFramePr>
          <p:cNvPr id="142" name="Google Shape;142;g3ec043b165a_0_40"/>
          <p:cNvGraphicFramePr/>
          <p:nvPr/>
        </p:nvGraphicFramePr>
        <p:xfrm>
          <a:off x="457200" y="1024855"/>
          <a:ext cx="3000000" cy="3000000"/>
        </p:xfrm>
        <a:graphic>
          <a:graphicData uri="http://schemas.openxmlformats.org/drawingml/2006/table">
            <a:tbl>
              <a:tblPr>
                <a:noFill/>
                <a:tableStyleId>{3A829425-CA47-42D2-BFA8-2A0952B3F607}</a:tableStyleId>
              </a:tblPr>
              <a:tblGrid>
                <a:gridCol w="1675425"/>
                <a:gridCol w="4176725"/>
                <a:gridCol w="2377450"/>
              </a:tblGrid>
              <a:tr h="384050">
                <a:tc>
                  <a:txBody>
                    <a:bodyPr/>
                    <a:lstStyle/>
                    <a:p>
                      <a:pPr indent="0" lvl="0" marL="0" marR="0" rtl="0" algn="l">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Platform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l">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Used for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l">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Project Contribution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Copilot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Generating UI code for login</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a:solidFill>
                            <a:srgbClr val="A01E4A"/>
                          </a:solidFill>
                          <a:latin typeface="Calibri"/>
                          <a:ea typeface="Calibri"/>
                          <a:cs typeface="Calibri"/>
                          <a:sym typeface="Calibri"/>
                        </a:rPr>
                        <a:t>UI</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ChatGPT</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a:latin typeface="Calibri"/>
                          <a:ea typeface="Calibri"/>
                          <a:cs typeface="Calibri"/>
                          <a:sym typeface="Calibri"/>
                        </a:rPr>
                        <a:t>Helped create Docker documents and setup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a:solidFill>
                            <a:srgbClr val="A01E4A"/>
                          </a:solidFill>
                          <a:latin typeface="Calibri"/>
                          <a:ea typeface="Calibri"/>
                          <a:cs typeface="Calibri"/>
                          <a:sym typeface="Calibri"/>
                        </a:rPr>
                        <a:t>Docker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Claude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Backend &amp; Frontend URL configuration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9525">
                      <a:solidFill>
                        <a:srgbClr val="F0F0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a:solidFill>
                            <a:srgbClr val="A01E4A"/>
                          </a:solidFill>
                          <a:latin typeface="Calibri"/>
                          <a:ea typeface="Calibri"/>
                          <a:cs typeface="Calibri"/>
                          <a:sym typeface="Calibri"/>
                        </a:rPr>
                        <a:t>Configuration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Claude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9525">
                      <a:solidFill>
                        <a:srgbClr val="F0F0F0"/>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Debugging (examples: </a:t>
                      </a:r>
                      <a:r>
                        <a:rPr lang="en-US" sz="1150">
                          <a:latin typeface="Calibri"/>
                          <a:ea typeface="Calibri"/>
                          <a:cs typeface="Calibri"/>
                          <a:sym typeface="Calibri"/>
                        </a:rPr>
                        <a:t>added .gitattributes to force LF line endings for *.sh files, generated wait_and_run.sh and set the executable bit to avoid failures in Linux/Docker, moved CRLF normalization and chmod into the container CMD so sed -i 's/\r$//' and chmod are run at runtime)</a:t>
                      </a:r>
                      <a:r>
                        <a:rPr lang="en-US" sz="900">
                          <a:solidFill>
                            <a:srgbClr val="D1D7E0"/>
                          </a:solidFill>
                          <a:highlight>
                            <a:srgbClr val="212830"/>
                          </a:highlight>
                          <a:latin typeface="Courier New"/>
                          <a:ea typeface="Courier New"/>
                          <a:cs typeface="Courier New"/>
                          <a:sym typeface="Courier New"/>
                        </a:rPr>
                        <a:t> </a:t>
                      </a:r>
                      <a:endParaRPr sz="1150" u="none" cap="none" strike="noStrike">
                        <a:latin typeface="Calibri"/>
                        <a:ea typeface="Calibri"/>
                        <a:cs typeface="Calibri"/>
                        <a:sym typeface="Calibri"/>
                      </a:endParaRPr>
                    </a:p>
                  </a:txBody>
                  <a:tcPr marT="45725" marB="45725" marR="91450" marL="91450" anchor="ctr">
                    <a:lnL cap="flat" cmpd="sng" w="9525">
                      <a:solidFill>
                        <a:srgbClr val="F0F0F0"/>
                      </a:solidFill>
                      <a:prstDash val="solid"/>
                      <a:round/>
                      <a:headEnd len="sm" w="sm" type="none"/>
                      <a:tailEnd len="sm" w="sm" type="none"/>
                    </a:lnL>
                    <a:lnR cap="flat" cmpd="sng" w="9525">
                      <a:solidFill>
                        <a:srgbClr val="F0F0F0"/>
                      </a:solidFill>
                      <a:prstDash val="solid"/>
                      <a:round/>
                      <a:headEnd len="sm" w="sm" type="none"/>
                      <a:tailEnd len="sm" w="sm" type="none"/>
                    </a:lnR>
                    <a:lnT cap="flat" cmpd="sng" w="9525">
                      <a:solidFill>
                        <a:srgbClr val="F0F0F0"/>
                      </a:solidFill>
                      <a:prstDash val="solid"/>
                      <a:round/>
                      <a:headEnd len="sm" w="sm" type="none"/>
                      <a:tailEnd len="sm" w="sm" type="none"/>
                    </a:lnT>
                    <a:lnB cap="flat" cmpd="sng" w="9525">
                      <a:solidFill>
                        <a:srgbClr val="F0F0F0"/>
                      </a:solidFill>
                      <a:prstDash val="solid"/>
                      <a:round/>
                      <a:headEnd len="sm" w="sm" type="none"/>
                      <a:tailEnd len="sm" w="sm" type="none"/>
                    </a:lnB>
                  </a:tcPr>
                </a:tc>
                <a:tc>
                  <a:txBody>
                    <a:bodyPr/>
                    <a:lstStyle/>
                    <a:p>
                      <a:pPr indent="0" lvl="0" marL="0" marR="0" rtl="0" algn="l">
                        <a:spcBef>
                          <a:spcPts val="0"/>
                        </a:spcBef>
                        <a:spcAft>
                          <a:spcPts val="0"/>
                        </a:spcAft>
                        <a:buClr>
                          <a:srgbClr val="A01E4A"/>
                        </a:buClr>
                        <a:buSzPts val="1150"/>
                        <a:buFont typeface="Calibri"/>
                        <a:buNone/>
                      </a:pPr>
                      <a:r>
                        <a:rPr b="1" lang="en-US" sz="1150">
                          <a:solidFill>
                            <a:srgbClr val="A01E4A"/>
                          </a:solidFill>
                          <a:latin typeface="Calibri"/>
                          <a:ea typeface="Calibri"/>
                          <a:cs typeface="Calibri"/>
                          <a:sym typeface="Calibri"/>
                        </a:rPr>
                        <a:t>Code, Directory structure</a:t>
                      </a:r>
                      <a:endParaRPr sz="1150" u="none" cap="none" strike="noStrike">
                        <a:latin typeface="Calibri"/>
                        <a:ea typeface="Calibri"/>
                        <a:cs typeface="Calibri"/>
                        <a:sym typeface="Calibri"/>
                      </a:endParaRPr>
                    </a:p>
                  </a:txBody>
                  <a:tcPr marT="45725" marB="45725" marR="91450" marL="91450" anchor="ctr">
                    <a:lnL cap="flat" cmpd="sng" w="9525">
                      <a:solidFill>
                        <a:srgbClr val="F0F0F0"/>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bl>
          </a:graphicData>
        </a:graphic>
      </p:graphicFrame>
      <p:pic>
        <p:nvPicPr>
          <p:cNvPr descr="/tmp/band.png" id="143" name="Google Shape;143;g3ec043b165a_0_40"/>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144" name="Google Shape;144;g3ec043b165a_0_40"/>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145" name="Google Shape;145;g3ec043b165a_0_40"/>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AI Usage: Code</a:t>
            </a:r>
            <a:endParaRPr b="0" i="0" sz="2500" u="none" cap="none" strike="noStrike">
              <a:solidFill>
                <a:schemeClr val="dk1"/>
              </a:solidFill>
              <a:latin typeface="Calibri"/>
              <a:ea typeface="Calibri"/>
              <a:cs typeface="Calibri"/>
              <a:sym typeface="Calibri"/>
            </a:endParaRPr>
          </a:p>
        </p:txBody>
      </p:sp>
      <p:sp>
        <p:nvSpPr>
          <p:cNvPr id="146" name="Google Shape;146;g3ec043b165a_0_40"/>
          <p:cNvSpPr/>
          <p:nvPr/>
        </p:nvSpPr>
        <p:spPr>
          <a:xfrm>
            <a:off x="4535488" y="4029800"/>
            <a:ext cx="2067900" cy="594300"/>
          </a:xfrm>
          <a:prstGeom prst="roundRect">
            <a:avLst>
              <a:gd fmla="val 9231" name="adj"/>
            </a:avLst>
          </a:prstGeom>
          <a:solidFill>
            <a:srgbClr val="FCE4ED"/>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ec043b165a_0_40"/>
          <p:cNvSpPr/>
          <p:nvPr/>
        </p:nvSpPr>
        <p:spPr>
          <a:xfrm>
            <a:off x="4740024" y="4029800"/>
            <a:ext cx="1783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600"/>
              <a:buFont typeface="Calibri"/>
              <a:buNone/>
            </a:pPr>
            <a:r>
              <a:rPr b="1" i="0" lang="en-US" sz="1600" u="none" cap="none" strike="noStrike">
                <a:solidFill>
                  <a:srgbClr val="D12B63"/>
                </a:solidFill>
                <a:latin typeface="Calibri"/>
                <a:ea typeface="Calibri"/>
                <a:cs typeface="Calibri"/>
                <a:sym typeface="Calibri"/>
              </a:rPr>
              <a:t> </a:t>
            </a:r>
            <a:r>
              <a:rPr lang="en-US" sz="1100">
                <a:solidFill>
                  <a:srgbClr val="2D2D2D"/>
                </a:solidFill>
                <a:latin typeface="Calibri"/>
                <a:ea typeface="Calibri"/>
                <a:cs typeface="Calibri"/>
                <a:sym typeface="Calibri"/>
              </a:rPr>
              <a:t>Estimated percentage:</a:t>
            </a:r>
            <a:r>
              <a:rPr b="0" i="0" lang="en-US" sz="1100" u="none" cap="none" strike="noStrike">
                <a:solidFill>
                  <a:srgbClr val="2D2D2D"/>
                </a:solidFill>
                <a:latin typeface="Calibri"/>
                <a:ea typeface="Calibri"/>
                <a:cs typeface="Calibri"/>
                <a:sym typeface="Calibri"/>
              </a:rPr>
              <a:t> </a:t>
            </a:r>
            <a:r>
              <a:rPr b="1" lang="en-US" sz="1600">
                <a:solidFill>
                  <a:srgbClr val="D12B63"/>
                </a:solidFill>
                <a:latin typeface="Calibri"/>
                <a:ea typeface="Calibri"/>
                <a:cs typeface="Calibri"/>
                <a:sym typeface="Calibri"/>
              </a:rPr>
              <a:t>2</a:t>
            </a:r>
            <a:r>
              <a:rPr b="1" lang="en-US" sz="1600">
                <a:solidFill>
                  <a:srgbClr val="D12B63"/>
                </a:solidFill>
                <a:latin typeface="Calibri"/>
                <a:ea typeface="Calibri"/>
                <a:cs typeface="Calibri"/>
                <a:sym typeface="Calibri"/>
              </a:rPr>
              <a:t>0% </a:t>
            </a:r>
            <a:endParaRPr b="0" i="0" sz="1600" u="none" cap="none" strike="noStrike">
              <a:solidFill>
                <a:schemeClr val="dk1"/>
              </a:solidFill>
              <a:latin typeface="Calibri"/>
              <a:ea typeface="Calibri"/>
              <a:cs typeface="Calibri"/>
              <a:sym typeface="Calibri"/>
            </a:endParaRPr>
          </a:p>
        </p:txBody>
      </p:sp>
      <p:sp>
        <p:nvSpPr>
          <p:cNvPr id="148" name="Google Shape;148;g3ec043b165a_0_40"/>
          <p:cNvSpPr/>
          <p:nvPr/>
        </p:nvSpPr>
        <p:spPr>
          <a:xfrm>
            <a:off x="1792227" y="3760050"/>
            <a:ext cx="2067900" cy="347400"/>
          </a:xfrm>
          <a:prstGeom prst="roundRect">
            <a:avLst>
              <a:gd fmla="val 15789"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ec043b165a_0_40"/>
          <p:cNvSpPr/>
          <p:nvPr/>
        </p:nvSpPr>
        <p:spPr>
          <a:xfrm>
            <a:off x="1929390" y="3760060"/>
            <a:ext cx="2606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1" lang="en-US" sz="1050">
                <a:solidFill>
                  <a:srgbClr val="2D2D2D"/>
                </a:solidFill>
                <a:latin typeface="Calibri"/>
                <a:ea typeface="Calibri"/>
                <a:cs typeface="Calibri"/>
                <a:sym typeface="Calibri"/>
              </a:rPr>
              <a:t>Human Commits</a:t>
            </a:r>
            <a:endParaRPr b="0" i="0" sz="1050" u="none" cap="none" strike="noStrike">
              <a:solidFill>
                <a:schemeClr val="dk1"/>
              </a:solidFill>
              <a:latin typeface="Calibri"/>
              <a:ea typeface="Calibri"/>
              <a:cs typeface="Calibri"/>
              <a:sym typeface="Calibri"/>
            </a:endParaRPr>
          </a:p>
        </p:txBody>
      </p:sp>
      <p:sp>
        <p:nvSpPr>
          <p:cNvPr id="150" name="Google Shape;150;g3ec043b165a_0_40"/>
          <p:cNvSpPr/>
          <p:nvPr/>
        </p:nvSpPr>
        <p:spPr>
          <a:xfrm>
            <a:off x="3302335" y="3760060"/>
            <a:ext cx="411600" cy="347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lang="en-US" sz="1100">
                <a:solidFill>
                  <a:srgbClr val="D12B63"/>
                </a:solidFill>
                <a:latin typeface="Calibri"/>
                <a:ea typeface="Calibri"/>
                <a:cs typeface="Calibri"/>
                <a:sym typeface="Calibri"/>
              </a:rPr>
              <a:t>17</a:t>
            </a:r>
            <a:endParaRPr b="0" i="0" sz="1100" u="none" cap="none" strike="noStrike">
              <a:solidFill>
                <a:schemeClr val="dk1"/>
              </a:solidFill>
              <a:latin typeface="Calibri"/>
              <a:ea typeface="Calibri"/>
              <a:cs typeface="Calibri"/>
              <a:sym typeface="Calibri"/>
            </a:endParaRPr>
          </a:p>
        </p:txBody>
      </p:sp>
      <p:sp>
        <p:nvSpPr>
          <p:cNvPr id="151" name="Google Shape;151;g3ec043b165a_0_40"/>
          <p:cNvSpPr/>
          <p:nvPr/>
        </p:nvSpPr>
        <p:spPr>
          <a:xfrm>
            <a:off x="1792227" y="4153250"/>
            <a:ext cx="2067900" cy="347400"/>
          </a:xfrm>
          <a:prstGeom prst="roundRect">
            <a:avLst>
              <a:gd fmla="val 15789"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ec043b165a_0_40"/>
          <p:cNvSpPr/>
          <p:nvPr/>
        </p:nvSpPr>
        <p:spPr>
          <a:xfrm>
            <a:off x="1929390" y="4153252"/>
            <a:ext cx="2606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1" lang="en-US" sz="1050">
                <a:solidFill>
                  <a:srgbClr val="2D2D2D"/>
                </a:solidFill>
                <a:latin typeface="Calibri"/>
                <a:ea typeface="Calibri"/>
                <a:cs typeface="Calibri"/>
                <a:sym typeface="Calibri"/>
              </a:rPr>
              <a:t>Hybrid Commits </a:t>
            </a:r>
            <a:endParaRPr b="0" i="0" sz="1050" u="none" cap="none" strike="noStrike">
              <a:solidFill>
                <a:schemeClr val="dk1"/>
              </a:solidFill>
              <a:latin typeface="Calibri"/>
              <a:ea typeface="Calibri"/>
              <a:cs typeface="Calibri"/>
              <a:sym typeface="Calibri"/>
            </a:endParaRPr>
          </a:p>
        </p:txBody>
      </p:sp>
      <p:sp>
        <p:nvSpPr>
          <p:cNvPr id="153" name="Google Shape;153;g3ec043b165a_0_40"/>
          <p:cNvSpPr/>
          <p:nvPr/>
        </p:nvSpPr>
        <p:spPr>
          <a:xfrm>
            <a:off x="3302335" y="4166002"/>
            <a:ext cx="411600" cy="347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lang="en-US" sz="1100">
                <a:solidFill>
                  <a:srgbClr val="D12B63"/>
                </a:solidFill>
                <a:latin typeface="Calibri"/>
                <a:ea typeface="Calibri"/>
                <a:cs typeface="Calibri"/>
                <a:sym typeface="Calibri"/>
              </a:rPr>
              <a:t>27</a:t>
            </a:r>
            <a:endParaRPr b="0" i="0" sz="1100" u="none" cap="none" strike="noStrike">
              <a:solidFill>
                <a:schemeClr val="dk1"/>
              </a:solidFill>
              <a:latin typeface="Calibri"/>
              <a:ea typeface="Calibri"/>
              <a:cs typeface="Calibri"/>
              <a:sym typeface="Calibri"/>
            </a:endParaRPr>
          </a:p>
        </p:txBody>
      </p:sp>
      <p:sp>
        <p:nvSpPr>
          <p:cNvPr id="154" name="Google Shape;154;g3ec043b165a_0_40"/>
          <p:cNvSpPr/>
          <p:nvPr/>
        </p:nvSpPr>
        <p:spPr>
          <a:xfrm>
            <a:off x="1792227" y="4546450"/>
            <a:ext cx="2067900" cy="347400"/>
          </a:xfrm>
          <a:prstGeom prst="roundRect">
            <a:avLst>
              <a:gd fmla="val 15789"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ec043b165a_0_40"/>
          <p:cNvSpPr/>
          <p:nvPr/>
        </p:nvSpPr>
        <p:spPr>
          <a:xfrm>
            <a:off x="1929390" y="4546444"/>
            <a:ext cx="2606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1" lang="en-US" sz="1050">
                <a:solidFill>
                  <a:srgbClr val="2D2D2D"/>
                </a:solidFill>
                <a:latin typeface="Calibri"/>
                <a:ea typeface="Calibri"/>
                <a:cs typeface="Calibri"/>
                <a:sym typeface="Calibri"/>
              </a:rPr>
              <a:t>AI Commits </a:t>
            </a:r>
            <a:endParaRPr b="0" i="0" sz="1050" u="none" cap="none" strike="noStrike">
              <a:solidFill>
                <a:schemeClr val="dk1"/>
              </a:solidFill>
              <a:latin typeface="Calibri"/>
              <a:ea typeface="Calibri"/>
              <a:cs typeface="Calibri"/>
              <a:sym typeface="Calibri"/>
            </a:endParaRPr>
          </a:p>
        </p:txBody>
      </p:sp>
      <p:sp>
        <p:nvSpPr>
          <p:cNvPr id="156" name="Google Shape;156;g3ec043b165a_0_40"/>
          <p:cNvSpPr/>
          <p:nvPr/>
        </p:nvSpPr>
        <p:spPr>
          <a:xfrm>
            <a:off x="3302335" y="4571944"/>
            <a:ext cx="411600" cy="347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lang="en-US" sz="1100">
                <a:solidFill>
                  <a:srgbClr val="D12B63"/>
                </a:solidFill>
                <a:latin typeface="Calibri"/>
                <a:ea typeface="Calibri"/>
                <a:cs typeface="Calibri"/>
                <a:sym typeface="Calibri"/>
              </a:rPr>
              <a:t>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graphicFrame>
        <p:nvGraphicFramePr>
          <p:cNvPr id="162" name="Google Shape;162;g3ec043b165a_0_49"/>
          <p:cNvGraphicFramePr/>
          <p:nvPr/>
        </p:nvGraphicFramePr>
        <p:xfrm>
          <a:off x="415800" y="1043580"/>
          <a:ext cx="3000000" cy="3000000"/>
        </p:xfrm>
        <a:graphic>
          <a:graphicData uri="http://schemas.openxmlformats.org/drawingml/2006/table">
            <a:tbl>
              <a:tblPr>
                <a:noFill/>
                <a:tableStyleId>{3A829425-CA47-42D2-BFA8-2A0952B3F607}</a:tableStyleId>
              </a:tblPr>
              <a:tblGrid>
                <a:gridCol w="1675425"/>
                <a:gridCol w="4176725"/>
                <a:gridCol w="2377450"/>
              </a:tblGrid>
              <a:tr h="384050">
                <a:tc>
                  <a:txBody>
                    <a:bodyPr/>
                    <a:lstStyle/>
                    <a:p>
                      <a:pPr indent="0" lvl="0" marL="0" marR="0" rtl="0" algn="l">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Platform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l">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Used for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l">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Project Contribution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Claude + Copilot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Built test automation frameworks using Playwright </a:t>
                      </a:r>
                      <a:endParaRPr sz="1150">
                        <a:solidFill>
                          <a:srgbClr val="2D2D2D"/>
                        </a:solidFill>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a:solidFill>
                            <a:srgbClr val="A01E4A"/>
                          </a:solidFill>
                          <a:latin typeface="Calibri"/>
                          <a:ea typeface="Calibri"/>
                          <a:cs typeface="Calibri"/>
                          <a:sym typeface="Calibri"/>
                        </a:rPr>
                        <a:t>Automated testing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Claude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a:latin typeface="Calibri"/>
                          <a:ea typeface="Calibri"/>
                          <a:cs typeface="Calibri"/>
                          <a:sym typeface="Calibri"/>
                        </a:rPr>
                        <a:t>Generated manual testing report template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a:solidFill>
                            <a:srgbClr val="A01E4A"/>
                          </a:solidFill>
                          <a:latin typeface="Calibri"/>
                          <a:ea typeface="Calibri"/>
                          <a:cs typeface="Calibri"/>
                          <a:sym typeface="Calibri"/>
                        </a:rPr>
                        <a:t>Manual testing report </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bl>
          </a:graphicData>
        </a:graphic>
      </p:graphicFrame>
      <p:pic>
        <p:nvPicPr>
          <p:cNvPr descr="/tmp/band.png" id="163" name="Google Shape;163;g3ec043b165a_0_49"/>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164" name="Google Shape;164;g3ec043b165a_0_49"/>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165" name="Google Shape;165;g3ec043b165a_0_49"/>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AI Usage: Testing</a:t>
            </a:r>
            <a:endParaRPr b="0" i="0" sz="2500" u="none" cap="none" strike="noStrike">
              <a:solidFill>
                <a:schemeClr val="dk1"/>
              </a:solidFill>
              <a:latin typeface="Calibri"/>
              <a:ea typeface="Calibri"/>
              <a:cs typeface="Calibri"/>
              <a:sym typeface="Calibri"/>
            </a:endParaRPr>
          </a:p>
        </p:txBody>
      </p:sp>
      <p:sp>
        <p:nvSpPr>
          <p:cNvPr id="166" name="Google Shape;166;g3ec043b165a_0_49"/>
          <p:cNvSpPr/>
          <p:nvPr/>
        </p:nvSpPr>
        <p:spPr>
          <a:xfrm>
            <a:off x="3538038" y="3998750"/>
            <a:ext cx="2067900" cy="594300"/>
          </a:xfrm>
          <a:prstGeom prst="roundRect">
            <a:avLst>
              <a:gd fmla="val 9231" name="adj"/>
            </a:avLst>
          </a:prstGeom>
          <a:solidFill>
            <a:srgbClr val="FCE4ED"/>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ec043b165a_0_49"/>
          <p:cNvSpPr/>
          <p:nvPr/>
        </p:nvSpPr>
        <p:spPr>
          <a:xfrm>
            <a:off x="3742574" y="3998750"/>
            <a:ext cx="1783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600"/>
              <a:buFont typeface="Calibri"/>
              <a:buNone/>
            </a:pPr>
            <a:r>
              <a:rPr b="1" i="0" lang="en-US" sz="1600" u="none" cap="none" strike="noStrike">
                <a:solidFill>
                  <a:srgbClr val="D12B63"/>
                </a:solidFill>
                <a:latin typeface="Calibri"/>
                <a:ea typeface="Calibri"/>
                <a:cs typeface="Calibri"/>
                <a:sym typeface="Calibri"/>
              </a:rPr>
              <a:t> </a:t>
            </a:r>
            <a:r>
              <a:rPr lang="en-US" sz="1100">
                <a:solidFill>
                  <a:srgbClr val="2D2D2D"/>
                </a:solidFill>
                <a:latin typeface="Calibri"/>
                <a:ea typeface="Calibri"/>
                <a:cs typeface="Calibri"/>
                <a:sym typeface="Calibri"/>
              </a:rPr>
              <a:t>Estimated percentage:</a:t>
            </a:r>
            <a:r>
              <a:rPr b="0" i="0" lang="en-US" sz="1100" u="none" cap="none" strike="noStrike">
                <a:solidFill>
                  <a:srgbClr val="2D2D2D"/>
                </a:solidFill>
                <a:latin typeface="Calibri"/>
                <a:ea typeface="Calibri"/>
                <a:cs typeface="Calibri"/>
                <a:sym typeface="Calibri"/>
              </a:rPr>
              <a:t> </a:t>
            </a:r>
            <a:r>
              <a:rPr b="1" lang="en-US" sz="1600">
                <a:solidFill>
                  <a:srgbClr val="D12B63"/>
                </a:solidFill>
                <a:latin typeface="Calibri"/>
                <a:ea typeface="Calibri"/>
                <a:cs typeface="Calibri"/>
                <a:sym typeface="Calibri"/>
              </a:rPr>
              <a:t>7</a:t>
            </a:r>
            <a:r>
              <a:rPr b="1" lang="en-US" sz="1600">
                <a:solidFill>
                  <a:srgbClr val="D12B63"/>
                </a:solidFill>
                <a:latin typeface="Calibri"/>
                <a:ea typeface="Calibri"/>
                <a:cs typeface="Calibri"/>
                <a:sym typeface="Calibri"/>
              </a:rPr>
              <a:t>0%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01E4A"/>
        </a:solidFill>
      </p:bgPr>
    </p:bg>
    <p:spTree>
      <p:nvGrpSpPr>
        <p:cNvPr id="172" name="Shape 172"/>
        <p:cNvGrpSpPr/>
        <p:nvPr/>
      </p:nvGrpSpPr>
      <p:grpSpPr>
        <a:xfrm>
          <a:off x="0" y="0"/>
          <a:ext cx="0" cy="0"/>
          <a:chOff x="0" y="0"/>
          <a:chExt cx="0" cy="0"/>
        </a:xfrm>
      </p:grpSpPr>
      <p:pic>
        <p:nvPicPr>
          <p:cNvPr descr="/tmp/divider.png" id="173" name="Google Shape;173;g3ec043b165a_0_2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4" name="Google Shape;174;g3ec043b165a_0_22"/>
          <p:cNvSpPr/>
          <p:nvPr/>
        </p:nvSpPr>
        <p:spPr>
          <a:xfrm>
            <a:off x="0" y="2011680"/>
            <a:ext cx="9144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E4ED"/>
              </a:buClr>
              <a:buSzPts val="1300"/>
              <a:buFont typeface="Calibri"/>
              <a:buNone/>
            </a:pPr>
            <a:r>
              <a:rPr b="1" lang="en-US" sz="1300">
                <a:solidFill>
                  <a:srgbClr val="FCE4ED"/>
                </a:solidFill>
                <a:latin typeface="Calibri"/>
                <a:ea typeface="Calibri"/>
                <a:cs typeface="Calibri"/>
                <a:sym typeface="Calibri"/>
              </a:rPr>
              <a:t>SOFTWARE ARCHITECTURE</a:t>
            </a:r>
            <a:endParaRPr b="0" i="0" sz="1300" u="none" cap="none" strike="noStrike">
              <a:solidFill>
                <a:schemeClr val="dk1"/>
              </a:solidFill>
              <a:latin typeface="Calibri"/>
              <a:ea typeface="Calibri"/>
              <a:cs typeface="Calibri"/>
              <a:sym typeface="Calibri"/>
            </a:endParaRPr>
          </a:p>
        </p:txBody>
      </p:sp>
      <p:sp>
        <p:nvSpPr>
          <p:cNvPr id="175" name="Google Shape;175;g3ec043b165a_0_22"/>
          <p:cNvSpPr/>
          <p:nvPr/>
        </p:nvSpPr>
        <p:spPr>
          <a:xfrm>
            <a:off x="0" y="2331720"/>
            <a:ext cx="91440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Design </a:t>
            </a:r>
            <a:endParaRPr b="0" i="0" sz="4000" u="none" cap="none" strike="noStrike">
              <a:solidFill>
                <a:schemeClr val="dk1"/>
              </a:solidFill>
              <a:latin typeface="Calibri"/>
              <a:ea typeface="Calibri"/>
              <a:cs typeface="Calibri"/>
              <a:sym typeface="Calibri"/>
            </a:endParaRPr>
          </a:p>
        </p:txBody>
      </p:sp>
      <p:sp>
        <p:nvSpPr>
          <p:cNvPr id="176" name="Google Shape;176;g3ec043b165a_0_22"/>
          <p:cNvSpPr/>
          <p:nvPr/>
        </p:nvSpPr>
        <p:spPr>
          <a:xfrm>
            <a:off x="0" y="3108960"/>
            <a:ext cx="91440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E4ED"/>
              </a:buClr>
              <a:buSzPts val="1400"/>
              <a:buFont typeface="Calibri"/>
              <a:buNone/>
            </a:pPr>
            <a:r>
              <a:rPr lang="en-US">
                <a:solidFill>
                  <a:srgbClr val="FCE4ED"/>
                </a:solidFill>
                <a:latin typeface="Calibri"/>
                <a:ea typeface="Calibri"/>
                <a:cs typeface="Calibri"/>
                <a:sym typeface="Calibri"/>
              </a:rPr>
              <a:t>Database Design</a:t>
            </a:r>
            <a:r>
              <a:rPr b="0" i="0" lang="en-US" sz="1400" u="none" cap="none" strike="noStrike">
                <a:solidFill>
                  <a:srgbClr val="FCE4ED"/>
                </a:solidFill>
                <a:latin typeface="Calibri"/>
                <a:ea typeface="Calibri"/>
                <a:cs typeface="Calibri"/>
                <a:sym typeface="Calibri"/>
              </a:rPr>
              <a:t>  •  </a:t>
            </a:r>
            <a:r>
              <a:rPr lang="en-US">
                <a:solidFill>
                  <a:srgbClr val="FCE4ED"/>
                </a:solidFill>
                <a:latin typeface="Calibri"/>
                <a:ea typeface="Calibri"/>
                <a:cs typeface="Calibri"/>
                <a:sym typeface="Calibri"/>
              </a:rPr>
              <a:t>Framework</a:t>
            </a:r>
            <a:r>
              <a:rPr b="0" i="0" lang="en-US" sz="1400" u="none" cap="none" strike="noStrike">
                <a:solidFill>
                  <a:srgbClr val="FCE4ED"/>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descr="/tmp/band.png" id="182" name="Google Shape;182;g3ec043b165a_0_81"/>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183" name="Google Shape;183;g3ec043b165a_0_81"/>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184" name="Google Shape;184;g3ec043b165a_0_81"/>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Our Design Goals </a:t>
            </a:r>
            <a:endParaRPr b="0" i="0" sz="2500" u="none" cap="none" strike="noStrike">
              <a:solidFill>
                <a:schemeClr val="dk1"/>
              </a:solidFill>
              <a:latin typeface="Calibri"/>
              <a:ea typeface="Calibri"/>
              <a:cs typeface="Calibri"/>
              <a:sym typeface="Calibri"/>
            </a:endParaRPr>
          </a:p>
        </p:txBody>
      </p:sp>
      <p:sp>
        <p:nvSpPr>
          <p:cNvPr id="185" name="Google Shape;185;g3ec043b165a_0_81"/>
          <p:cNvSpPr/>
          <p:nvPr/>
        </p:nvSpPr>
        <p:spPr>
          <a:xfrm>
            <a:off x="395100" y="1097280"/>
            <a:ext cx="3977700" cy="30633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ec043b165a_0_81"/>
          <p:cNvSpPr/>
          <p:nvPr/>
        </p:nvSpPr>
        <p:spPr>
          <a:xfrm>
            <a:off x="685800" y="12801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700"/>
              <a:buFont typeface="Calibri"/>
              <a:buNone/>
            </a:pPr>
            <a:r>
              <a:rPr b="1" lang="en-US" sz="1700">
                <a:solidFill>
                  <a:srgbClr val="D12B63"/>
                </a:solidFill>
                <a:latin typeface="Calibri"/>
                <a:ea typeface="Calibri"/>
                <a:cs typeface="Calibri"/>
                <a:sym typeface="Calibri"/>
              </a:rPr>
              <a:t>External (User-facing)</a:t>
            </a:r>
            <a:endParaRPr b="0" i="0" sz="1700" u="none" cap="none" strike="noStrike">
              <a:solidFill>
                <a:schemeClr val="dk1"/>
              </a:solidFill>
              <a:latin typeface="Calibri"/>
              <a:ea typeface="Calibri"/>
              <a:cs typeface="Calibri"/>
              <a:sym typeface="Calibri"/>
            </a:endParaRPr>
          </a:p>
        </p:txBody>
      </p:sp>
      <p:sp>
        <p:nvSpPr>
          <p:cNvPr id="187" name="Google Shape;187;g3ec043b165a_0_81"/>
          <p:cNvSpPr/>
          <p:nvPr/>
        </p:nvSpPr>
        <p:spPr>
          <a:xfrm>
            <a:off x="4657410" y="1097280"/>
            <a:ext cx="3977700" cy="30633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ec043b165a_0_81"/>
          <p:cNvSpPr/>
          <p:nvPr/>
        </p:nvSpPr>
        <p:spPr>
          <a:xfrm>
            <a:off x="4937760" y="12801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700"/>
              <a:buFont typeface="Calibri"/>
              <a:buNone/>
            </a:pPr>
            <a:r>
              <a:rPr b="1" lang="en-US" sz="1700">
                <a:solidFill>
                  <a:srgbClr val="A01E4A"/>
                </a:solidFill>
                <a:latin typeface="Calibri"/>
                <a:ea typeface="Calibri"/>
                <a:cs typeface="Calibri"/>
                <a:sym typeface="Calibri"/>
              </a:rPr>
              <a:t>Internal (Software)</a:t>
            </a:r>
            <a:endParaRPr b="0" i="0" sz="1700" u="none" cap="none" strike="noStrike">
              <a:solidFill>
                <a:schemeClr val="dk1"/>
              </a:solidFill>
              <a:latin typeface="Calibri"/>
              <a:ea typeface="Calibri"/>
              <a:cs typeface="Calibri"/>
              <a:sym typeface="Calibri"/>
            </a:endParaRPr>
          </a:p>
        </p:txBody>
      </p:sp>
      <p:sp>
        <p:nvSpPr>
          <p:cNvPr id="189" name="Google Shape;189;g3ec043b165a_0_81"/>
          <p:cNvSpPr txBox="1"/>
          <p:nvPr/>
        </p:nvSpPr>
        <p:spPr>
          <a:xfrm>
            <a:off x="4937750" y="1645850"/>
            <a:ext cx="4753200" cy="25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sz="1150">
              <a:latin typeface="Calibri"/>
              <a:ea typeface="Calibri"/>
              <a:cs typeface="Calibri"/>
              <a:sym typeface="Calibri"/>
            </a:endParaRPr>
          </a:p>
          <a:p>
            <a:pPr indent="0" lvl="0" marL="0" rtl="0" algn="l">
              <a:lnSpc>
                <a:spcPct val="115000"/>
              </a:lnSpc>
              <a:spcBef>
                <a:spcPts val="1200"/>
              </a:spcBef>
              <a:spcAft>
                <a:spcPts val="0"/>
              </a:spcAft>
              <a:buNone/>
            </a:pPr>
            <a:r>
              <a:rPr lang="en-US" sz="1150">
                <a:latin typeface="Calibri"/>
                <a:ea typeface="Calibri"/>
                <a:cs typeface="Calibri"/>
                <a:sym typeface="Calibri"/>
              </a:rPr>
              <a:t>Enable future scalability and deployment</a:t>
            </a:r>
            <a:endParaRPr sz="1150">
              <a:latin typeface="Calibri"/>
              <a:ea typeface="Calibri"/>
              <a:cs typeface="Calibri"/>
              <a:sym typeface="Calibri"/>
            </a:endParaRPr>
          </a:p>
          <a:p>
            <a:pPr indent="0" lvl="0" marL="0" rtl="0" algn="l">
              <a:lnSpc>
                <a:spcPct val="115000"/>
              </a:lnSpc>
              <a:spcBef>
                <a:spcPts val="1200"/>
              </a:spcBef>
              <a:spcAft>
                <a:spcPts val="0"/>
              </a:spcAft>
              <a:buNone/>
            </a:pPr>
            <a:r>
              <a:rPr lang="en-US" sz="1150">
                <a:latin typeface="Calibri"/>
                <a:ea typeface="Calibri"/>
                <a:cs typeface="Calibri"/>
                <a:sym typeface="Calibri"/>
              </a:rPr>
              <a:t>Maintain modular frontend/backend architecture</a:t>
            </a:r>
            <a:endParaRPr sz="1150">
              <a:latin typeface="Calibri"/>
              <a:ea typeface="Calibri"/>
              <a:cs typeface="Calibri"/>
              <a:sym typeface="Calibri"/>
            </a:endParaRPr>
          </a:p>
          <a:p>
            <a:pPr indent="0" lvl="0" marL="0" rtl="0" algn="l">
              <a:lnSpc>
                <a:spcPct val="115000"/>
              </a:lnSpc>
              <a:spcBef>
                <a:spcPts val="1200"/>
              </a:spcBef>
              <a:spcAft>
                <a:spcPts val="0"/>
              </a:spcAft>
              <a:buNone/>
            </a:pPr>
            <a:r>
              <a:rPr lang="en-US" sz="1150">
                <a:latin typeface="Calibri"/>
                <a:ea typeface="Calibri"/>
                <a:cs typeface="Calibri"/>
                <a:sym typeface="Calibri"/>
              </a:rPr>
              <a:t>Maintain user security </a:t>
            </a:r>
            <a:endParaRPr sz="1150">
              <a:latin typeface="Calibri"/>
              <a:ea typeface="Calibri"/>
              <a:cs typeface="Calibri"/>
              <a:sym typeface="Calibri"/>
            </a:endParaRPr>
          </a:p>
          <a:p>
            <a:pPr indent="0" lvl="0" marL="0" rtl="0" algn="l">
              <a:lnSpc>
                <a:spcPct val="115000"/>
              </a:lnSpc>
              <a:spcBef>
                <a:spcPts val="1200"/>
              </a:spcBef>
              <a:spcAft>
                <a:spcPts val="0"/>
              </a:spcAft>
              <a:buNone/>
            </a:pPr>
            <a:r>
              <a:rPr lang="en-US" sz="1150">
                <a:latin typeface="Calibri"/>
                <a:ea typeface="Calibri"/>
                <a:cs typeface="Calibri"/>
                <a:sym typeface="Calibri"/>
              </a:rPr>
              <a:t>Uphold thorough documentation </a:t>
            </a:r>
            <a:endParaRPr sz="1150">
              <a:latin typeface="Calibri"/>
              <a:ea typeface="Calibri"/>
              <a:cs typeface="Calibri"/>
              <a:sym typeface="Calibri"/>
            </a:endParaRPr>
          </a:p>
          <a:p>
            <a:pPr indent="0" lvl="0" marL="0" rtl="0" algn="l">
              <a:lnSpc>
                <a:spcPct val="115000"/>
              </a:lnSpc>
              <a:spcBef>
                <a:spcPts val="1200"/>
              </a:spcBef>
              <a:spcAft>
                <a:spcPts val="0"/>
              </a:spcAft>
              <a:buNone/>
            </a:pPr>
            <a:r>
              <a:rPr lang="en-US" sz="1150">
                <a:latin typeface="Calibri"/>
                <a:ea typeface="Calibri"/>
                <a:cs typeface="Calibri"/>
                <a:sym typeface="Calibri"/>
              </a:rPr>
              <a:t>Support collaborative development workflows</a:t>
            </a:r>
            <a:endParaRPr sz="1150">
              <a:latin typeface="Calibri"/>
              <a:ea typeface="Calibri"/>
              <a:cs typeface="Calibri"/>
              <a:sym typeface="Calibri"/>
            </a:endParaRPr>
          </a:p>
          <a:p>
            <a:pPr indent="0" lvl="0" marL="0" rtl="0" algn="l">
              <a:lnSpc>
                <a:spcPct val="115000"/>
              </a:lnSpc>
              <a:spcBef>
                <a:spcPts val="1200"/>
              </a:spcBef>
              <a:spcAft>
                <a:spcPts val="1200"/>
              </a:spcAft>
              <a:buNone/>
            </a:pPr>
            <a:r>
              <a:t/>
            </a:r>
            <a:endParaRPr sz="1150">
              <a:latin typeface="Calibri"/>
              <a:ea typeface="Calibri"/>
              <a:cs typeface="Calibri"/>
              <a:sym typeface="Calibri"/>
            </a:endParaRPr>
          </a:p>
        </p:txBody>
      </p:sp>
      <p:sp>
        <p:nvSpPr>
          <p:cNvPr id="190" name="Google Shape;190;g3ec043b165a_0_81"/>
          <p:cNvSpPr txBox="1"/>
          <p:nvPr/>
        </p:nvSpPr>
        <p:spPr>
          <a:xfrm>
            <a:off x="685800" y="1883875"/>
            <a:ext cx="3000000" cy="183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150">
                <a:latin typeface="Calibri"/>
                <a:ea typeface="Calibri"/>
                <a:cs typeface="Calibri"/>
                <a:sym typeface="Calibri"/>
              </a:rPr>
              <a:t>Build a scalable AI-assisted testing platform</a:t>
            </a:r>
            <a:endParaRPr sz="1150">
              <a:latin typeface="Calibri"/>
              <a:ea typeface="Calibri"/>
              <a:cs typeface="Calibri"/>
              <a:sym typeface="Calibri"/>
            </a:endParaRPr>
          </a:p>
          <a:p>
            <a:pPr indent="0" lvl="0" marL="0" rtl="0" algn="l">
              <a:lnSpc>
                <a:spcPct val="115000"/>
              </a:lnSpc>
              <a:spcBef>
                <a:spcPts val="1200"/>
              </a:spcBef>
              <a:spcAft>
                <a:spcPts val="0"/>
              </a:spcAft>
              <a:buNone/>
            </a:pPr>
            <a:r>
              <a:rPr lang="en-US" sz="1150">
                <a:latin typeface="Calibri"/>
                <a:ea typeface="Calibri"/>
                <a:cs typeface="Calibri"/>
                <a:sym typeface="Calibri"/>
              </a:rPr>
              <a:t>Reduce manual QA effort</a:t>
            </a:r>
            <a:endParaRPr sz="1150">
              <a:latin typeface="Calibri"/>
              <a:ea typeface="Calibri"/>
              <a:cs typeface="Calibri"/>
              <a:sym typeface="Calibri"/>
            </a:endParaRPr>
          </a:p>
          <a:p>
            <a:pPr indent="0" lvl="0" marL="0" rtl="0" algn="l">
              <a:lnSpc>
                <a:spcPct val="115000"/>
              </a:lnSpc>
              <a:spcBef>
                <a:spcPts val="1200"/>
              </a:spcBef>
              <a:spcAft>
                <a:spcPts val="0"/>
              </a:spcAft>
              <a:buNone/>
            </a:pPr>
            <a:r>
              <a:rPr lang="en-US" sz="1150">
                <a:latin typeface="Calibri"/>
                <a:ea typeface="Calibri"/>
                <a:cs typeface="Calibri"/>
                <a:sym typeface="Calibri"/>
              </a:rPr>
              <a:t>Support contextual AI test generation</a:t>
            </a:r>
            <a:endParaRPr sz="1150">
              <a:latin typeface="Calibri"/>
              <a:ea typeface="Calibri"/>
              <a:cs typeface="Calibri"/>
              <a:sym typeface="Calibri"/>
            </a:endParaRPr>
          </a:p>
          <a:p>
            <a:pPr indent="0" lvl="0" marL="0" rtl="0" algn="l">
              <a:lnSpc>
                <a:spcPct val="115000"/>
              </a:lnSpc>
              <a:spcBef>
                <a:spcPts val="1200"/>
              </a:spcBef>
              <a:spcAft>
                <a:spcPts val="0"/>
              </a:spcAft>
              <a:buNone/>
            </a:pPr>
            <a:r>
              <a:rPr lang="en-US" sz="1150">
                <a:latin typeface="Calibri"/>
                <a:ea typeface="Calibri"/>
                <a:cs typeface="Calibri"/>
                <a:sym typeface="Calibri"/>
              </a:rPr>
              <a:t>Provide secure document upload handling</a:t>
            </a:r>
            <a:endParaRPr sz="1150">
              <a:latin typeface="Calibri"/>
              <a:ea typeface="Calibri"/>
              <a:cs typeface="Calibri"/>
              <a:sym typeface="Calibri"/>
            </a:endParaRPr>
          </a:p>
          <a:p>
            <a:pPr indent="0" lvl="0" marL="0" rtl="0" algn="l">
              <a:lnSpc>
                <a:spcPct val="115000"/>
              </a:lnSpc>
              <a:spcBef>
                <a:spcPts val="1200"/>
              </a:spcBef>
              <a:spcAft>
                <a:spcPts val="1200"/>
              </a:spcAft>
              <a:buNone/>
            </a:pPr>
            <a:r>
              <a:t/>
            </a:r>
            <a:endParaRPr>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descr="/tmp/band.png" id="196" name="Google Shape;196;g3ec043b165a_0_109"/>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197" name="Google Shape;197;g3ec043b165a_0_109"/>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198" name="Google Shape;198;g3ec043b165a_0_109"/>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Software Architecture</a:t>
            </a:r>
            <a:endParaRPr b="0" i="0" sz="2500" u="none" cap="none" strike="noStrike">
              <a:solidFill>
                <a:schemeClr val="dk1"/>
              </a:solidFill>
              <a:latin typeface="Calibri"/>
              <a:ea typeface="Calibri"/>
              <a:cs typeface="Calibri"/>
              <a:sym typeface="Calibri"/>
            </a:endParaRPr>
          </a:p>
        </p:txBody>
      </p:sp>
      <p:sp>
        <p:nvSpPr>
          <p:cNvPr id="199" name="Google Shape;199;g3ec043b165a_0_109"/>
          <p:cNvSpPr txBox="1"/>
          <p:nvPr/>
        </p:nvSpPr>
        <p:spPr>
          <a:xfrm>
            <a:off x="554550" y="1048538"/>
            <a:ext cx="8034900" cy="801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US">
                <a:latin typeface="Calibri"/>
                <a:ea typeface="Calibri"/>
                <a:cs typeface="Calibri"/>
                <a:sym typeface="Calibri"/>
              </a:rPr>
              <a:t>Our app is a</a:t>
            </a:r>
            <a:r>
              <a:rPr b="1" lang="en-US">
                <a:latin typeface="Calibri"/>
                <a:ea typeface="Calibri"/>
                <a:cs typeface="Calibri"/>
                <a:sym typeface="Calibri"/>
              </a:rPr>
              <a:t> decoupled, full-stack web application. </a:t>
            </a:r>
            <a:endParaRPr b="1">
              <a:latin typeface="Calibri"/>
              <a:ea typeface="Calibri"/>
              <a:cs typeface="Calibri"/>
              <a:sym typeface="Calibri"/>
            </a:endParaRPr>
          </a:p>
          <a:p>
            <a:pPr indent="0" lvl="0" marL="0" rtl="0" algn="just">
              <a:lnSpc>
                <a:spcPct val="115000"/>
              </a:lnSpc>
              <a:spcBef>
                <a:spcPts val="1200"/>
              </a:spcBef>
              <a:spcAft>
                <a:spcPts val="1200"/>
              </a:spcAft>
              <a:buNone/>
            </a:pPr>
            <a:r>
              <a:rPr b="1" lang="en-US">
                <a:latin typeface="Calibri"/>
                <a:ea typeface="Calibri"/>
                <a:cs typeface="Calibri"/>
                <a:sym typeface="Calibri"/>
              </a:rPr>
              <a:t>The architecture consists of four primary layers working synchronously:</a:t>
            </a:r>
            <a:endParaRPr b="1">
              <a:latin typeface="Calibri"/>
              <a:ea typeface="Calibri"/>
              <a:cs typeface="Calibri"/>
              <a:sym typeface="Calibri"/>
            </a:endParaRPr>
          </a:p>
        </p:txBody>
      </p:sp>
      <p:sp>
        <p:nvSpPr>
          <p:cNvPr id="200" name="Google Shape;200;g3ec043b165a_0_109"/>
          <p:cNvSpPr/>
          <p:nvPr/>
        </p:nvSpPr>
        <p:spPr>
          <a:xfrm>
            <a:off x="536100" y="2169623"/>
            <a:ext cx="8229600" cy="603600"/>
          </a:xfrm>
          <a:prstGeom prst="roundRect">
            <a:avLst>
              <a:gd fmla="val 90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ec043b165a_0_109"/>
          <p:cNvSpPr/>
          <p:nvPr/>
        </p:nvSpPr>
        <p:spPr>
          <a:xfrm>
            <a:off x="718976" y="2325075"/>
            <a:ext cx="1413000" cy="292500"/>
          </a:xfrm>
          <a:prstGeom prst="roundRect">
            <a:avLst>
              <a:gd fmla="val 50000"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ec043b165a_0_109"/>
          <p:cNvSpPr/>
          <p:nvPr/>
        </p:nvSpPr>
        <p:spPr>
          <a:xfrm>
            <a:off x="2280950" y="2278100"/>
            <a:ext cx="3931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50"/>
              <a:buFont typeface="Calibri"/>
              <a:buNone/>
            </a:pPr>
            <a:r>
              <a:rPr lang="en-US" sz="1050">
                <a:solidFill>
                  <a:srgbClr val="666666"/>
                </a:solidFill>
                <a:latin typeface="Calibri"/>
                <a:ea typeface="Calibri"/>
                <a:cs typeface="Calibri"/>
                <a:sym typeface="Calibri"/>
              </a:rPr>
              <a:t>Handles user interaction and responsive data visualization.</a:t>
            </a:r>
            <a:endParaRPr sz="1050">
              <a:solidFill>
                <a:srgbClr val="666666"/>
              </a:solidFill>
              <a:latin typeface="Calibri"/>
              <a:ea typeface="Calibri"/>
              <a:cs typeface="Calibri"/>
              <a:sym typeface="Calibri"/>
            </a:endParaRPr>
          </a:p>
          <a:p>
            <a:pPr indent="0" lvl="0" marL="0" marR="0" rtl="0" algn="l">
              <a:spcBef>
                <a:spcPts val="0"/>
              </a:spcBef>
              <a:spcAft>
                <a:spcPts val="0"/>
              </a:spcAft>
              <a:buClr>
                <a:srgbClr val="666666"/>
              </a:buClr>
              <a:buSzPts val="1050"/>
              <a:buFont typeface="Calibri"/>
              <a:buNone/>
            </a:pPr>
            <a:r>
              <a:t/>
            </a:r>
            <a:endParaRPr sz="1050">
              <a:solidFill>
                <a:srgbClr val="666666"/>
              </a:solidFill>
              <a:latin typeface="Calibri"/>
              <a:ea typeface="Calibri"/>
              <a:cs typeface="Calibri"/>
              <a:sym typeface="Calibri"/>
            </a:endParaRPr>
          </a:p>
        </p:txBody>
      </p:sp>
      <p:sp>
        <p:nvSpPr>
          <p:cNvPr id="203" name="Google Shape;203;g3ec043b165a_0_109"/>
          <p:cNvSpPr/>
          <p:nvPr/>
        </p:nvSpPr>
        <p:spPr>
          <a:xfrm>
            <a:off x="536100" y="2827991"/>
            <a:ext cx="8229600" cy="603600"/>
          </a:xfrm>
          <a:prstGeom prst="roundRect">
            <a:avLst>
              <a:gd fmla="val 90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ec043b165a_0_109"/>
          <p:cNvSpPr/>
          <p:nvPr/>
        </p:nvSpPr>
        <p:spPr>
          <a:xfrm>
            <a:off x="2280950" y="2901181"/>
            <a:ext cx="3931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50"/>
              <a:buFont typeface="Calibri"/>
              <a:buNone/>
            </a:pPr>
            <a:r>
              <a:rPr lang="en-US" sz="1050">
                <a:solidFill>
                  <a:srgbClr val="666666"/>
                </a:solidFill>
                <a:latin typeface="Calibri"/>
                <a:ea typeface="Calibri"/>
                <a:cs typeface="Calibri"/>
                <a:sym typeface="Calibri"/>
              </a:rPr>
              <a:t>Manages RESTful API routing, business logic, and security workflows.</a:t>
            </a:r>
            <a:endParaRPr sz="1050">
              <a:solidFill>
                <a:srgbClr val="666666"/>
              </a:solidFill>
              <a:latin typeface="Calibri"/>
              <a:ea typeface="Calibri"/>
              <a:cs typeface="Calibri"/>
              <a:sym typeface="Calibri"/>
            </a:endParaRPr>
          </a:p>
          <a:p>
            <a:pPr indent="0" lvl="0" marL="0" marR="0" rtl="0" algn="l">
              <a:spcBef>
                <a:spcPts val="0"/>
              </a:spcBef>
              <a:spcAft>
                <a:spcPts val="0"/>
              </a:spcAft>
              <a:buClr>
                <a:srgbClr val="666666"/>
              </a:buClr>
              <a:buSzPts val="1050"/>
              <a:buFont typeface="Calibri"/>
              <a:buNone/>
            </a:pPr>
            <a:r>
              <a:t/>
            </a:r>
            <a:endParaRPr sz="1050">
              <a:solidFill>
                <a:srgbClr val="666666"/>
              </a:solidFill>
              <a:latin typeface="Calibri"/>
              <a:ea typeface="Calibri"/>
              <a:cs typeface="Calibri"/>
              <a:sym typeface="Calibri"/>
            </a:endParaRPr>
          </a:p>
        </p:txBody>
      </p:sp>
      <p:sp>
        <p:nvSpPr>
          <p:cNvPr id="205" name="Google Shape;205;g3ec043b165a_0_109"/>
          <p:cNvSpPr/>
          <p:nvPr/>
        </p:nvSpPr>
        <p:spPr>
          <a:xfrm>
            <a:off x="536100" y="3486359"/>
            <a:ext cx="8229600" cy="603600"/>
          </a:xfrm>
          <a:prstGeom prst="roundRect">
            <a:avLst>
              <a:gd fmla="val 90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ec043b165a_0_109"/>
          <p:cNvSpPr/>
          <p:nvPr/>
        </p:nvSpPr>
        <p:spPr>
          <a:xfrm>
            <a:off x="2280950" y="3559575"/>
            <a:ext cx="5976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50"/>
              <a:buFont typeface="Calibri"/>
              <a:buNone/>
            </a:pPr>
            <a:r>
              <a:rPr lang="en-US" sz="1050">
                <a:solidFill>
                  <a:srgbClr val="666666"/>
                </a:solidFill>
                <a:latin typeface="Calibri"/>
                <a:ea typeface="Calibri"/>
                <a:cs typeface="Calibri"/>
                <a:sym typeface="Calibri"/>
              </a:rPr>
              <a:t>Governs document parsing, OCR extraction, and the RAG (Retrieval-Augmented Generation) pipeline.</a:t>
            </a:r>
            <a:endParaRPr sz="1050">
              <a:solidFill>
                <a:srgbClr val="666666"/>
              </a:solidFill>
              <a:latin typeface="Calibri"/>
              <a:ea typeface="Calibri"/>
              <a:cs typeface="Calibri"/>
              <a:sym typeface="Calibri"/>
            </a:endParaRPr>
          </a:p>
          <a:p>
            <a:pPr indent="0" lvl="0" marL="0" marR="0" rtl="0" algn="l">
              <a:spcBef>
                <a:spcPts val="0"/>
              </a:spcBef>
              <a:spcAft>
                <a:spcPts val="0"/>
              </a:spcAft>
              <a:buClr>
                <a:srgbClr val="666666"/>
              </a:buClr>
              <a:buSzPts val="1050"/>
              <a:buFont typeface="Calibri"/>
              <a:buNone/>
            </a:pPr>
            <a:r>
              <a:t/>
            </a:r>
            <a:endParaRPr sz="1050">
              <a:solidFill>
                <a:srgbClr val="666666"/>
              </a:solidFill>
              <a:latin typeface="Calibri"/>
              <a:ea typeface="Calibri"/>
              <a:cs typeface="Calibri"/>
              <a:sym typeface="Calibri"/>
            </a:endParaRPr>
          </a:p>
        </p:txBody>
      </p:sp>
      <p:sp>
        <p:nvSpPr>
          <p:cNvPr id="207" name="Google Shape;207;g3ec043b165a_0_109"/>
          <p:cNvSpPr/>
          <p:nvPr/>
        </p:nvSpPr>
        <p:spPr>
          <a:xfrm>
            <a:off x="536100" y="4144727"/>
            <a:ext cx="8229600" cy="603600"/>
          </a:xfrm>
          <a:prstGeom prst="roundRect">
            <a:avLst>
              <a:gd fmla="val 90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3ec043b165a_0_109"/>
          <p:cNvSpPr/>
          <p:nvPr/>
        </p:nvSpPr>
        <p:spPr>
          <a:xfrm>
            <a:off x="2280950" y="4217929"/>
            <a:ext cx="3931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50"/>
              <a:buFont typeface="Calibri"/>
              <a:buNone/>
            </a:pPr>
            <a:r>
              <a:rPr lang="en-US" sz="1050">
                <a:solidFill>
                  <a:srgbClr val="666666"/>
                </a:solidFill>
                <a:latin typeface="Calibri"/>
                <a:ea typeface="Calibri"/>
                <a:cs typeface="Calibri"/>
                <a:sym typeface="Calibri"/>
              </a:rPr>
              <a:t>Provides permanent data storage for application states and assets.</a:t>
            </a:r>
            <a:endParaRPr sz="1050">
              <a:solidFill>
                <a:srgbClr val="666666"/>
              </a:solidFill>
              <a:latin typeface="Calibri"/>
              <a:ea typeface="Calibri"/>
              <a:cs typeface="Calibri"/>
              <a:sym typeface="Calibri"/>
            </a:endParaRPr>
          </a:p>
          <a:p>
            <a:pPr indent="0" lvl="0" marL="0" marR="0" rtl="0" algn="l">
              <a:spcBef>
                <a:spcPts val="0"/>
              </a:spcBef>
              <a:spcAft>
                <a:spcPts val="0"/>
              </a:spcAft>
              <a:buClr>
                <a:srgbClr val="666666"/>
              </a:buClr>
              <a:buSzPts val="1050"/>
              <a:buFont typeface="Calibri"/>
              <a:buNone/>
            </a:pPr>
            <a:r>
              <a:t/>
            </a:r>
            <a:endParaRPr sz="1050">
              <a:solidFill>
                <a:srgbClr val="666666"/>
              </a:solidFill>
              <a:latin typeface="Calibri"/>
              <a:ea typeface="Calibri"/>
              <a:cs typeface="Calibri"/>
              <a:sym typeface="Calibri"/>
            </a:endParaRPr>
          </a:p>
        </p:txBody>
      </p:sp>
      <p:sp>
        <p:nvSpPr>
          <p:cNvPr id="209" name="Google Shape;209;g3ec043b165a_0_109"/>
          <p:cNvSpPr/>
          <p:nvPr/>
        </p:nvSpPr>
        <p:spPr>
          <a:xfrm>
            <a:off x="718976" y="3018700"/>
            <a:ext cx="1413000" cy="292500"/>
          </a:xfrm>
          <a:prstGeom prst="roundRect">
            <a:avLst>
              <a:gd fmla="val 50000"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ec043b165a_0_109"/>
          <p:cNvSpPr/>
          <p:nvPr/>
        </p:nvSpPr>
        <p:spPr>
          <a:xfrm>
            <a:off x="718976" y="3641913"/>
            <a:ext cx="1413000" cy="292500"/>
          </a:xfrm>
          <a:prstGeom prst="roundRect">
            <a:avLst>
              <a:gd fmla="val 50000"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3ec043b165a_0_109"/>
          <p:cNvSpPr/>
          <p:nvPr/>
        </p:nvSpPr>
        <p:spPr>
          <a:xfrm>
            <a:off x="718976" y="4300175"/>
            <a:ext cx="1413000" cy="292500"/>
          </a:xfrm>
          <a:prstGeom prst="roundRect">
            <a:avLst>
              <a:gd fmla="val 50000"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ec043b165a_0_109"/>
          <p:cNvSpPr/>
          <p:nvPr/>
        </p:nvSpPr>
        <p:spPr>
          <a:xfrm>
            <a:off x="1036830" y="2337575"/>
            <a:ext cx="7773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Frontend</a:t>
            </a:r>
            <a:endParaRPr b="0" i="0" sz="1300" u="none" cap="none" strike="noStrike">
              <a:solidFill>
                <a:schemeClr val="dk1"/>
              </a:solidFill>
              <a:latin typeface="Calibri"/>
              <a:ea typeface="Calibri"/>
              <a:cs typeface="Calibri"/>
              <a:sym typeface="Calibri"/>
            </a:endParaRPr>
          </a:p>
        </p:txBody>
      </p:sp>
      <p:sp>
        <p:nvSpPr>
          <p:cNvPr id="213" name="Google Shape;213;g3ec043b165a_0_109"/>
          <p:cNvSpPr/>
          <p:nvPr/>
        </p:nvSpPr>
        <p:spPr>
          <a:xfrm>
            <a:off x="1036830" y="2989750"/>
            <a:ext cx="7773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Back</a:t>
            </a:r>
            <a:r>
              <a:rPr b="1" lang="en-US" sz="1300">
                <a:solidFill>
                  <a:srgbClr val="FFFFFF"/>
                </a:solidFill>
                <a:latin typeface="Calibri"/>
                <a:ea typeface="Calibri"/>
                <a:cs typeface="Calibri"/>
                <a:sym typeface="Calibri"/>
              </a:rPr>
              <a:t>end</a:t>
            </a:r>
            <a:endParaRPr b="0" i="0" sz="1300" u="none" cap="none" strike="noStrike">
              <a:solidFill>
                <a:schemeClr val="dk1"/>
              </a:solidFill>
              <a:latin typeface="Calibri"/>
              <a:ea typeface="Calibri"/>
              <a:cs typeface="Calibri"/>
              <a:sym typeface="Calibri"/>
            </a:endParaRPr>
          </a:p>
        </p:txBody>
      </p:sp>
      <p:sp>
        <p:nvSpPr>
          <p:cNvPr id="214" name="Google Shape;214;g3ec043b165a_0_109"/>
          <p:cNvSpPr/>
          <p:nvPr/>
        </p:nvSpPr>
        <p:spPr>
          <a:xfrm>
            <a:off x="926124" y="3641913"/>
            <a:ext cx="9987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AI Processing</a:t>
            </a:r>
            <a:endParaRPr b="0" i="0" sz="1300" u="none" cap="none" strike="noStrike">
              <a:solidFill>
                <a:schemeClr val="dk1"/>
              </a:solidFill>
              <a:latin typeface="Calibri"/>
              <a:ea typeface="Calibri"/>
              <a:cs typeface="Calibri"/>
              <a:sym typeface="Calibri"/>
            </a:endParaRPr>
          </a:p>
        </p:txBody>
      </p:sp>
      <p:sp>
        <p:nvSpPr>
          <p:cNvPr id="215" name="Google Shape;215;g3ec043b165a_0_109"/>
          <p:cNvSpPr/>
          <p:nvPr/>
        </p:nvSpPr>
        <p:spPr>
          <a:xfrm>
            <a:off x="1036830" y="4294050"/>
            <a:ext cx="7773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Database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descr="/tmp/band.png" id="221" name="Google Shape;221;g3ec043b165a_0_88"/>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222" name="Google Shape;222;g3ec043b165a_0_88"/>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Frontend</a:t>
            </a:r>
            <a:endParaRPr b="0" i="0" sz="2500" u="none" cap="none" strike="noStrike">
              <a:solidFill>
                <a:schemeClr val="dk1"/>
              </a:solidFill>
              <a:latin typeface="Calibri"/>
              <a:ea typeface="Calibri"/>
              <a:cs typeface="Calibri"/>
              <a:sym typeface="Calibri"/>
            </a:endParaRPr>
          </a:p>
        </p:txBody>
      </p:sp>
      <p:sp>
        <p:nvSpPr>
          <p:cNvPr id="223" name="Google Shape;223;g3ec043b165a_0_88"/>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lang="en-US" sz="1000">
                <a:solidFill>
                  <a:srgbClr val="F4AABF"/>
                </a:solidFill>
                <a:latin typeface="Calibri"/>
                <a:ea typeface="Calibri"/>
                <a:cs typeface="Calibri"/>
                <a:sym typeface="Calibri"/>
              </a:rPr>
              <a:t>SOFTWARE ARCHITECTURE </a:t>
            </a:r>
            <a:endParaRPr b="0" i="0" sz="1000" u="none" cap="none" strike="noStrike">
              <a:solidFill>
                <a:schemeClr val="dk1"/>
              </a:solidFill>
              <a:latin typeface="Calibri"/>
              <a:ea typeface="Calibri"/>
              <a:cs typeface="Calibri"/>
              <a:sym typeface="Calibri"/>
            </a:endParaRPr>
          </a:p>
        </p:txBody>
      </p:sp>
      <p:sp>
        <p:nvSpPr>
          <p:cNvPr id="224" name="Google Shape;224;g3ec043b165a_0_88"/>
          <p:cNvSpPr/>
          <p:nvPr/>
        </p:nvSpPr>
        <p:spPr>
          <a:xfrm>
            <a:off x="457200" y="1097275"/>
            <a:ext cx="6723300" cy="11955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3ec043b165a_0_88"/>
          <p:cNvSpPr/>
          <p:nvPr/>
        </p:nvSpPr>
        <p:spPr>
          <a:xfrm>
            <a:off x="604611" y="1280160"/>
            <a:ext cx="1592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700"/>
              <a:buFont typeface="Calibri"/>
              <a:buNone/>
            </a:pPr>
            <a:r>
              <a:rPr b="1" lang="en-US" sz="1700">
                <a:solidFill>
                  <a:srgbClr val="D12B63"/>
                </a:solidFill>
                <a:latin typeface="Calibri"/>
                <a:ea typeface="Calibri"/>
                <a:cs typeface="Calibri"/>
                <a:sym typeface="Calibri"/>
              </a:rPr>
              <a:t>Technology Stack </a:t>
            </a:r>
            <a:endParaRPr b="0" i="0" sz="1700" u="none" cap="none" strike="noStrike">
              <a:solidFill>
                <a:schemeClr val="dk1"/>
              </a:solidFill>
              <a:latin typeface="Calibri"/>
              <a:ea typeface="Calibri"/>
              <a:cs typeface="Calibri"/>
              <a:sym typeface="Calibri"/>
            </a:endParaRPr>
          </a:p>
        </p:txBody>
      </p:sp>
      <p:sp>
        <p:nvSpPr>
          <p:cNvPr id="226" name="Google Shape;226;g3ec043b165a_0_88"/>
          <p:cNvSpPr/>
          <p:nvPr/>
        </p:nvSpPr>
        <p:spPr>
          <a:xfrm>
            <a:off x="457200" y="2521375"/>
            <a:ext cx="6677400" cy="24294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ec043b165a_0_88"/>
          <p:cNvSpPr/>
          <p:nvPr/>
        </p:nvSpPr>
        <p:spPr>
          <a:xfrm>
            <a:off x="642644" y="2659799"/>
            <a:ext cx="3270600" cy="27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700"/>
              <a:buFont typeface="Calibri"/>
              <a:buNone/>
            </a:pPr>
            <a:r>
              <a:rPr b="1" lang="en-US" sz="1700">
                <a:solidFill>
                  <a:srgbClr val="A01E4A"/>
                </a:solidFill>
                <a:latin typeface="Calibri"/>
                <a:ea typeface="Calibri"/>
                <a:cs typeface="Calibri"/>
                <a:sym typeface="Calibri"/>
              </a:rPr>
              <a:t>Responsibilities</a:t>
            </a:r>
            <a:endParaRPr b="0" i="0" sz="1700" u="none" cap="none" strike="noStrike">
              <a:solidFill>
                <a:schemeClr val="dk1"/>
              </a:solidFill>
              <a:latin typeface="Calibri"/>
              <a:ea typeface="Calibri"/>
              <a:cs typeface="Calibri"/>
              <a:sym typeface="Calibri"/>
            </a:endParaRPr>
          </a:p>
        </p:txBody>
      </p:sp>
      <p:sp>
        <p:nvSpPr>
          <p:cNvPr id="228" name="Google Shape;228;g3ec043b165a_0_88"/>
          <p:cNvSpPr txBox="1"/>
          <p:nvPr/>
        </p:nvSpPr>
        <p:spPr>
          <a:xfrm>
            <a:off x="604611" y="1718038"/>
            <a:ext cx="19344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US" sz="1200">
                <a:latin typeface="Calibri"/>
                <a:ea typeface="Calibri"/>
                <a:cs typeface="Calibri"/>
                <a:sym typeface="Calibri"/>
              </a:rPr>
              <a:t>React, Vite, JavaScript, CSS3</a:t>
            </a:r>
            <a:endParaRPr sz="1200">
              <a:latin typeface="Calibri"/>
              <a:ea typeface="Calibri"/>
              <a:cs typeface="Calibri"/>
              <a:sym typeface="Calibri"/>
            </a:endParaRPr>
          </a:p>
        </p:txBody>
      </p:sp>
      <p:sp>
        <p:nvSpPr>
          <p:cNvPr id="229" name="Google Shape;229;g3ec043b165a_0_88"/>
          <p:cNvSpPr txBox="1"/>
          <p:nvPr/>
        </p:nvSpPr>
        <p:spPr>
          <a:xfrm>
            <a:off x="642640" y="2936725"/>
            <a:ext cx="4976100" cy="1834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US" sz="1200">
                <a:latin typeface="Calibri"/>
                <a:ea typeface="Calibri"/>
                <a:cs typeface="Calibri"/>
                <a:sym typeface="Calibri"/>
              </a:rPr>
              <a:t>Renders the User Authentication interfaces (Sign In / Sign Up).</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Provides an interactive drag-and-drop Document Upload interface.</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Displays the Document Dashboard to monitor and manage processed files.</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Contains the User Story submission form.</a:t>
            </a:r>
            <a:endParaRPr sz="1200">
              <a:latin typeface="Calibri"/>
              <a:ea typeface="Calibri"/>
              <a:cs typeface="Calibri"/>
              <a:sym typeface="Calibri"/>
            </a:endParaRPr>
          </a:p>
          <a:p>
            <a:pPr indent="0" lvl="0" marL="0" rtl="0" algn="just">
              <a:lnSpc>
                <a:spcPct val="115000"/>
              </a:lnSpc>
              <a:spcBef>
                <a:spcPts val="1200"/>
              </a:spcBef>
              <a:spcAft>
                <a:spcPts val="1200"/>
              </a:spcAft>
              <a:buNone/>
            </a:pPr>
            <a:r>
              <a:rPr lang="en-US" sz="1200">
                <a:latin typeface="Calibri"/>
                <a:ea typeface="Calibri"/>
                <a:cs typeface="Calibri"/>
                <a:sym typeface="Calibri"/>
              </a:rPr>
              <a:t>Renders the final generated AI test cases in a structured format.</a:t>
            </a:r>
            <a:endParaRPr>
              <a:latin typeface="Calibri"/>
              <a:ea typeface="Calibri"/>
              <a:cs typeface="Calibri"/>
              <a:sym typeface="Calibri"/>
            </a:endParaRPr>
          </a:p>
        </p:txBody>
      </p:sp>
      <p:pic>
        <p:nvPicPr>
          <p:cNvPr id="230" name="Google Shape;230;g3ec043b165a_0_88" title="Screenshot 2026-06-16 at 8.37.36 PM.png"/>
          <p:cNvPicPr preferRelativeResize="0"/>
          <p:nvPr/>
        </p:nvPicPr>
        <p:blipFill>
          <a:blip r:embed="rId4">
            <a:alphaModFix/>
          </a:blip>
          <a:stretch>
            <a:fillRect/>
          </a:stretch>
        </p:blipFill>
        <p:spPr>
          <a:xfrm>
            <a:off x="7399036" y="1280150"/>
            <a:ext cx="1516564" cy="3670624"/>
          </a:xfrm>
          <a:prstGeom prst="rect">
            <a:avLst/>
          </a:prstGeom>
          <a:noFill/>
          <a:ln>
            <a:noFill/>
          </a:ln>
        </p:spPr>
      </p:pic>
      <p:sp>
        <p:nvSpPr>
          <p:cNvPr id="231" name="Google Shape;231;g3ec043b165a_0_88"/>
          <p:cNvSpPr/>
          <p:nvPr/>
        </p:nvSpPr>
        <p:spPr>
          <a:xfrm>
            <a:off x="7453986" y="914460"/>
            <a:ext cx="1592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700"/>
              <a:buFont typeface="Calibri"/>
              <a:buNone/>
            </a:pPr>
            <a:r>
              <a:rPr b="1" lang="en-US" sz="1700">
                <a:solidFill>
                  <a:srgbClr val="D12B63"/>
                </a:solidFill>
                <a:latin typeface="Calibri"/>
                <a:ea typeface="Calibri"/>
                <a:cs typeface="Calibri"/>
                <a:sym typeface="Calibri"/>
              </a:rPr>
              <a:t>frontend/src:</a:t>
            </a:r>
            <a:r>
              <a:rPr b="1" lang="en-US" sz="1700">
                <a:solidFill>
                  <a:srgbClr val="D12B63"/>
                </a:solidFill>
                <a:latin typeface="Calibri"/>
                <a:ea typeface="Calibri"/>
                <a:cs typeface="Calibri"/>
                <a:sym typeface="Calibri"/>
              </a:rPr>
              <a:t> </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descr="/tmp/band.png" id="237" name="Google Shape;237;g3ec043b165a_0_199"/>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238" name="Google Shape;238;g3ec043b165a_0_199"/>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39" name="Google Shape;239;g3ec043b165a_0_199"/>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Backend </a:t>
            </a:r>
            <a:endParaRPr b="0" i="0" sz="2500" u="none" cap="none" strike="noStrike">
              <a:solidFill>
                <a:schemeClr val="dk1"/>
              </a:solidFill>
              <a:latin typeface="Calibri"/>
              <a:ea typeface="Calibri"/>
              <a:cs typeface="Calibri"/>
              <a:sym typeface="Calibri"/>
            </a:endParaRPr>
          </a:p>
        </p:txBody>
      </p:sp>
      <p:sp>
        <p:nvSpPr>
          <p:cNvPr id="240" name="Google Shape;240;g3ec043b165a_0_199"/>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lang="en-US" sz="1000">
                <a:solidFill>
                  <a:srgbClr val="F4AABF"/>
                </a:solidFill>
                <a:latin typeface="Calibri"/>
                <a:ea typeface="Calibri"/>
                <a:cs typeface="Calibri"/>
                <a:sym typeface="Calibri"/>
              </a:rPr>
              <a:t>SOFTWARE ARCHITECTURE </a:t>
            </a:r>
            <a:endParaRPr b="0" i="0" sz="1000" u="none" cap="none" strike="noStrike">
              <a:solidFill>
                <a:schemeClr val="dk1"/>
              </a:solidFill>
              <a:latin typeface="Calibri"/>
              <a:ea typeface="Calibri"/>
              <a:cs typeface="Calibri"/>
              <a:sym typeface="Calibri"/>
            </a:endParaRPr>
          </a:p>
        </p:txBody>
      </p:sp>
      <p:sp>
        <p:nvSpPr>
          <p:cNvPr id="241" name="Google Shape;241;g3ec043b165a_0_199"/>
          <p:cNvSpPr/>
          <p:nvPr/>
        </p:nvSpPr>
        <p:spPr>
          <a:xfrm>
            <a:off x="457200" y="1097275"/>
            <a:ext cx="6091200" cy="11955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ec043b165a_0_199"/>
          <p:cNvSpPr/>
          <p:nvPr/>
        </p:nvSpPr>
        <p:spPr>
          <a:xfrm>
            <a:off x="602442" y="1280160"/>
            <a:ext cx="156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700"/>
              <a:buFont typeface="Calibri"/>
              <a:buNone/>
            </a:pPr>
            <a:r>
              <a:rPr b="1" lang="en-US" sz="1700">
                <a:solidFill>
                  <a:srgbClr val="D12B63"/>
                </a:solidFill>
                <a:latin typeface="Calibri"/>
                <a:ea typeface="Calibri"/>
                <a:cs typeface="Calibri"/>
                <a:sym typeface="Calibri"/>
              </a:rPr>
              <a:t>Technology Stack </a:t>
            </a:r>
            <a:endParaRPr b="0" i="0" sz="1700" u="none" cap="none" strike="noStrike">
              <a:solidFill>
                <a:schemeClr val="dk1"/>
              </a:solidFill>
              <a:latin typeface="Calibri"/>
              <a:ea typeface="Calibri"/>
              <a:cs typeface="Calibri"/>
              <a:sym typeface="Calibri"/>
            </a:endParaRPr>
          </a:p>
        </p:txBody>
      </p:sp>
      <p:sp>
        <p:nvSpPr>
          <p:cNvPr id="243" name="Google Shape;243;g3ec043b165a_0_199"/>
          <p:cNvSpPr/>
          <p:nvPr/>
        </p:nvSpPr>
        <p:spPr>
          <a:xfrm>
            <a:off x="457200" y="2521375"/>
            <a:ext cx="6091200" cy="24294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ec043b165a_0_199"/>
          <p:cNvSpPr/>
          <p:nvPr/>
        </p:nvSpPr>
        <p:spPr>
          <a:xfrm>
            <a:off x="639916" y="2659799"/>
            <a:ext cx="3222300" cy="27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700"/>
              <a:buFont typeface="Calibri"/>
              <a:buNone/>
            </a:pPr>
            <a:r>
              <a:rPr b="1" lang="en-US" sz="1700">
                <a:solidFill>
                  <a:srgbClr val="A01E4A"/>
                </a:solidFill>
                <a:latin typeface="Calibri"/>
                <a:ea typeface="Calibri"/>
                <a:cs typeface="Calibri"/>
                <a:sym typeface="Calibri"/>
              </a:rPr>
              <a:t>Responsibilities</a:t>
            </a:r>
            <a:endParaRPr b="0" i="0" sz="1700" u="none" cap="none" strike="noStrike">
              <a:solidFill>
                <a:schemeClr val="dk1"/>
              </a:solidFill>
              <a:latin typeface="Calibri"/>
              <a:ea typeface="Calibri"/>
              <a:cs typeface="Calibri"/>
              <a:sym typeface="Calibri"/>
            </a:endParaRPr>
          </a:p>
        </p:txBody>
      </p:sp>
      <p:sp>
        <p:nvSpPr>
          <p:cNvPr id="245" name="Google Shape;245;g3ec043b165a_0_199"/>
          <p:cNvSpPr txBox="1"/>
          <p:nvPr/>
        </p:nvSpPr>
        <p:spPr>
          <a:xfrm>
            <a:off x="602457" y="1718050"/>
            <a:ext cx="3610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Node.js, Express.js, JavaScript</a:t>
            </a:r>
            <a:endParaRPr sz="1200">
              <a:latin typeface="Calibri"/>
              <a:ea typeface="Calibri"/>
              <a:cs typeface="Calibri"/>
              <a:sym typeface="Calibri"/>
            </a:endParaRPr>
          </a:p>
        </p:txBody>
      </p:sp>
      <p:sp>
        <p:nvSpPr>
          <p:cNvPr id="246" name="Google Shape;246;g3ec043b165a_0_199"/>
          <p:cNvSpPr txBox="1"/>
          <p:nvPr/>
        </p:nvSpPr>
        <p:spPr>
          <a:xfrm>
            <a:off x="639912" y="2936725"/>
            <a:ext cx="4902900" cy="1834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US" sz="1200">
                <a:latin typeface="Calibri"/>
                <a:ea typeface="Calibri"/>
                <a:cs typeface="Calibri"/>
                <a:sym typeface="Calibri"/>
              </a:rPr>
              <a:t>Handles incoming REST API requests from the frontend client.</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Processes user authentication and session management.</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Manages file upload streams via memory storage middleware (</a:t>
            </a:r>
            <a:r>
              <a:rPr lang="en-US" sz="1200">
                <a:solidFill>
                  <a:srgbClr val="188038"/>
                </a:solidFill>
                <a:latin typeface="Calibri"/>
                <a:ea typeface="Calibri"/>
                <a:cs typeface="Calibri"/>
                <a:sym typeface="Calibri"/>
              </a:rPr>
              <a:t>multer</a:t>
            </a:r>
            <a:r>
              <a:rPr lang="en-US" sz="1200">
                <a:latin typeface="Calibri"/>
                <a:ea typeface="Calibri"/>
                <a:cs typeface="Calibri"/>
                <a:sym typeface="Calibri"/>
              </a:rPr>
              <a:t>).</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Orchestrates core system logic and routes requests to the AI pipeline.</a:t>
            </a:r>
            <a:endParaRPr sz="1200">
              <a:latin typeface="Calibri"/>
              <a:ea typeface="Calibri"/>
              <a:cs typeface="Calibri"/>
              <a:sym typeface="Calibri"/>
            </a:endParaRPr>
          </a:p>
          <a:p>
            <a:pPr indent="0" lvl="0" marL="0" rtl="0" algn="just">
              <a:lnSpc>
                <a:spcPct val="115000"/>
              </a:lnSpc>
              <a:spcBef>
                <a:spcPts val="1200"/>
              </a:spcBef>
              <a:spcAft>
                <a:spcPts val="1200"/>
              </a:spcAft>
              <a:buNone/>
            </a:pPr>
            <a:r>
              <a:rPr lang="en-US" sz="1200">
                <a:latin typeface="Calibri"/>
                <a:ea typeface="Calibri"/>
                <a:cs typeface="Calibri"/>
                <a:sym typeface="Calibri"/>
              </a:rPr>
              <a:t>Communicates securely with the database layer.</a:t>
            </a:r>
            <a:endParaRPr sz="1200">
              <a:latin typeface="Calibri"/>
              <a:ea typeface="Calibri"/>
              <a:cs typeface="Calibri"/>
              <a:sym typeface="Calibri"/>
            </a:endParaRPr>
          </a:p>
        </p:txBody>
      </p:sp>
      <p:sp>
        <p:nvSpPr>
          <p:cNvPr id="247" name="Google Shape;247;g3ec043b165a_0_199"/>
          <p:cNvSpPr/>
          <p:nvPr/>
        </p:nvSpPr>
        <p:spPr>
          <a:xfrm>
            <a:off x="7052361" y="914460"/>
            <a:ext cx="1592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700"/>
              <a:buFont typeface="Calibri"/>
              <a:buNone/>
            </a:pPr>
            <a:r>
              <a:rPr b="1" lang="en-US" sz="1700">
                <a:solidFill>
                  <a:srgbClr val="D12B63"/>
                </a:solidFill>
                <a:latin typeface="Calibri"/>
                <a:ea typeface="Calibri"/>
                <a:cs typeface="Calibri"/>
                <a:sym typeface="Calibri"/>
              </a:rPr>
              <a:t>frontend/src: </a:t>
            </a:r>
            <a:endParaRPr b="0" i="0" sz="1700" u="none" cap="none" strike="noStrike">
              <a:solidFill>
                <a:schemeClr val="dk1"/>
              </a:solidFill>
              <a:latin typeface="Calibri"/>
              <a:ea typeface="Calibri"/>
              <a:cs typeface="Calibri"/>
              <a:sym typeface="Calibri"/>
            </a:endParaRPr>
          </a:p>
        </p:txBody>
      </p:sp>
      <p:pic>
        <p:nvPicPr>
          <p:cNvPr id="248" name="Google Shape;248;g3ec043b165a_0_199" title="Screenshot 2026-06-16 at 8.38.59 PM.png"/>
          <p:cNvPicPr preferRelativeResize="0"/>
          <p:nvPr/>
        </p:nvPicPr>
        <p:blipFill>
          <a:blip r:embed="rId4">
            <a:alphaModFix/>
          </a:blip>
          <a:stretch>
            <a:fillRect/>
          </a:stretch>
        </p:blipFill>
        <p:spPr>
          <a:xfrm>
            <a:off x="6735300" y="1325935"/>
            <a:ext cx="2226196" cy="355854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descr="/tmp/band.png" id="254" name="Google Shape;254;g3ec043b165a_0_223"/>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255" name="Google Shape;255;g3ec043b165a_0_223"/>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56" name="Google Shape;256;g3ec043b165a_0_223"/>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AI-Processing </a:t>
            </a:r>
            <a:endParaRPr b="0" i="0" sz="2500" u="none" cap="none" strike="noStrike">
              <a:solidFill>
                <a:schemeClr val="dk1"/>
              </a:solidFill>
              <a:latin typeface="Calibri"/>
              <a:ea typeface="Calibri"/>
              <a:cs typeface="Calibri"/>
              <a:sym typeface="Calibri"/>
            </a:endParaRPr>
          </a:p>
        </p:txBody>
      </p:sp>
      <p:sp>
        <p:nvSpPr>
          <p:cNvPr id="257" name="Google Shape;257;g3ec043b165a_0_223"/>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lang="en-US" sz="1000">
                <a:solidFill>
                  <a:srgbClr val="F4AABF"/>
                </a:solidFill>
                <a:latin typeface="Calibri"/>
                <a:ea typeface="Calibri"/>
                <a:cs typeface="Calibri"/>
                <a:sym typeface="Calibri"/>
              </a:rPr>
              <a:t>SOFTWARE ARCHITECTURE </a:t>
            </a:r>
            <a:endParaRPr b="0" i="0" sz="1000" u="none" cap="none" strike="noStrike">
              <a:solidFill>
                <a:schemeClr val="dk1"/>
              </a:solidFill>
              <a:latin typeface="Calibri"/>
              <a:ea typeface="Calibri"/>
              <a:cs typeface="Calibri"/>
              <a:sym typeface="Calibri"/>
            </a:endParaRPr>
          </a:p>
        </p:txBody>
      </p:sp>
      <p:sp>
        <p:nvSpPr>
          <p:cNvPr id="258" name="Google Shape;258;g3ec043b165a_0_223"/>
          <p:cNvSpPr/>
          <p:nvPr/>
        </p:nvSpPr>
        <p:spPr>
          <a:xfrm>
            <a:off x="457200" y="1097275"/>
            <a:ext cx="8170800" cy="11955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ec043b165a_0_223"/>
          <p:cNvSpPr/>
          <p:nvPr/>
        </p:nvSpPr>
        <p:spPr>
          <a:xfrm>
            <a:off x="685800" y="12801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700"/>
              <a:buFont typeface="Calibri"/>
              <a:buNone/>
            </a:pPr>
            <a:r>
              <a:rPr b="1" lang="en-US" sz="1700">
                <a:solidFill>
                  <a:srgbClr val="D12B63"/>
                </a:solidFill>
                <a:latin typeface="Calibri"/>
                <a:ea typeface="Calibri"/>
                <a:cs typeface="Calibri"/>
                <a:sym typeface="Calibri"/>
              </a:rPr>
              <a:t>Technology Stack </a:t>
            </a:r>
            <a:endParaRPr b="0" i="0" sz="1700" u="none" cap="none" strike="noStrike">
              <a:solidFill>
                <a:schemeClr val="dk1"/>
              </a:solidFill>
              <a:latin typeface="Calibri"/>
              <a:ea typeface="Calibri"/>
              <a:cs typeface="Calibri"/>
              <a:sym typeface="Calibri"/>
            </a:endParaRPr>
          </a:p>
        </p:txBody>
      </p:sp>
      <p:sp>
        <p:nvSpPr>
          <p:cNvPr id="260" name="Google Shape;260;g3ec043b165a_0_223"/>
          <p:cNvSpPr/>
          <p:nvPr/>
        </p:nvSpPr>
        <p:spPr>
          <a:xfrm>
            <a:off x="457200" y="2521375"/>
            <a:ext cx="8170800" cy="24294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3ec043b165a_0_223"/>
          <p:cNvSpPr/>
          <p:nvPr/>
        </p:nvSpPr>
        <p:spPr>
          <a:xfrm>
            <a:off x="744781" y="2659799"/>
            <a:ext cx="5071800" cy="27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700"/>
              <a:buFont typeface="Calibri"/>
              <a:buNone/>
            </a:pPr>
            <a:r>
              <a:rPr b="1" lang="en-US" sz="1700">
                <a:solidFill>
                  <a:srgbClr val="A01E4A"/>
                </a:solidFill>
                <a:latin typeface="Calibri"/>
                <a:ea typeface="Calibri"/>
                <a:cs typeface="Calibri"/>
                <a:sym typeface="Calibri"/>
              </a:rPr>
              <a:t>Responsibilities</a:t>
            </a:r>
            <a:endParaRPr b="0" i="0" sz="1700" u="none" cap="none" strike="noStrike">
              <a:solidFill>
                <a:schemeClr val="dk1"/>
              </a:solidFill>
              <a:latin typeface="Calibri"/>
              <a:ea typeface="Calibri"/>
              <a:cs typeface="Calibri"/>
              <a:sym typeface="Calibri"/>
            </a:endParaRPr>
          </a:p>
        </p:txBody>
      </p:sp>
      <p:sp>
        <p:nvSpPr>
          <p:cNvPr id="262" name="Google Shape;262;g3ec043b165a_0_223"/>
          <p:cNvSpPr/>
          <p:nvPr/>
        </p:nvSpPr>
        <p:spPr>
          <a:xfrm>
            <a:off x="457200" y="1097275"/>
            <a:ext cx="8170800" cy="11955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3ec043b165a_0_223"/>
          <p:cNvSpPr/>
          <p:nvPr/>
        </p:nvSpPr>
        <p:spPr>
          <a:xfrm>
            <a:off x="685800" y="12801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700"/>
              <a:buFont typeface="Calibri"/>
              <a:buNone/>
            </a:pPr>
            <a:r>
              <a:rPr b="1" lang="en-US" sz="1700">
                <a:solidFill>
                  <a:srgbClr val="D12B63"/>
                </a:solidFill>
                <a:latin typeface="Calibri"/>
                <a:ea typeface="Calibri"/>
                <a:cs typeface="Calibri"/>
                <a:sym typeface="Calibri"/>
              </a:rPr>
              <a:t>Technology Stack </a:t>
            </a:r>
            <a:endParaRPr b="0" i="0" sz="1700" u="none" cap="none" strike="noStrike">
              <a:solidFill>
                <a:schemeClr val="dk1"/>
              </a:solidFill>
              <a:latin typeface="Calibri"/>
              <a:ea typeface="Calibri"/>
              <a:cs typeface="Calibri"/>
              <a:sym typeface="Calibri"/>
            </a:endParaRPr>
          </a:p>
        </p:txBody>
      </p:sp>
      <p:sp>
        <p:nvSpPr>
          <p:cNvPr id="264" name="Google Shape;264;g3ec043b165a_0_223"/>
          <p:cNvSpPr/>
          <p:nvPr/>
        </p:nvSpPr>
        <p:spPr>
          <a:xfrm>
            <a:off x="457200" y="2521375"/>
            <a:ext cx="8170800" cy="24294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ec043b165a_0_223"/>
          <p:cNvSpPr/>
          <p:nvPr/>
        </p:nvSpPr>
        <p:spPr>
          <a:xfrm>
            <a:off x="744781" y="2659799"/>
            <a:ext cx="5071800" cy="27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700"/>
              <a:buFont typeface="Calibri"/>
              <a:buNone/>
            </a:pPr>
            <a:r>
              <a:rPr b="1" lang="en-US" sz="1700">
                <a:solidFill>
                  <a:srgbClr val="A01E4A"/>
                </a:solidFill>
                <a:latin typeface="Calibri"/>
                <a:ea typeface="Calibri"/>
                <a:cs typeface="Calibri"/>
                <a:sym typeface="Calibri"/>
              </a:rPr>
              <a:t>Responsibilities</a:t>
            </a:r>
            <a:endParaRPr b="0" i="0" sz="1700" u="none" cap="none" strike="noStrike">
              <a:solidFill>
                <a:schemeClr val="dk1"/>
              </a:solidFill>
              <a:latin typeface="Calibri"/>
              <a:ea typeface="Calibri"/>
              <a:cs typeface="Calibri"/>
              <a:sym typeface="Calibri"/>
            </a:endParaRPr>
          </a:p>
        </p:txBody>
      </p:sp>
      <p:sp>
        <p:nvSpPr>
          <p:cNvPr id="266" name="Google Shape;266;g3ec043b165a_0_223"/>
          <p:cNvSpPr txBox="1"/>
          <p:nvPr/>
        </p:nvSpPr>
        <p:spPr>
          <a:xfrm>
            <a:off x="685800" y="1718050"/>
            <a:ext cx="56493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US" sz="1200">
                <a:latin typeface="Calibri"/>
                <a:ea typeface="Calibri"/>
                <a:cs typeface="Calibri"/>
                <a:sym typeface="Calibri"/>
              </a:rPr>
              <a:t>pdf-parse-fork, Tesseract.js, OpenAI API / Claude API</a:t>
            </a:r>
            <a:endParaRPr sz="1200">
              <a:latin typeface="Calibri"/>
              <a:ea typeface="Calibri"/>
              <a:cs typeface="Calibri"/>
              <a:sym typeface="Calibri"/>
            </a:endParaRPr>
          </a:p>
        </p:txBody>
      </p:sp>
      <p:sp>
        <p:nvSpPr>
          <p:cNvPr id="267" name="Google Shape;267;g3ec043b165a_0_223"/>
          <p:cNvSpPr txBox="1"/>
          <p:nvPr/>
        </p:nvSpPr>
        <p:spPr>
          <a:xfrm>
            <a:off x="744775" y="2936725"/>
            <a:ext cx="7716600" cy="1834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US" sz="1200">
                <a:latin typeface="Calibri"/>
                <a:ea typeface="Calibri"/>
                <a:cs typeface="Calibri"/>
                <a:sym typeface="Calibri"/>
              </a:rPr>
              <a:t>Extracts raw text content from uploaded PDF documents.</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Performs Optical Character Recognition (OCR) to extract text from images (.png, .jpg).</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Executes document text chunking and indexing.</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Manages context retrieval using a RAG-based flow.</a:t>
            </a:r>
            <a:endParaRPr sz="1200">
              <a:latin typeface="Calibri"/>
              <a:ea typeface="Calibri"/>
              <a:cs typeface="Calibri"/>
              <a:sym typeface="Calibri"/>
            </a:endParaRPr>
          </a:p>
          <a:p>
            <a:pPr indent="0" lvl="0" marL="0" rtl="0" algn="just">
              <a:lnSpc>
                <a:spcPct val="115000"/>
              </a:lnSpc>
              <a:spcBef>
                <a:spcPts val="1200"/>
              </a:spcBef>
              <a:spcAft>
                <a:spcPts val="1200"/>
              </a:spcAft>
              <a:buNone/>
            </a:pPr>
            <a:r>
              <a:rPr lang="en-US" sz="1200">
                <a:latin typeface="Calibri"/>
                <a:ea typeface="Calibri"/>
                <a:cs typeface="Calibri"/>
                <a:sym typeface="Calibri"/>
              </a:rPr>
              <a:t>Generates structured software test cases via LLM processing.</a:t>
            </a:r>
            <a:endParaRPr sz="12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descr="/tmp/band.png" id="273" name="Google Shape;273;g3ec043b165a_0_206"/>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274" name="Google Shape;274;g3ec043b165a_0_206"/>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75" name="Google Shape;275;g3ec043b165a_0_206"/>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Database Design </a:t>
            </a:r>
            <a:endParaRPr b="0" i="0" sz="2500" u="none" cap="none" strike="noStrike">
              <a:solidFill>
                <a:schemeClr val="dk1"/>
              </a:solidFill>
              <a:latin typeface="Calibri"/>
              <a:ea typeface="Calibri"/>
              <a:cs typeface="Calibri"/>
              <a:sym typeface="Calibri"/>
            </a:endParaRPr>
          </a:p>
        </p:txBody>
      </p:sp>
      <p:sp>
        <p:nvSpPr>
          <p:cNvPr id="276" name="Google Shape;276;g3ec043b165a_0_206"/>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lang="en-US" sz="1000">
                <a:solidFill>
                  <a:srgbClr val="F4AABF"/>
                </a:solidFill>
                <a:latin typeface="Calibri"/>
                <a:ea typeface="Calibri"/>
                <a:cs typeface="Calibri"/>
                <a:sym typeface="Calibri"/>
              </a:rPr>
              <a:t>SOFTWARE ARCHITECTURE </a:t>
            </a:r>
            <a:endParaRPr b="0" i="0" sz="1000" u="none" cap="none" strike="noStrike">
              <a:solidFill>
                <a:schemeClr val="dk1"/>
              </a:solidFill>
              <a:latin typeface="Calibri"/>
              <a:ea typeface="Calibri"/>
              <a:cs typeface="Calibri"/>
              <a:sym typeface="Calibri"/>
            </a:endParaRPr>
          </a:p>
        </p:txBody>
      </p:sp>
      <p:sp>
        <p:nvSpPr>
          <p:cNvPr id="277" name="Google Shape;277;g3ec043b165a_0_206"/>
          <p:cNvSpPr/>
          <p:nvPr/>
        </p:nvSpPr>
        <p:spPr>
          <a:xfrm>
            <a:off x="457200" y="1097275"/>
            <a:ext cx="5760600" cy="11955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ec043b165a_0_206"/>
          <p:cNvSpPr/>
          <p:nvPr/>
        </p:nvSpPr>
        <p:spPr>
          <a:xfrm>
            <a:off x="685800" y="12801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700"/>
              <a:buFont typeface="Calibri"/>
              <a:buNone/>
            </a:pPr>
            <a:r>
              <a:rPr b="1" lang="en-US" sz="1700">
                <a:solidFill>
                  <a:srgbClr val="D12B63"/>
                </a:solidFill>
                <a:latin typeface="Calibri"/>
                <a:ea typeface="Calibri"/>
                <a:cs typeface="Calibri"/>
                <a:sym typeface="Calibri"/>
              </a:rPr>
              <a:t>Technology Stack </a:t>
            </a:r>
            <a:endParaRPr b="0" i="0" sz="1700" u="none" cap="none" strike="noStrike">
              <a:solidFill>
                <a:schemeClr val="dk1"/>
              </a:solidFill>
              <a:latin typeface="Calibri"/>
              <a:ea typeface="Calibri"/>
              <a:cs typeface="Calibri"/>
              <a:sym typeface="Calibri"/>
            </a:endParaRPr>
          </a:p>
        </p:txBody>
      </p:sp>
      <p:sp>
        <p:nvSpPr>
          <p:cNvPr id="279" name="Google Shape;279;g3ec043b165a_0_206"/>
          <p:cNvSpPr/>
          <p:nvPr/>
        </p:nvSpPr>
        <p:spPr>
          <a:xfrm>
            <a:off x="457200" y="2521375"/>
            <a:ext cx="5760600" cy="24294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ec043b165a_0_206"/>
          <p:cNvSpPr/>
          <p:nvPr/>
        </p:nvSpPr>
        <p:spPr>
          <a:xfrm>
            <a:off x="744781" y="2659799"/>
            <a:ext cx="5071800" cy="27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700"/>
              <a:buFont typeface="Calibri"/>
              <a:buNone/>
            </a:pPr>
            <a:r>
              <a:rPr b="1" lang="en-US" sz="1700">
                <a:solidFill>
                  <a:srgbClr val="A01E4A"/>
                </a:solidFill>
                <a:latin typeface="Calibri"/>
                <a:ea typeface="Calibri"/>
                <a:cs typeface="Calibri"/>
                <a:sym typeface="Calibri"/>
              </a:rPr>
              <a:t>Responsibilities</a:t>
            </a:r>
            <a:endParaRPr b="0" i="0" sz="1700" u="none" cap="none" strike="noStrike">
              <a:solidFill>
                <a:schemeClr val="dk1"/>
              </a:solidFill>
              <a:latin typeface="Calibri"/>
              <a:ea typeface="Calibri"/>
              <a:cs typeface="Calibri"/>
              <a:sym typeface="Calibri"/>
            </a:endParaRPr>
          </a:p>
        </p:txBody>
      </p:sp>
      <p:sp>
        <p:nvSpPr>
          <p:cNvPr id="281" name="Google Shape;281;g3ec043b165a_0_206"/>
          <p:cNvSpPr/>
          <p:nvPr/>
        </p:nvSpPr>
        <p:spPr>
          <a:xfrm>
            <a:off x="457200" y="1097275"/>
            <a:ext cx="5760600" cy="11955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ec043b165a_0_206"/>
          <p:cNvSpPr/>
          <p:nvPr/>
        </p:nvSpPr>
        <p:spPr>
          <a:xfrm>
            <a:off x="685800" y="12801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700"/>
              <a:buFont typeface="Calibri"/>
              <a:buNone/>
            </a:pPr>
            <a:r>
              <a:rPr b="1" lang="en-US" sz="1700">
                <a:solidFill>
                  <a:srgbClr val="D12B63"/>
                </a:solidFill>
                <a:latin typeface="Calibri"/>
                <a:ea typeface="Calibri"/>
                <a:cs typeface="Calibri"/>
                <a:sym typeface="Calibri"/>
              </a:rPr>
              <a:t>Technology Stack </a:t>
            </a:r>
            <a:endParaRPr b="0" i="0" sz="1700" u="none" cap="none" strike="noStrike">
              <a:solidFill>
                <a:schemeClr val="dk1"/>
              </a:solidFill>
              <a:latin typeface="Calibri"/>
              <a:ea typeface="Calibri"/>
              <a:cs typeface="Calibri"/>
              <a:sym typeface="Calibri"/>
            </a:endParaRPr>
          </a:p>
        </p:txBody>
      </p:sp>
      <p:sp>
        <p:nvSpPr>
          <p:cNvPr id="283" name="Google Shape;283;g3ec043b165a_0_206"/>
          <p:cNvSpPr/>
          <p:nvPr/>
        </p:nvSpPr>
        <p:spPr>
          <a:xfrm>
            <a:off x="457200" y="2521375"/>
            <a:ext cx="5760600" cy="24294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ec043b165a_0_206"/>
          <p:cNvSpPr/>
          <p:nvPr/>
        </p:nvSpPr>
        <p:spPr>
          <a:xfrm>
            <a:off x="744781" y="2659799"/>
            <a:ext cx="5071800" cy="27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700"/>
              <a:buFont typeface="Calibri"/>
              <a:buNone/>
            </a:pPr>
            <a:r>
              <a:rPr b="1" lang="en-US" sz="1700">
                <a:solidFill>
                  <a:srgbClr val="A01E4A"/>
                </a:solidFill>
                <a:latin typeface="Calibri"/>
                <a:ea typeface="Calibri"/>
                <a:cs typeface="Calibri"/>
                <a:sym typeface="Calibri"/>
              </a:rPr>
              <a:t>Responsibilities</a:t>
            </a:r>
            <a:endParaRPr b="0" i="0" sz="1700" u="none" cap="none" strike="noStrike">
              <a:solidFill>
                <a:schemeClr val="dk1"/>
              </a:solidFill>
              <a:latin typeface="Calibri"/>
              <a:ea typeface="Calibri"/>
              <a:cs typeface="Calibri"/>
              <a:sym typeface="Calibri"/>
            </a:endParaRPr>
          </a:p>
        </p:txBody>
      </p:sp>
      <p:sp>
        <p:nvSpPr>
          <p:cNvPr id="285" name="Google Shape;285;g3ec043b165a_0_206"/>
          <p:cNvSpPr txBox="1"/>
          <p:nvPr/>
        </p:nvSpPr>
        <p:spPr>
          <a:xfrm>
            <a:off x="685800" y="1718038"/>
            <a:ext cx="30000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US" sz="1200">
                <a:latin typeface="Calibri"/>
                <a:ea typeface="Calibri"/>
                <a:cs typeface="Calibri"/>
                <a:sym typeface="Calibri"/>
              </a:rPr>
              <a:t>MongoDB</a:t>
            </a:r>
            <a:endParaRPr sz="1200">
              <a:latin typeface="Calibri"/>
              <a:ea typeface="Calibri"/>
              <a:cs typeface="Calibri"/>
              <a:sym typeface="Calibri"/>
            </a:endParaRPr>
          </a:p>
        </p:txBody>
      </p:sp>
      <p:sp>
        <p:nvSpPr>
          <p:cNvPr id="286" name="Google Shape;286;g3ec043b165a_0_206"/>
          <p:cNvSpPr txBox="1"/>
          <p:nvPr/>
        </p:nvSpPr>
        <p:spPr>
          <a:xfrm>
            <a:off x="744775" y="2936725"/>
            <a:ext cx="7716600" cy="1834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US" sz="1200">
                <a:latin typeface="Calibri"/>
                <a:ea typeface="Calibri"/>
                <a:cs typeface="Calibri"/>
                <a:sym typeface="Calibri"/>
              </a:rPr>
              <a:t>Stores permanent user account credentials and profiles.</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Saves uploaded document metadata (e.g., file names, file sizes, upload timestamps).</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Persists generated test cases and historical records.</a:t>
            </a:r>
            <a:endParaRPr sz="1200">
              <a:latin typeface="Calibri"/>
              <a:ea typeface="Calibri"/>
              <a:cs typeface="Calibri"/>
              <a:sym typeface="Calibri"/>
            </a:endParaRPr>
          </a:p>
          <a:p>
            <a:pPr indent="0" lvl="0" marL="0" rtl="0" algn="just">
              <a:lnSpc>
                <a:spcPct val="115000"/>
              </a:lnSpc>
              <a:spcBef>
                <a:spcPts val="1200"/>
              </a:spcBef>
              <a:spcAft>
                <a:spcPts val="0"/>
              </a:spcAft>
              <a:buNone/>
            </a:pPr>
            <a:r>
              <a:rPr lang="en-US" sz="1200">
                <a:latin typeface="Calibri"/>
                <a:ea typeface="Calibri"/>
                <a:cs typeface="Calibri"/>
                <a:sym typeface="Calibri"/>
              </a:rPr>
              <a:t>Maintains the application dashboard states and execution histories.</a:t>
            </a:r>
            <a:endParaRPr b="1" sz="1200">
              <a:latin typeface="Calibri"/>
              <a:ea typeface="Calibri"/>
              <a:cs typeface="Calibri"/>
              <a:sym typeface="Calibri"/>
            </a:endParaRPr>
          </a:p>
          <a:p>
            <a:pPr indent="0" lvl="0" marL="0" rtl="0" algn="just">
              <a:lnSpc>
                <a:spcPct val="115000"/>
              </a:lnSpc>
              <a:spcBef>
                <a:spcPts val="1200"/>
              </a:spcBef>
              <a:spcAft>
                <a:spcPts val="1200"/>
              </a:spcAft>
              <a:buNone/>
            </a:pPr>
            <a:r>
              <a:t/>
            </a:r>
            <a:endParaRPr sz="1200">
              <a:latin typeface="Calibri"/>
              <a:ea typeface="Calibri"/>
              <a:cs typeface="Calibri"/>
              <a:sym typeface="Calibri"/>
            </a:endParaRPr>
          </a:p>
        </p:txBody>
      </p:sp>
      <p:pic>
        <p:nvPicPr>
          <p:cNvPr id="287" name="Google Shape;287;g3ec043b165a_0_206"/>
          <p:cNvPicPr preferRelativeResize="0"/>
          <p:nvPr/>
        </p:nvPicPr>
        <p:blipFill>
          <a:blip r:embed="rId4">
            <a:alphaModFix/>
          </a:blip>
          <a:stretch>
            <a:fillRect/>
          </a:stretch>
        </p:blipFill>
        <p:spPr>
          <a:xfrm>
            <a:off x="6369025" y="868675"/>
            <a:ext cx="2590452" cy="42748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descr="/tmp/band.png" id="293" name="Google Shape;293;g3ec043b165a_0_95"/>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294" name="Google Shape;294;g3ec043b165a_0_95"/>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295" name="Google Shape;295;g3ec043b165a_0_95"/>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296" name="Google Shape;296;g3ec043b165a_0_95"/>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97" name="Google Shape;297;g3ec043b165a_0_95"/>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Component Relationships</a:t>
            </a:r>
            <a:endParaRPr b="0" i="0" sz="2500" u="none" cap="none" strike="noStrike">
              <a:solidFill>
                <a:schemeClr val="dk1"/>
              </a:solidFill>
              <a:latin typeface="Calibri"/>
              <a:ea typeface="Calibri"/>
              <a:cs typeface="Calibri"/>
              <a:sym typeface="Calibri"/>
            </a:endParaRPr>
          </a:p>
        </p:txBody>
      </p:sp>
      <p:sp>
        <p:nvSpPr>
          <p:cNvPr id="298" name="Google Shape;298;g3ec043b165a_0_95"/>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lang="en-US" sz="1000">
                <a:solidFill>
                  <a:srgbClr val="F4AABF"/>
                </a:solidFill>
                <a:latin typeface="Calibri"/>
                <a:ea typeface="Calibri"/>
                <a:cs typeface="Calibri"/>
                <a:sym typeface="Calibri"/>
              </a:rPr>
              <a:t>Data Pathways / Configuration </a:t>
            </a:r>
            <a:endParaRPr b="0" i="0" sz="1000" u="none" cap="none" strike="noStrike">
              <a:solidFill>
                <a:schemeClr val="dk1"/>
              </a:solidFill>
              <a:latin typeface="Calibri"/>
              <a:ea typeface="Calibri"/>
              <a:cs typeface="Calibri"/>
              <a:sym typeface="Calibri"/>
            </a:endParaRPr>
          </a:p>
        </p:txBody>
      </p:sp>
      <p:sp>
        <p:nvSpPr>
          <p:cNvPr id="299" name="Google Shape;299;g3ec043b165a_0_95"/>
          <p:cNvSpPr/>
          <p:nvPr/>
        </p:nvSpPr>
        <p:spPr>
          <a:xfrm>
            <a:off x="335576" y="1196200"/>
            <a:ext cx="2787900" cy="347400"/>
          </a:xfrm>
          <a:prstGeom prst="roundRect">
            <a:avLst>
              <a:gd fmla="val 15789"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ec043b165a_0_95"/>
          <p:cNvSpPr/>
          <p:nvPr/>
        </p:nvSpPr>
        <p:spPr>
          <a:xfrm>
            <a:off x="335576" y="2364900"/>
            <a:ext cx="2787900" cy="347400"/>
          </a:xfrm>
          <a:prstGeom prst="roundRect">
            <a:avLst>
              <a:gd fmla="val 15789"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ec043b165a_0_95"/>
          <p:cNvSpPr/>
          <p:nvPr/>
        </p:nvSpPr>
        <p:spPr>
          <a:xfrm>
            <a:off x="335576" y="3472450"/>
            <a:ext cx="2787900" cy="347400"/>
          </a:xfrm>
          <a:prstGeom prst="roundRect">
            <a:avLst>
              <a:gd fmla="val 15789"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3ec043b165a_0_95"/>
          <p:cNvSpPr txBox="1"/>
          <p:nvPr/>
        </p:nvSpPr>
        <p:spPr>
          <a:xfrm>
            <a:off x="335575" y="1193530"/>
            <a:ext cx="8982300" cy="340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latin typeface="Calibri"/>
                <a:ea typeface="Calibri"/>
                <a:cs typeface="Calibri"/>
                <a:sym typeface="Calibri"/>
              </a:rPr>
              <a:t>Client Interaction:</a:t>
            </a:r>
            <a:r>
              <a:rPr lang="en-US">
                <a:latin typeface="Calibri"/>
                <a:ea typeface="Calibri"/>
                <a:cs typeface="Calibri"/>
                <a:sym typeface="Calibri"/>
              </a:rPr>
              <a:t> </a:t>
            </a:r>
            <a:endParaRPr>
              <a:latin typeface="Calibri"/>
              <a:ea typeface="Calibri"/>
              <a:cs typeface="Calibri"/>
              <a:sym typeface="Calibri"/>
            </a:endParaRPr>
          </a:p>
          <a:p>
            <a:pPr indent="0" lvl="0" marL="0" rtl="0" algn="l">
              <a:lnSpc>
                <a:spcPct val="115000"/>
              </a:lnSpc>
              <a:spcBef>
                <a:spcPts val="1200"/>
              </a:spcBef>
              <a:spcAft>
                <a:spcPts val="0"/>
              </a:spcAft>
              <a:buNone/>
            </a:pPr>
            <a:r>
              <a:rPr lang="en-US" sz="1200">
                <a:latin typeface="Calibri"/>
                <a:ea typeface="Calibri"/>
                <a:cs typeface="Calibri"/>
                <a:sym typeface="Calibri"/>
              </a:rPr>
              <a:t>Frontend →  Express API →  MongoDB </a:t>
            </a:r>
            <a:endParaRPr sz="1200">
              <a:latin typeface="Calibri"/>
              <a:ea typeface="Calibri"/>
              <a:cs typeface="Calibri"/>
              <a:sym typeface="Calibri"/>
            </a:endParaRPr>
          </a:p>
          <a:p>
            <a:pPr indent="0" lvl="0" marL="0" rtl="0" algn="l">
              <a:lnSpc>
                <a:spcPct val="115000"/>
              </a:lnSpc>
              <a:spcBef>
                <a:spcPts val="1200"/>
              </a:spcBef>
              <a:spcAft>
                <a:spcPts val="0"/>
              </a:spcAft>
              <a:buNone/>
            </a:pPr>
            <a:r>
              <a:t/>
            </a:r>
            <a:endParaRPr sz="1200">
              <a:latin typeface="Calibri"/>
              <a:ea typeface="Calibri"/>
              <a:cs typeface="Calibri"/>
              <a:sym typeface="Calibri"/>
            </a:endParaRPr>
          </a:p>
          <a:p>
            <a:pPr indent="0" lvl="0" marL="0" rtl="0" algn="l">
              <a:lnSpc>
                <a:spcPct val="115000"/>
              </a:lnSpc>
              <a:spcBef>
                <a:spcPts val="1200"/>
              </a:spcBef>
              <a:spcAft>
                <a:spcPts val="0"/>
              </a:spcAft>
              <a:buNone/>
            </a:pPr>
            <a:r>
              <a:rPr b="1" lang="en-US">
                <a:latin typeface="Calibri"/>
                <a:ea typeface="Calibri"/>
                <a:cs typeface="Calibri"/>
                <a:sym typeface="Calibri"/>
              </a:rPr>
              <a:t>Knowledge Processing:</a:t>
            </a:r>
            <a:r>
              <a:rPr lang="en-US">
                <a:latin typeface="Calibri"/>
                <a:ea typeface="Calibri"/>
                <a:cs typeface="Calibri"/>
                <a:sym typeface="Calibri"/>
              </a:rPr>
              <a:t> </a:t>
            </a:r>
            <a:endParaRPr>
              <a:latin typeface="Calibri"/>
              <a:ea typeface="Calibri"/>
              <a:cs typeface="Calibri"/>
              <a:sym typeface="Calibri"/>
            </a:endParaRPr>
          </a:p>
          <a:p>
            <a:pPr indent="0" lvl="0" marL="0" rtl="0" algn="l">
              <a:lnSpc>
                <a:spcPct val="115000"/>
              </a:lnSpc>
              <a:spcBef>
                <a:spcPts val="1200"/>
              </a:spcBef>
              <a:spcAft>
                <a:spcPts val="0"/>
              </a:spcAft>
              <a:buNone/>
            </a:pPr>
            <a:r>
              <a:rPr lang="en-US" sz="1200">
                <a:latin typeface="Calibri"/>
                <a:ea typeface="Calibri"/>
                <a:cs typeface="Calibri"/>
                <a:sym typeface="Calibri"/>
              </a:rPr>
              <a:t>Frontend →  Express API →  AI Processing Layer </a:t>
            </a:r>
            <a:endParaRPr sz="1200">
              <a:latin typeface="Calibri"/>
              <a:ea typeface="Calibri"/>
              <a:cs typeface="Calibri"/>
              <a:sym typeface="Calibri"/>
            </a:endParaRPr>
          </a:p>
          <a:p>
            <a:pPr indent="0" lvl="0" marL="0" rtl="0" algn="l">
              <a:lnSpc>
                <a:spcPct val="115000"/>
              </a:lnSpc>
              <a:spcBef>
                <a:spcPts val="1200"/>
              </a:spcBef>
              <a:spcAft>
                <a:spcPts val="0"/>
              </a:spcAft>
              <a:buNone/>
            </a:pPr>
            <a:r>
              <a:t/>
            </a:r>
            <a:endParaRPr sz="1200">
              <a:latin typeface="Calibri"/>
              <a:ea typeface="Calibri"/>
              <a:cs typeface="Calibri"/>
              <a:sym typeface="Calibri"/>
            </a:endParaRPr>
          </a:p>
          <a:p>
            <a:pPr indent="0" lvl="0" marL="0" rtl="0" algn="l">
              <a:lnSpc>
                <a:spcPct val="115000"/>
              </a:lnSpc>
              <a:spcBef>
                <a:spcPts val="1200"/>
              </a:spcBef>
              <a:spcAft>
                <a:spcPts val="0"/>
              </a:spcAft>
              <a:buNone/>
            </a:pPr>
            <a:r>
              <a:rPr b="1" lang="en-US">
                <a:latin typeface="Calibri"/>
                <a:ea typeface="Calibri"/>
                <a:cs typeface="Calibri"/>
                <a:sym typeface="Calibri"/>
              </a:rPr>
              <a:t>AI Generation Flow:</a:t>
            </a:r>
            <a:r>
              <a:rPr lang="en-US">
                <a:latin typeface="Calibri"/>
                <a:ea typeface="Calibri"/>
                <a:cs typeface="Calibri"/>
                <a:sym typeface="Calibri"/>
              </a:rPr>
              <a:t> </a:t>
            </a:r>
            <a:endParaRPr>
              <a:latin typeface="Calibri"/>
              <a:ea typeface="Calibri"/>
              <a:cs typeface="Calibri"/>
              <a:sym typeface="Calibri"/>
            </a:endParaRPr>
          </a:p>
          <a:p>
            <a:pPr indent="0" lvl="0" marL="0" rtl="0" algn="l">
              <a:lnSpc>
                <a:spcPct val="115000"/>
              </a:lnSpc>
              <a:spcBef>
                <a:spcPts val="1200"/>
              </a:spcBef>
              <a:spcAft>
                <a:spcPts val="0"/>
              </a:spcAft>
              <a:buNone/>
            </a:pPr>
            <a:r>
              <a:rPr lang="en-US" sz="1200">
                <a:latin typeface="Calibri"/>
                <a:ea typeface="Calibri"/>
                <a:cs typeface="Calibri"/>
                <a:sym typeface="Calibri"/>
              </a:rPr>
              <a:t>AI Pipeline →  Vector Retrieval Context →  External LLM APIs</a:t>
            </a:r>
            <a:endParaRPr sz="1200">
              <a:latin typeface="Calibri"/>
              <a:ea typeface="Calibri"/>
              <a:cs typeface="Calibri"/>
              <a:sym typeface="Calibri"/>
            </a:endParaRPr>
          </a:p>
          <a:p>
            <a:pPr indent="0" lvl="0" marL="0" rtl="0" algn="l">
              <a:lnSpc>
                <a:spcPct val="115000"/>
              </a:lnSpc>
              <a:spcBef>
                <a:spcPts val="1200"/>
              </a:spcBef>
              <a:spcAft>
                <a:spcPts val="1200"/>
              </a:spcAft>
              <a:buNone/>
            </a:pPr>
            <a:r>
              <a:t/>
            </a:r>
            <a:endParaRPr sz="1200">
              <a:latin typeface="Calibri"/>
              <a:ea typeface="Calibri"/>
              <a:cs typeface="Calibri"/>
              <a:sym typeface="Calibri"/>
            </a:endParaRPr>
          </a:p>
        </p:txBody>
      </p:sp>
      <p:sp>
        <p:nvSpPr>
          <p:cNvPr id="303" name="Google Shape;303;g3ec043b165a_0_95"/>
          <p:cNvSpPr/>
          <p:nvPr/>
        </p:nvSpPr>
        <p:spPr>
          <a:xfrm>
            <a:off x="4352700" y="941554"/>
            <a:ext cx="4559400" cy="394290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4" name="Google Shape;304;g3ec043b165a_0_95"/>
          <p:cNvPicPr preferRelativeResize="0"/>
          <p:nvPr/>
        </p:nvPicPr>
        <p:blipFill>
          <a:blip r:embed="rId4">
            <a:alphaModFix/>
          </a:blip>
          <a:stretch>
            <a:fillRect/>
          </a:stretch>
        </p:blipFill>
        <p:spPr>
          <a:xfrm>
            <a:off x="4459263" y="1268613"/>
            <a:ext cx="4346269" cy="3256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descr="/tmp/band.png" id="310" name="Google Shape;310;g3ec6dcfb5f0_0_33"/>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11" name="Google Shape;311;g3ec6dcfb5f0_0_33"/>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312" name="Google Shape;312;g3ec6dcfb5f0_0_33"/>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13" name="Google Shape;313;g3ec6dcfb5f0_0_33"/>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314" name="Google Shape;314;g3ec6dcfb5f0_0_33"/>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Class Diagram</a:t>
            </a:r>
            <a:endParaRPr b="0" i="0" sz="2500" u="none" cap="none" strike="noStrike">
              <a:solidFill>
                <a:schemeClr val="dk1"/>
              </a:solidFill>
              <a:latin typeface="Calibri"/>
              <a:ea typeface="Calibri"/>
              <a:cs typeface="Calibri"/>
              <a:sym typeface="Calibri"/>
            </a:endParaRPr>
          </a:p>
        </p:txBody>
      </p:sp>
      <p:sp>
        <p:nvSpPr>
          <p:cNvPr id="315" name="Google Shape;315;g3ec6dcfb5f0_0_33"/>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lang="en-US" sz="1000">
                <a:solidFill>
                  <a:srgbClr val="F4AABF"/>
                </a:solidFill>
                <a:latin typeface="Calibri"/>
                <a:ea typeface="Calibri"/>
                <a:cs typeface="Calibri"/>
                <a:sym typeface="Calibri"/>
              </a:rPr>
              <a:t>SOFTWARE ARCHITECTURE </a:t>
            </a:r>
            <a:endParaRPr b="0" i="0" sz="1000" u="none" cap="none" strike="noStrike">
              <a:solidFill>
                <a:schemeClr val="dk1"/>
              </a:solidFill>
              <a:latin typeface="Calibri"/>
              <a:ea typeface="Calibri"/>
              <a:cs typeface="Calibri"/>
              <a:sym typeface="Calibri"/>
            </a:endParaRPr>
          </a:p>
        </p:txBody>
      </p:sp>
      <p:pic>
        <p:nvPicPr>
          <p:cNvPr id="316" name="Google Shape;316;g3ec6dcfb5f0_0_33"/>
          <p:cNvPicPr preferRelativeResize="0"/>
          <p:nvPr/>
        </p:nvPicPr>
        <p:blipFill>
          <a:blip r:embed="rId4">
            <a:alphaModFix/>
          </a:blip>
          <a:stretch>
            <a:fillRect/>
          </a:stretch>
        </p:blipFill>
        <p:spPr>
          <a:xfrm>
            <a:off x="1306375" y="925375"/>
            <a:ext cx="6451000" cy="4152975"/>
          </a:xfrm>
          <a:prstGeom prst="rect">
            <a:avLst/>
          </a:prstGeom>
          <a:noFill/>
          <a:ln cap="flat" cmpd="sng" w="12700">
            <a:solidFill>
              <a:srgbClr val="000000"/>
            </a:solidFill>
            <a:prstDash val="solid"/>
            <a:miter lim="8000"/>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01E4A"/>
        </a:solidFill>
      </p:bgPr>
    </p:bg>
    <p:spTree>
      <p:nvGrpSpPr>
        <p:cNvPr id="321" name="Shape 321"/>
        <p:cNvGrpSpPr/>
        <p:nvPr/>
      </p:nvGrpSpPr>
      <p:grpSpPr>
        <a:xfrm>
          <a:off x="0" y="0"/>
          <a:ext cx="0" cy="0"/>
          <a:chOff x="0" y="0"/>
          <a:chExt cx="0" cy="0"/>
        </a:xfrm>
      </p:grpSpPr>
      <p:pic>
        <p:nvPicPr>
          <p:cNvPr descr="/tmp/divider.png" id="322" name="Google Shape;322;g3ec6dcfb5f0_0_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23" name="Google Shape;323;g3ec6dcfb5f0_0_5"/>
          <p:cNvSpPr/>
          <p:nvPr/>
        </p:nvSpPr>
        <p:spPr>
          <a:xfrm>
            <a:off x="0" y="2331720"/>
            <a:ext cx="91440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Implementation</a:t>
            </a:r>
            <a:r>
              <a:rPr b="1" lang="en-US" sz="4000">
                <a:solidFill>
                  <a:srgbClr val="FFFFFF"/>
                </a:solidFill>
                <a:latin typeface="Calibri"/>
                <a:ea typeface="Calibri"/>
                <a:cs typeface="Calibri"/>
                <a:sym typeface="Calibri"/>
              </a:rPr>
              <a:t> </a:t>
            </a:r>
            <a:endParaRPr b="0" i="0" sz="40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descr="/tmp/band.png" id="329" name="Google Shape;329;g3f129ba84b3_0_0"/>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30" name="Google Shape;330;g3f129ba84b3_0_0"/>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331" name="Google Shape;331;g3f129ba84b3_0_0"/>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32" name="Google Shape;332;g3f129ba84b3_0_0"/>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333" name="Google Shape;333;g3f129ba84b3_0_0"/>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lang="en-US" sz="2500">
                <a:solidFill>
                  <a:srgbClr val="FFFFFF"/>
                </a:solidFill>
                <a:latin typeface="Calibri"/>
                <a:ea typeface="Calibri"/>
                <a:cs typeface="Calibri"/>
                <a:sym typeface="Calibri"/>
              </a:rPr>
              <a:t>IMPLEMENTATION</a:t>
            </a:r>
            <a:endParaRPr b="0" i="0" sz="2500" u="none" cap="none" strike="noStrike">
              <a:solidFill>
                <a:schemeClr val="dk1"/>
              </a:solidFill>
              <a:latin typeface="Calibri"/>
              <a:ea typeface="Calibri"/>
              <a:cs typeface="Calibri"/>
              <a:sym typeface="Calibri"/>
            </a:endParaRPr>
          </a:p>
        </p:txBody>
      </p:sp>
      <p:sp>
        <p:nvSpPr>
          <p:cNvPr id="334" name="Google Shape;334;g3f129ba84b3_0_0"/>
          <p:cNvSpPr txBox="1"/>
          <p:nvPr/>
        </p:nvSpPr>
        <p:spPr>
          <a:xfrm>
            <a:off x="951325" y="1318625"/>
            <a:ext cx="6858000" cy="428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a:t>Agent 1 – Intelligent Test Case Generator</a:t>
            </a:r>
            <a:endParaRPr b="1"/>
          </a:p>
          <a:p>
            <a:pPr indent="-317500" lvl="0" marL="457200" rtl="0" algn="l">
              <a:lnSpc>
                <a:spcPct val="115000"/>
              </a:lnSpc>
              <a:spcBef>
                <a:spcPts val="1200"/>
              </a:spcBef>
              <a:spcAft>
                <a:spcPts val="0"/>
              </a:spcAft>
              <a:buSzPts val="1400"/>
              <a:buChar char="●"/>
            </a:pPr>
            <a:r>
              <a:rPr lang="en-US"/>
              <a:t>Analyzes user stories and project documentation.</a:t>
            </a:r>
            <a:endParaRPr/>
          </a:p>
          <a:p>
            <a:pPr indent="-317500" lvl="0" marL="457200" rtl="0" algn="l">
              <a:lnSpc>
                <a:spcPct val="115000"/>
              </a:lnSpc>
              <a:spcBef>
                <a:spcPts val="0"/>
              </a:spcBef>
              <a:spcAft>
                <a:spcPts val="0"/>
              </a:spcAft>
              <a:buSzPts val="1400"/>
              <a:buChar char="●"/>
            </a:pPr>
            <a:r>
              <a:rPr lang="en-US"/>
              <a:t>Uses RAG (Retrieval-Augmented Generation) to understand project context.</a:t>
            </a:r>
            <a:endParaRPr/>
          </a:p>
          <a:p>
            <a:pPr indent="-317500" lvl="0" marL="457200" rtl="0" algn="l">
              <a:lnSpc>
                <a:spcPct val="115000"/>
              </a:lnSpc>
              <a:spcBef>
                <a:spcPts val="0"/>
              </a:spcBef>
              <a:spcAft>
                <a:spcPts val="0"/>
              </a:spcAft>
              <a:buSzPts val="1400"/>
              <a:buChar char="●"/>
            </a:pPr>
            <a:r>
              <a:rPr lang="en-US"/>
              <a:t>Generates Functional, Negative, and Edge test cases.</a:t>
            </a:r>
            <a:endParaRPr/>
          </a:p>
          <a:p>
            <a:pPr indent="-317500" lvl="0" marL="457200" rtl="0" algn="l">
              <a:lnSpc>
                <a:spcPct val="115000"/>
              </a:lnSpc>
              <a:spcBef>
                <a:spcPts val="0"/>
              </a:spcBef>
              <a:spcAft>
                <a:spcPts val="0"/>
              </a:spcAft>
              <a:buSzPts val="1400"/>
              <a:buChar char="●"/>
            </a:pPr>
            <a:r>
              <a:rPr lang="en-US"/>
              <a:t>Performs impact analysis to identify affected features.</a:t>
            </a:r>
            <a:endParaRPr/>
          </a:p>
          <a:p>
            <a:pPr indent="0" lvl="0" marL="0" rtl="0" algn="l">
              <a:lnSpc>
                <a:spcPct val="115000"/>
              </a:lnSpc>
              <a:spcBef>
                <a:spcPts val="1200"/>
              </a:spcBef>
              <a:spcAft>
                <a:spcPts val="0"/>
              </a:spcAft>
              <a:buNone/>
            </a:pPr>
            <a:r>
              <a:rPr b="1" lang="en-US"/>
              <a:t>Agent 2 – AI Quality Auditor</a:t>
            </a:r>
            <a:endParaRPr b="1"/>
          </a:p>
          <a:p>
            <a:pPr indent="-317500" lvl="0" marL="457200" rtl="0" algn="l">
              <a:lnSpc>
                <a:spcPct val="115000"/>
              </a:lnSpc>
              <a:spcBef>
                <a:spcPts val="1200"/>
              </a:spcBef>
              <a:spcAft>
                <a:spcPts val="0"/>
              </a:spcAft>
              <a:buSzPts val="1400"/>
              <a:buChar char="●"/>
            </a:pPr>
            <a:r>
              <a:rPr lang="en-US"/>
              <a:t>Reviews the test cases generated by Agent 1.</a:t>
            </a:r>
            <a:endParaRPr/>
          </a:p>
          <a:p>
            <a:pPr indent="-317500" lvl="0" marL="457200" rtl="0" algn="l">
              <a:lnSpc>
                <a:spcPct val="115000"/>
              </a:lnSpc>
              <a:spcBef>
                <a:spcPts val="0"/>
              </a:spcBef>
              <a:spcAft>
                <a:spcPts val="0"/>
              </a:spcAft>
              <a:buSzPts val="1400"/>
              <a:buChar char="●"/>
            </a:pPr>
            <a:r>
              <a:rPr lang="en-US"/>
              <a:t>Evaluates coverage, relevance, and completeness.</a:t>
            </a:r>
            <a:endParaRPr/>
          </a:p>
          <a:p>
            <a:pPr indent="-317500" lvl="0" marL="457200" rtl="0" algn="l">
              <a:lnSpc>
                <a:spcPct val="115000"/>
              </a:lnSpc>
              <a:spcBef>
                <a:spcPts val="0"/>
              </a:spcBef>
              <a:spcAft>
                <a:spcPts val="0"/>
              </a:spcAft>
              <a:buSzPts val="1400"/>
              <a:buChar char="●"/>
            </a:pPr>
            <a:r>
              <a:rPr lang="en-US"/>
              <a:t>Assigns a quality score and provides feedback.</a:t>
            </a:r>
            <a:endParaRPr/>
          </a:p>
          <a:p>
            <a:pPr indent="-317500" lvl="0" marL="457200" rtl="0" algn="l">
              <a:lnSpc>
                <a:spcPct val="115000"/>
              </a:lnSpc>
              <a:spcBef>
                <a:spcPts val="0"/>
              </a:spcBef>
              <a:spcAft>
                <a:spcPts val="0"/>
              </a:spcAft>
              <a:buSzPts val="1400"/>
              <a:buChar char="●"/>
            </a:pPr>
            <a:r>
              <a:rPr lang="en-US"/>
              <a:t>Helps ensure consistency and QA best practices.</a:t>
            </a:r>
            <a:endParaRPr/>
          </a:p>
          <a:p>
            <a:pPr indent="0" lvl="0" marL="457200" rtl="0" algn="l">
              <a:lnSpc>
                <a:spcPct val="115000"/>
              </a:lnSpc>
              <a:spcBef>
                <a:spcPts val="1200"/>
              </a:spcBef>
              <a:spcAft>
                <a:spcPts val="0"/>
              </a:spcAft>
              <a:buNone/>
            </a:pPr>
            <a:r>
              <a:t/>
            </a:r>
            <a:endParaRPr b="1" sz="1700"/>
          </a:p>
          <a:p>
            <a:pPr indent="0" lvl="0" marL="0" rtl="0" algn="l">
              <a:lnSpc>
                <a:spcPct val="115000"/>
              </a:lnSpc>
              <a:spcBef>
                <a:spcPts val="1200"/>
              </a:spcBef>
              <a:spcAft>
                <a:spcPts val="0"/>
              </a:spcAft>
              <a:buNone/>
            </a:pPr>
            <a:r>
              <a:t/>
            </a:r>
            <a:endParaRPr sz="1200">
              <a:latin typeface="Calibri"/>
              <a:ea typeface="Calibri"/>
              <a:cs typeface="Calibri"/>
              <a:sym typeface="Calibri"/>
            </a:endParaRPr>
          </a:p>
          <a:p>
            <a:pPr indent="0" lvl="0" marL="0" rtl="0" algn="l">
              <a:lnSpc>
                <a:spcPct val="115000"/>
              </a:lnSpc>
              <a:spcBef>
                <a:spcPts val="1200"/>
              </a:spcBef>
              <a:spcAft>
                <a:spcPts val="1200"/>
              </a:spcAft>
              <a:buNone/>
            </a:pPr>
            <a:r>
              <a:t/>
            </a:r>
            <a:endParaRPr sz="12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descr="/tmp/band.png" id="340" name="Google Shape;340;g3f12f0a9926_0_3"/>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41" name="Google Shape;341;g3f12f0a9926_0_3"/>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342" name="Google Shape;342;g3f12f0a9926_0_3"/>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43" name="Google Shape;343;g3f12f0a9926_0_3"/>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344" name="Google Shape;344;g3f12f0a9926_0_3"/>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500">
                <a:solidFill>
                  <a:srgbClr val="FFFFFF"/>
                </a:solidFill>
                <a:latin typeface="Calibri"/>
                <a:ea typeface="Calibri"/>
                <a:cs typeface="Calibri"/>
                <a:sym typeface="Calibri"/>
              </a:rPr>
              <a:t>AI-Powered Test Generation</a:t>
            </a:r>
            <a:endParaRPr b="0" i="0" sz="2500" u="none" cap="none" strike="noStrike">
              <a:solidFill>
                <a:schemeClr val="dk1"/>
              </a:solidFill>
              <a:latin typeface="Calibri"/>
              <a:ea typeface="Calibri"/>
              <a:cs typeface="Calibri"/>
              <a:sym typeface="Calibri"/>
            </a:endParaRPr>
          </a:p>
        </p:txBody>
      </p:sp>
      <p:sp>
        <p:nvSpPr>
          <p:cNvPr id="345" name="Google Shape;345;g3f12f0a9926_0_3"/>
          <p:cNvSpPr txBox="1"/>
          <p:nvPr/>
        </p:nvSpPr>
        <p:spPr>
          <a:xfrm>
            <a:off x="346275" y="1187100"/>
            <a:ext cx="43677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t>1. Prompt Engineering</a:t>
            </a:r>
            <a:endParaRPr sz="1200"/>
          </a:p>
          <a:p>
            <a:pPr indent="0" lvl="0" marL="0" rtl="0" algn="l">
              <a:spcBef>
                <a:spcPts val="0"/>
              </a:spcBef>
              <a:spcAft>
                <a:spcPts val="0"/>
              </a:spcAft>
              <a:buNone/>
            </a:pPr>
            <a:r>
              <a:rPr lang="en-US" sz="1200"/>
              <a:t>   - AI acts as a Senior QA Engineer</a:t>
            </a:r>
            <a:endParaRPr sz="1200"/>
          </a:p>
          <a:p>
            <a:pPr indent="0" lvl="0" marL="0" rtl="0" algn="l">
              <a:spcBef>
                <a:spcPts val="0"/>
              </a:spcBef>
              <a:spcAft>
                <a:spcPts val="0"/>
              </a:spcAft>
              <a:buNone/>
            </a:pPr>
            <a:r>
              <a:rPr lang="en-US" sz="1200"/>
              <a:t>   - Generates professional and structured test cases.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  2. Context-Aware Generation</a:t>
            </a:r>
            <a:endParaRPr sz="1200"/>
          </a:p>
          <a:p>
            <a:pPr indent="0" lvl="0" marL="0" rtl="0" algn="l">
              <a:spcBef>
                <a:spcPts val="0"/>
              </a:spcBef>
              <a:spcAft>
                <a:spcPts val="0"/>
              </a:spcAft>
              <a:buNone/>
            </a:pPr>
            <a:r>
              <a:rPr lang="en-US" sz="1200"/>
              <a:t>   - Retrieves project documents and requirements.</a:t>
            </a:r>
            <a:endParaRPr sz="1200"/>
          </a:p>
          <a:p>
            <a:pPr indent="0" lvl="0" marL="0" rtl="0" algn="l">
              <a:spcBef>
                <a:spcPts val="0"/>
              </a:spcBef>
              <a:spcAft>
                <a:spcPts val="0"/>
              </a:spcAft>
              <a:buNone/>
            </a:pPr>
            <a:r>
              <a:rPr lang="en-US" sz="1200"/>
              <a:t>   - Creates test cases based on actual project context.</a:t>
            </a:r>
            <a:endParaRPr sz="1200"/>
          </a:p>
          <a:p>
            <a:pPr indent="0" lvl="0" marL="0" rtl="0" algn="l">
              <a:spcBef>
                <a:spcPts val="0"/>
              </a:spcBef>
              <a:spcAft>
                <a:spcPts val="0"/>
              </a:spcAft>
              <a:buNone/>
            </a:pPr>
            <a:r>
              <a:rPr lang="en-US" sz="1200"/>
              <a:t>   </a:t>
            </a:r>
            <a:endParaRPr sz="1200"/>
          </a:p>
          <a:p>
            <a:pPr indent="0" lvl="0" marL="0" rtl="0" algn="l">
              <a:spcBef>
                <a:spcPts val="0"/>
              </a:spcBef>
              <a:spcAft>
                <a:spcPts val="0"/>
              </a:spcAft>
              <a:buNone/>
            </a:pPr>
            <a:r>
              <a:rPr lang="en-US" sz="1200"/>
              <a:t>  3. Structured JSON Output</a:t>
            </a:r>
            <a:endParaRPr sz="1200"/>
          </a:p>
          <a:p>
            <a:pPr indent="0" lvl="0" marL="0" rtl="0" algn="l">
              <a:spcBef>
                <a:spcPts val="0"/>
              </a:spcBef>
              <a:spcAft>
                <a:spcPts val="0"/>
              </a:spcAft>
              <a:buNone/>
            </a:pPr>
            <a:r>
              <a:rPr lang="en-US" sz="1200"/>
              <a:t>   - Returns test cases in a consistent JSON format.</a:t>
            </a:r>
            <a:endParaRPr sz="1200"/>
          </a:p>
          <a:p>
            <a:pPr indent="0" lvl="0" marL="0" rtl="0" algn="l">
              <a:spcBef>
                <a:spcPts val="0"/>
              </a:spcBef>
              <a:spcAft>
                <a:spcPts val="0"/>
              </a:spcAft>
              <a:buNone/>
            </a:pPr>
            <a:r>
              <a:rPr lang="en-US" sz="1200"/>
              <a:t>   - Easy to store, display, and process.</a:t>
            </a:r>
            <a:endParaRPr sz="1200"/>
          </a:p>
          <a:p>
            <a:pPr indent="0" lvl="0" marL="0" rtl="0" algn="l">
              <a:spcBef>
                <a:spcPts val="0"/>
              </a:spcBef>
              <a:spcAft>
                <a:spcPts val="0"/>
              </a:spcAft>
              <a:buNone/>
            </a:pPr>
            <a:r>
              <a:rPr lang="en-US" sz="1200"/>
              <a:t>   </a:t>
            </a:r>
            <a:endParaRPr sz="1200"/>
          </a:p>
        </p:txBody>
      </p:sp>
      <p:sp>
        <p:nvSpPr>
          <p:cNvPr id="346" name="Google Shape;346;g3f12f0a9926_0_3"/>
          <p:cNvSpPr txBox="1"/>
          <p:nvPr/>
        </p:nvSpPr>
        <p:spPr>
          <a:xfrm>
            <a:off x="4898575" y="1663650"/>
            <a:ext cx="3933000" cy="181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t>  </a:t>
            </a:r>
            <a:r>
              <a:rPr lang="en-US" sz="1200"/>
              <a:t>4. Impact Analysis (Regression)</a:t>
            </a:r>
            <a:endParaRPr sz="1200"/>
          </a:p>
          <a:p>
            <a:pPr indent="0" lvl="0" marL="0" rtl="0" algn="l">
              <a:spcBef>
                <a:spcPts val="0"/>
              </a:spcBef>
              <a:spcAft>
                <a:spcPts val="0"/>
              </a:spcAft>
              <a:buNone/>
            </a:pPr>
            <a:r>
              <a:rPr lang="en-US" sz="1200"/>
              <a:t>   - Identifies features affected by new requirements.</a:t>
            </a:r>
            <a:endParaRPr sz="1200"/>
          </a:p>
          <a:p>
            <a:pPr indent="0" lvl="0" marL="0" rtl="0" algn="l">
              <a:spcBef>
                <a:spcPts val="0"/>
              </a:spcBef>
              <a:spcAft>
                <a:spcPts val="0"/>
              </a:spcAft>
              <a:buNone/>
            </a:pPr>
            <a:r>
              <a:rPr lang="en-US" sz="1200"/>
              <a:t>   - Helps teams focus regression testing efforts.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   </a:t>
            </a:r>
            <a:endParaRPr sz="1200"/>
          </a:p>
          <a:p>
            <a:pPr indent="0" lvl="0" marL="0" rtl="0" algn="l">
              <a:spcBef>
                <a:spcPts val="0"/>
              </a:spcBef>
              <a:spcAft>
                <a:spcPts val="0"/>
              </a:spcAft>
              <a:buNone/>
            </a:pPr>
            <a:r>
              <a:rPr lang="en-US" sz="1200"/>
              <a:t>  5. AI Peer Review (Secondary Evaluation)</a:t>
            </a:r>
            <a:endParaRPr sz="1200"/>
          </a:p>
          <a:p>
            <a:pPr indent="0" lvl="0" marL="0" rtl="0" algn="l">
              <a:spcBef>
                <a:spcPts val="0"/>
              </a:spcBef>
              <a:spcAft>
                <a:spcPts val="0"/>
              </a:spcAft>
              <a:buNone/>
            </a:pPr>
            <a:r>
              <a:rPr lang="en-US" sz="1200"/>
              <a:t>   - A second AI reviews generated test cases.</a:t>
            </a:r>
            <a:endParaRPr sz="1200"/>
          </a:p>
          <a:p>
            <a:pPr indent="0" lvl="0" marL="0" rtl="0" algn="l">
              <a:spcBef>
                <a:spcPts val="0"/>
              </a:spcBef>
              <a:spcAft>
                <a:spcPts val="0"/>
              </a:spcAft>
              <a:buNone/>
            </a:pPr>
            <a:r>
              <a:rPr lang="en-US" sz="1200"/>
              <a:t>   - Provides quality scores and improvement feedback</a:t>
            </a:r>
            <a:endParaRPr sz="1200"/>
          </a:p>
          <a:p>
            <a:pPr indent="0" lvl="0" marL="0" rtl="0" algn="l">
              <a:spcBef>
                <a:spcPts val="0"/>
              </a:spcBef>
              <a:spcAft>
                <a:spcPts val="0"/>
              </a:spcAft>
              <a:buNone/>
            </a:pPr>
            <a:r>
              <a:rPr lang="en-US" sz="1000"/>
              <a:t>   </a:t>
            </a:r>
            <a:endParaRPr sz="1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descr="/tmp/band.png" id="352" name="Google Shape;352;g3ec46b95f68_0_8"/>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53" name="Google Shape;353;g3ec46b95f68_0_8"/>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354" name="Google Shape;354;g3ec46b95f68_0_8"/>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55" name="Google Shape;355;g3ec46b95f68_0_8"/>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356" name="Google Shape;356;g3ec46b95f68_0_8"/>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500">
                <a:solidFill>
                  <a:srgbClr val="FFFFFF"/>
                </a:solidFill>
                <a:latin typeface="Calibri"/>
                <a:ea typeface="Calibri"/>
                <a:cs typeface="Calibri"/>
                <a:sym typeface="Calibri"/>
              </a:rPr>
              <a:t>AI-Powered Test Generation (</a:t>
            </a:r>
            <a:r>
              <a:rPr b="1" lang="en-US" sz="2500">
                <a:solidFill>
                  <a:srgbClr val="FFFFFF"/>
                </a:solidFill>
                <a:latin typeface="Calibri"/>
                <a:ea typeface="Calibri"/>
                <a:cs typeface="Calibri"/>
                <a:sym typeface="Calibri"/>
              </a:rPr>
              <a:t>Implementation) </a:t>
            </a:r>
            <a:endParaRPr b="0" i="0" sz="2500" u="none" cap="none" strike="noStrike">
              <a:solidFill>
                <a:schemeClr val="dk1"/>
              </a:solidFill>
              <a:latin typeface="Calibri"/>
              <a:ea typeface="Calibri"/>
              <a:cs typeface="Calibri"/>
              <a:sym typeface="Calibri"/>
            </a:endParaRPr>
          </a:p>
        </p:txBody>
      </p:sp>
      <p:pic>
        <p:nvPicPr>
          <p:cNvPr id="357" name="Google Shape;357;g3ec46b95f68_0_8"/>
          <p:cNvPicPr preferRelativeResize="0"/>
          <p:nvPr/>
        </p:nvPicPr>
        <p:blipFill>
          <a:blip r:embed="rId4">
            <a:alphaModFix/>
          </a:blip>
          <a:stretch>
            <a:fillRect/>
          </a:stretch>
        </p:blipFill>
        <p:spPr>
          <a:xfrm>
            <a:off x="1001052" y="1036900"/>
            <a:ext cx="6638376" cy="3346125"/>
          </a:xfrm>
          <a:prstGeom prst="rect">
            <a:avLst/>
          </a:prstGeom>
          <a:noFill/>
          <a:ln>
            <a:noFill/>
          </a:ln>
        </p:spPr>
      </p:pic>
      <p:sp>
        <p:nvSpPr>
          <p:cNvPr id="358" name="Google Shape;358;g3ec46b95f68_0_8"/>
          <p:cNvSpPr txBox="1"/>
          <p:nvPr/>
        </p:nvSpPr>
        <p:spPr>
          <a:xfrm>
            <a:off x="2820252" y="4428125"/>
            <a:ext cx="35319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US" sz="1200">
                <a:latin typeface="Calibri"/>
                <a:ea typeface="Calibri"/>
                <a:cs typeface="Calibri"/>
                <a:sym typeface="Calibri"/>
              </a:rPr>
              <a:t>Agent 1: Intelligent Generation (RAG-Augmented)</a:t>
            </a:r>
            <a:endParaRPr sz="1200">
              <a:latin typeface="Calibri"/>
              <a:ea typeface="Calibri"/>
              <a:cs typeface="Calibri"/>
              <a:sym typeface="Calibri"/>
            </a:endParaRPr>
          </a:p>
        </p:txBody>
      </p:sp>
      <p:sp>
        <p:nvSpPr>
          <p:cNvPr id="359" name="Google Shape;359;g3ec46b95f68_0_8"/>
          <p:cNvSpPr/>
          <p:nvPr/>
        </p:nvSpPr>
        <p:spPr>
          <a:xfrm flipH="1" rot="10800000">
            <a:off x="1228775" y="2781675"/>
            <a:ext cx="6148275" cy="376250"/>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descr="/tmp/band.png" id="365" name="Google Shape;365;g3f12f0a9926_0_19"/>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66" name="Google Shape;366;g3f12f0a9926_0_19"/>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367" name="Google Shape;367;g3f12f0a9926_0_19"/>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68" name="Google Shape;368;g3f12f0a9926_0_19"/>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369" name="Google Shape;369;g3f12f0a9926_0_19"/>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500">
                <a:solidFill>
                  <a:srgbClr val="FFFFFF"/>
                </a:solidFill>
                <a:latin typeface="Calibri"/>
                <a:ea typeface="Calibri"/>
                <a:cs typeface="Calibri"/>
                <a:sym typeface="Calibri"/>
              </a:rPr>
              <a:t>AI Peer Review &amp; Quality Assurance</a:t>
            </a:r>
            <a:endParaRPr b="0" i="0" sz="2500" u="none" cap="none" strike="noStrike">
              <a:solidFill>
                <a:schemeClr val="dk1"/>
              </a:solidFill>
              <a:latin typeface="Calibri"/>
              <a:ea typeface="Calibri"/>
              <a:cs typeface="Calibri"/>
              <a:sym typeface="Calibri"/>
            </a:endParaRPr>
          </a:p>
        </p:txBody>
      </p:sp>
      <p:sp>
        <p:nvSpPr>
          <p:cNvPr id="370" name="Google Shape;370;g3f12f0a9926_0_19"/>
          <p:cNvSpPr txBox="1"/>
          <p:nvPr/>
        </p:nvSpPr>
        <p:spPr>
          <a:xfrm>
            <a:off x="374675" y="1556250"/>
            <a:ext cx="3998400" cy="249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200"/>
              <a:t>1. Multi-Agent Architecture</a:t>
            </a:r>
            <a:endParaRPr sz="1200"/>
          </a:p>
          <a:p>
            <a:pPr indent="0" lvl="0" marL="0" rtl="0" algn="l">
              <a:lnSpc>
                <a:spcPct val="115000"/>
              </a:lnSpc>
              <a:spcBef>
                <a:spcPts val="0"/>
              </a:spcBef>
              <a:spcAft>
                <a:spcPts val="0"/>
              </a:spcAft>
              <a:buNone/>
            </a:pPr>
            <a:r>
              <a:rPr lang="en-US" sz="1200"/>
              <a:t>   - System utilizes multiple specialized AI agents.</a:t>
            </a:r>
            <a:endParaRPr sz="1200"/>
          </a:p>
          <a:p>
            <a:pPr indent="0" lvl="0" marL="0" rtl="0" algn="l">
              <a:lnSpc>
                <a:spcPct val="115000"/>
              </a:lnSpc>
              <a:spcBef>
                <a:spcPts val="0"/>
              </a:spcBef>
              <a:spcAft>
                <a:spcPts val="0"/>
              </a:spcAft>
              <a:buNone/>
            </a:pPr>
            <a:r>
              <a:rPr lang="en-US" sz="1200"/>
              <a:t>   - Primary agent generates initial test cases.</a:t>
            </a:r>
            <a:endParaRPr sz="1200"/>
          </a:p>
          <a:p>
            <a:pPr indent="0" lvl="0" marL="0" rtl="0" algn="l">
              <a:lnSpc>
                <a:spcPct val="115000"/>
              </a:lnSpc>
              <a:spcBef>
                <a:spcPts val="0"/>
              </a:spcBef>
              <a:spcAft>
                <a:spcPts val="0"/>
              </a:spcAft>
              <a:buNone/>
            </a:pPr>
            <a:r>
              <a:rPr lang="en-US" sz="1200"/>
              <a:t>   - Secondary agent audits the generated output.</a:t>
            </a:r>
            <a:endParaRPr sz="1200"/>
          </a:p>
          <a:p>
            <a:pPr indent="0" lvl="0" marL="0" rtl="0" algn="l">
              <a:lnSpc>
                <a:spcPct val="115000"/>
              </a:lnSpc>
              <a:spcBef>
                <a:spcPts val="0"/>
              </a:spcBef>
              <a:spcAft>
                <a:spcPts val="0"/>
              </a:spcAft>
              <a:buNone/>
            </a:pPr>
            <a:r>
              <a:rPr lang="en-US" sz="1200"/>
              <a:t>   - Collaborative workflow ensures high quality results.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US" sz="1200"/>
              <a:t>  2. Automated Quality Assessment</a:t>
            </a:r>
            <a:endParaRPr sz="1200"/>
          </a:p>
          <a:p>
            <a:pPr indent="0" lvl="0" marL="0" rtl="0" algn="l">
              <a:lnSpc>
                <a:spcPct val="115000"/>
              </a:lnSpc>
              <a:spcBef>
                <a:spcPts val="0"/>
              </a:spcBef>
              <a:spcAft>
                <a:spcPts val="0"/>
              </a:spcAft>
              <a:buNone/>
            </a:pPr>
            <a:r>
              <a:rPr lang="en-US" sz="1200"/>
              <a:t>   - Automatic evaluation of every test draft.</a:t>
            </a:r>
            <a:endParaRPr sz="1200"/>
          </a:p>
          <a:p>
            <a:pPr indent="0" lvl="0" marL="0" rtl="0" algn="l">
              <a:lnSpc>
                <a:spcPct val="115000"/>
              </a:lnSpc>
              <a:spcBef>
                <a:spcPts val="0"/>
              </a:spcBef>
              <a:spcAft>
                <a:spcPts val="0"/>
              </a:spcAft>
              <a:buNone/>
            </a:pPr>
            <a:r>
              <a:rPr lang="en-US" sz="1200"/>
              <a:t>   - Detect defects before saving to project.</a:t>
            </a:r>
            <a:endParaRPr sz="1200"/>
          </a:p>
          <a:p>
            <a:pPr indent="0" lvl="0" marL="0" rtl="0" algn="l">
              <a:lnSpc>
                <a:spcPct val="115000"/>
              </a:lnSpc>
              <a:spcBef>
                <a:spcPts val="0"/>
              </a:spcBef>
              <a:spcAft>
                <a:spcPts val="0"/>
              </a:spcAft>
              <a:buNone/>
            </a:pPr>
            <a:r>
              <a:rPr lang="en-US" sz="1200"/>
              <a:t>   - Analyze logical flow and test steps.</a:t>
            </a:r>
            <a:endParaRPr sz="1200"/>
          </a:p>
          <a:p>
            <a:pPr indent="0" lvl="0" marL="0" rtl="0" algn="l">
              <a:lnSpc>
                <a:spcPct val="115000"/>
              </a:lnSpc>
              <a:spcBef>
                <a:spcPts val="0"/>
              </a:spcBef>
              <a:spcAft>
                <a:spcPts val="0"/>
              </a:spcAft>
              <a:buNone/>
            </a:pPr>
            <a:r>
              <a:rPr lang="en-US" sz="1200"/>
              <a:t>   - Real time insights for review decisions.</a:t>
            </a:r>
            <a:endParaRPr sz="1200"/>
          </a:p>
        </p:txBody>
      </p:sp>
      <p:sp>
        <p:nvSpPr>
          <p:cNvPr id="371" name="Google Shape;371;g3f12f0a9926_0_19"/>
          <p:cNvSpPr txBox="1"/>
          <p:nvPr/>
        </p:nvSpPr>
        <p:spPr>
          <a:xfrm>
            <a:off x="5154902" y="1556250"/>
            <a:ext cx="3531900" cy="249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000"/>
              <a:t>  </a:t>
            </a:r>
            <a:r>
              <a:rPr lang="en-US" sz="1200"/>
              <a:t>3. Consistency Checking</a:t>
            </a:r>
            <a:endParaRPr sz="1200"/>
          </a:p>
          <a:p>
            <a:pPr indent="0" lvl="0" marL="0" rtl="0" algn="l">
              <a:lnSpc>
                <a:spcPct val="115000"/>
              </a:lnSpc>
              <a:spcBef>
                <a:spcPts val="0"/>
              </a:spcBef>
              <a:spcAft>
                <a:spcPts val="0"/>
              </a:spcAft>
              <a:buNone/>
            </a:pPr>
            <a:r>
              <a:rPr lang="en-US" sz="1200"/>
              <a:t>   - Verify alignment with original user story.</a:t>
            </a:r>
            <a:endParaRPr sz="1200"/>
          </a:p>
          <a:p>
            <a:pPr indent="0" lvl="0" marL="0" rtl="0" algn="l">
              <a:lnSpc>
                <a:spcPct val="115000"/>
              </a:lnSpc>
              <a:spcBef>
                <a:spcPts val="0"/>
              </a:spcBef>
              <a:spcAft>
                <a:spcPts val="0"/>
              </a:spcAft>
              <a:buNone/>
            </a:pPr>
            <a:r>
              <a:rPr lang="en-US" sz="1200"/>
              <a:t>   - Cross reference test cases with documents.</a:t>
            </a:r>
            <a:endParaRPr sz="1200"/>
          </a:p>
          <a:p>
            <a:pPr indent="0" lvl="0" marL="0" rtl="0" algn="l">
              <a:lnSpc>
                <a:spcPct val="115000"/>
              </a:lnSpc>
              <a:spcBef>
                <a:spcPts val="0"/>
              </a:spcBef>
              <a:spcAft>
                <a:spcPts val="0"/>
              </a:spcAft>
              <a:buNone/>
            </a:pPr>
            <a:r>
              <a:rPr lang="en-US" sz="1200"/>
              <a:t>   - Maintain uniform format across all projects.</a:t>
            </a:r>
            <a:endParaRPr sz="1200"/>
          </a:p>
          <a:p>
            <a:pPr indent="0" lvl="0" marL="0" rtl="0" algn="l">
              <a:lnSpc>
                <a:spcPct val="115000"/>
              </a:lnSpc>
              <a:spcBef>
                <a:spcPts val="0"/>
              </a:spcBef>
              <a:spcAft>
                <a:spcPts val="0"/>
              </a:spcAft>
              <a:buNone/>
            </a:pPr>
            <a:r>
              <a:rPr lang="en-US" sz="1200"/>
              <a:t>   - Ensure IDs and feature maps match.</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US" sz="1200"/>
              <a:t>  4. Quality Scoring</a:t>
            </a:r>
            <a:endParaRPr sz="1200"/>
          </a:p>
          <a:p>
            <a:pPr indent="0" lvl="0" marL="0" rtl="0" algn="l">
              <a:lnSpc>
                <a:spcPct val="115000"/>
              </a:lnSpc>
              <a:spcBef>
                <a:spcPts val="0"/>
              </a:spcBef>
              <a:spcAft>
                <a:spcPts val="0"/>
              </a:spcAft>
              <a:buNone/>
            </a:pPr>
            <a:r>
              <a:rPr lang="en-US" sz="1200"/>
              <a:t>   - Score drafts from one to ten.</a:t>
            </a:r>
            <a:endParaRPr sz="1200"/>
          </a:p>
          <a:p>
            <a:pPr indent="0" lvl="0" marL="0" rtl="0" algn="l">
              <a:lnSpc>
                <a:spcPct val="115000"/>
              </a:lnSpc>
              <a:spcBef>
                <a:spcPts val="0"/>
              </a:spcBef>
              <a:spcAft>
                <a:spcPts val="0"/>
              </a:spcAft>
              <a:buNone/>
            </a:pPr>
            <a:r>
              <a:rPr lang="en-US" sz="1200"/>
              <a:t>   - Use objective metrics for evaluation score.</a:t>
            </a:r>
            <a:endParaRPr sz="1200"/>
          </a:p>
          <a:p>
            <a:pPr indent="0" lvl="0" marL="0" rtl="0" algn="l">
              <a:lnSpc>
                <a:spcPct val="115000"/>
              </a:lnSpc>
              <a:spcBef>
                <a:spcPts val="0"/>
              </a:spcBef>
              <a:spcAft>
                <a:spcPts val="0"/>
              </a:spcAft>
              <a:buNone/>
            </a:pPr>
            <a:r>
              <a:rPr lang="en-US" sz="1200"/>
              <a:t>   - Visualize quality levels using color codes.</a:t>
            </a:r>
            <a:endParaRPr sz="1200"/>
          </a:p>
          <a:p>
            <a:pPr indent="0" lvl="0" marL="0" rtl="0" algn="l">
              <a:lnSpc>
                <a:spcPct val="115000"/>
              </a:lnSpc>
              <a:spcBef>
                <a:spcPts val="0"/>
              </a:spcBef>
              <a:spcAft>
                <a:spcPts val="0"/>
              </a:spcAft>
              <a:buNone/>
            </a:pPr>
            <a:r>
              <a:rPr lang="en-US" sz="1200"/>
              <a:t>   - Facilitate faster approvals for software teams. </a:t>
            </a: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pic>
        <p:nvPicPr>
          <p:cNvPr descr="/tmp/band.png" id="377" name="Google Shape;377;g3f129ba84b3_0_33"/>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78" name="Google Shape;378;g3f129ba84b3_0_33"/>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379" name="Google Shape;379;g3f129ba84b3_0_33"/>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80" name="Google Shape;380;g3f129ba84b3_0_33"/>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381" name="Google Shape;381;g3f129ba84b3_0_33"/>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500">
                <a:solidFill>
                  <a:schemeClr val="lt1"/>
                </a:solidFill>
                <a:latin typeface="Calibri"/>
                <a:ea typeface="Calibri"/>
                <a:cs typeface="Calibri"/>
                <a:sym typeface="Calibri"/>
              </a:rPr>
              <a:t>AI Peer Review &amp; Quality Assurance</a:t>
            </a:r>
            <a:r>
              <a:rPr lang="en-US" sz="2500">
                <a:solidFill>
                  <a:schemeClr val="dk1"/>
                </a:solidFill>
                <a:latin typeface="Calibri"/>
                <a:ea typeface="Calibri"/>
                <a:cs typeface="Calibri"/>
                <a:sym typeface="Calibri"/>
              </a:rPr>
              <a:t> </a:t>
            </a:r>
            <a:endParaRPr b="0" i="0" sz="2500" u="none" cap="none" strike="noStrike">
              <a:solidFill>
                <a:schemeClr val="dk1"/>
              </a:solidFill>
              <a:latin typeface="Calibri"/>
              <a:ea typeface="Calibri"/>
              <a:cs typeface="Calibri"/>
              <a:sym typeface="Calibri"/>
            </a:endParaRPr>
          </a:p>
        </p:txBody>
      </p:sp>
      <p:sp>
        <p:nvSpPr>
          <p:cNvPr id="382" name="Google Shape;382;g3f129ba84b3_0_33"/>
          <p:cNvSpPr txBox="1"/>
          <p:nvPr/>
        </p:nvSpPr>
        <p:spPr>
          <a:xfrm>
            <a:off x="2806065" y="4308375"/>
            <a:ext cx="35319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US" sz="1200">
                <a:latin typeface="Calibri"/>
                <a:ea typeface="Calibri"/>
                <a:cs typeface="Calibri"/>
                <a:sym typeface="Calibri"/>
              </a:rPr>
              <a:t>Agent 2: Automated Quality Auditor (Peer Review)</a:t>
            </a:r>
            <a:endParaRPr sz="1200">
              <a:latin typeface="Calibri"/>
              <a:ea typeface="Calibri"/>
              <a:cs typeface="Calibri"/>
              <a:sym typeface="Calibri"/>
            </a:endParaRPr>
          </a:p>
        </p:txBody>
      </p:sp>
      <p:pic>
        <p:nvPicPr>
          <p:cNvPr id="383" name="Google Shape;383;g3f129ba84b3_0_33"/>
          <p:cNvPicPr preferRelativeResize="0"/>
          <p:nvPr/>
        </p:nvPicPr>
        <p:blipFill>
          <a:blip r:embed="rId4">
            <a:alphaModFix/>
          </a:blip>
          <a:stretch>
            <a:fillRect/>
          </a:stretch>
        </p:blipFill>
        <p:spPr>
          <a:xfrm>
            <a:off x="1968288" y="1021080"/>
            <a:ext cx="5207431" cy="3254645"/>
          </a:xfrm>
          <a:prstGeom prst="rect">
            <a:avLst/>
          </a:prstGeom>
          <a:noFill/>
          <a:ln>
            <a:noFill/>
          </a:ln>
        </p:spPr>
      </p:pic>
      <p:sp>
        <p:nvSpPr>
          <p:cNvPr id="384" name="Google Shape;384;g3f129ba84b3_0_33"/>
          <p:cNvSpPr/>
          <p:nvPr/>
        </p:nvSpPr>
        <p:spPr>
          <a:xfrm flipH="1" rot="10800000">
            <a:off x="2520000" y="1366475"/>
            <a:ext cx="3249425" cy="230875"/>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pic>
        <p:nvPicPr>
          <p:cNvPr descr="/tmp/band.png" id="390" name="Google Shape;390;g3f12f0a9926_3_8"/>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91" name="Google Shape;391;g3f12f0a9926_3_8"/>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392" name="Google Shape;392;g3f12f0a9926_3_8"/>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393" name="Google Shape;393;g3f12f0a9926_3_8"/>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394" name="Google Shape;394;g3f12f0a9926_3_8"/>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500">
                <a:solidFill>
                  <a:schemeClr val="lt1"/>
                </a:solidFill>
                <a:latin typeface="Calibri"/>
                <a:ea typeface="Calibri"/>
                <a:cs typeface="Calibri"/>
                <a:sym typeface="Calibri"/>
              </a:rPr>
              <a:t>AI Peer Review &amp; Quality Assurance</a:t>
            </a:r>
            <a:r>
              <a:rPr lang="en-US" sz="2500">
                <a:solidFill>
                  <a:schemeClr val="dk1"/>
                </a:solidFill>
                <a:latin typeface="Calibri"/>
                <a:ea typeface="Calibri"/>
                <a:cs typeface="Calibri"/>
                <a:sym typeface="Calibri"/>
              </a:rPr>
              <a:t> </a:t>
            </a:r>
            <a:endParaRPr b="0" i="0" sz="2500" u="none" cap="none" strike="noStrike">
              <a:solidFill>
                <a:schemeClr val="dk1"/>
              </a:solidFill>
              <a:latin typeface="Calibri"/>
              <a:ea typeface="Calibri"/>
              <a:cs typeface="Calibri"/>
              <a:sym typeface="Calibri"/>
            </a:endParaRPr>
          </a:p>
        </p:txBody>
      </p:sp>
      <p:sp>
        <p:nvSpPr>
          <p:cNvPr id="395" name="Google Shape;395;g3f12f0a9926_3_8"/>
          <p:cNvSpPr txBox="1"/>
          <p:nvPr/>
        </p:nvSpPr>
        <p:spPr>
          <a:xfrm>
            <a:off x="2456552" y="4094600"/>
            <a:ext cx="35319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1200"/>
              <a:t>AI Peer Review Evaluation</a:t>
            </a:r>
            <a:endParaRPr sz="1200">
              <a:latin typeface="Calibri"/>
              <a:ea typeface="Calibri"/>
              <a:cs typeface="Calibri"/>
              <a:sym typeface="Calibri"/>
            </a:endParaRPr>
          </a:p>
        </p:txBody>
      </p:sp>
      <p:pic>
        <p:nvPicPr>
          <p:cNvPr id="396" name="Google Shape;396;g3f12f0a9926_3_8"/>
          <p:cNvPicPr preferRelativeResize="0"/>
          <p:nvPr/>
        </p:nvPicPr>
        <p:blipFill>
          <a:blip r:embed="rId4">
            <a:alphaModFix/>
          </a:blip>
          <a:stretch>
            <a:fillRect/>
          </a:stretch>
        </p:blipFill>
        <p:spPr>
          <a:xfrm>
            <a:off x="152400" y="1021080"/>
            <a:ext cx="8140227" cy="3122070"/>
          </a:xfrm>
          <a:prstGeom prst="rect">
            <a:avLst/>
          </a:prstGeom>
          <a:noFill/>
          <a:ln>
            <a:noFill/>
          </a:ln>
        </p:spPr>
      </p:pic>
      <p:sp>
        <p:nvSpPr>
          <p:cNvPr id="397" name="Google Shape;397;g3f12f0a9926_3_8"/>
          <p:cNvSpPr/>
          <p:nvPr/>
        </p:nvSpPr>
        <p:spPr>
          <a:xfrm flipH="1" rot="10800000">
            <a:off x="241125" y="2542250"/>
            <a:ext cx="3249425" cy="431825"/>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01E4A"/>
        </a:solidFill>
      </p:bgPr>
    </p:bg>
    <p:spTree>
      <p:nvGrpSpPr>
        <p:cNvPr id="402" name="Shape 402"/>
        <p:cNvGrpSpPr/>
        <p:nvPr/>
      </p:nvGrpSpPr>
      <p:grpSpPr>
        <a:xfrm>
          <a:off x="0" y="0"/>
          <a:ext cx="0" cy="0"/>
          <a:chOff x="0" y="0"/>
          <a:chExt cx="0" cy="0"/>
        </a:xfrm>
      </p:grpSpPr>
      <p:pic>
        <p:nvPicPr>
          <p:cNvPr descr="/tmp/divider.png" id="403" name="Google Shape;403;g3ec6dcfb5f0_0_1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04" name="Google Shape;404;g3ec6dcfb5f0_0_19"/>
          <p:cNvSpPr/>
          <p:nvPr/>
        </p:nvSpPr>
        <p:spPr>
          <a:xfrm>
            <a:off x="0" y="2331720"/>
            <a:ext cx="91440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Calibri"/>
              <a:buNone/>
            </a:pPr>
            <a:r>
              <a:rPr b="1" lang="en-US" sz="4000">
                <a:solidFill>
                  <a:srgbClr val="FFFFFF"/>
                </a:solidFill>
                <a:latin typeface="Calibri"/>
                <a:ea typeface="Calibri"/>
                <a:cs typeface="Calibri"/>
                <a:sym typeface="Calibri"/>
              </a:rPr>
              <a:t>Security</a:t>
            </a:r>
            <a:endParaRPr b="1" sz="4000">
              <a:solidFill>
                <a:srgbClr val="FFFFFF"/>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descr="/tmp/band.png" id="410" name="Google Shape;410;g3f12f0a9926_0_47"/>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411" name="Google Shape;411;g3f12f0a9926_0_47"/>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412" name="Google Shape;412;g3f12f0a9926_0_47"/>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413" name="Google Shape;413;g3f12f0a9926_0_47"/>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414" name="Google Shape;414;g3f12f0a9926_0_47"/>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500">
                <a:solidFill>
                  <a:srgbClr val="FFFFFF"/>
                </a:solidFill>
                <a:latin typeface="Calibri"/>
                <a:ea typeface="Calibri"/>
                <a:cs typeface="Calibri"/>
                <a:sym typeface="Calibri"/>
              </a:rPr>
              <a:t>Security &amp; Data Protection</a:t>
            </a:r>
            <a:endParaRPr b="1" sz="2500">
              <a:solidFill>
                <a:srgbClr val="FFFFFF"/>
              </a:solidFill>
              <a:latin typeface="Calibri"/>
              <a:ea typeface="Calibri"/>
              <a:cs typeface="Calibri"/>
              <a:sym typeface="Calibri"/>
            </a:endParaRPr>
          </a:p>
        </p:txBody>
      </p:sp>
      <p:sp>
        <p:nvSpPr>
          <p:cNvPr id="415" name="Google Shape;415;g3f12f0a9926_0_47"/>
          <p:cNvSpPr txBox="1"/>
          <p:nvPr/>
        </p:nvSpPr>
        <p:spPr>
          <a:xfrm>
            <a:off x="204300" y="1613050"/>
            <a:ext cx="5025300" cy="249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200"/>
              <a:t>1. JWT Authentication</a:t>
            </a:r>
            <a:endParaRPr sz="1200"/>
          </a:p>
          <a:p>
            <a:pPr indent="0" lvl="0" marL="0" rtl="0" algn="l">
              <a:lnSpc>
                <a:spcPct val="115000"/>
              </a:lnSpc>
              <a:spcBef>
                <a:spcPts val="0"/>
              </a:spcBef>
              <a:spcAft>
                <a:spcPts val="0"/>
              </a:spcAft>
              <a:buNone/>
            </a:pPr>
            <a:r>
              <a:rPr lang="en-US" sz="1200"/>
              <a:t>   - Issue secure tokens for user sessions.</a:t>
            </a:r>
            <a:endParaRPr sz="1200"/>
          </a:p>
          <a:p>
            <a:pPr indent="0" lvl="0" marL="0" rtl="0" algn="l">
              <a:lnSpc>
                <a:spcPct val="115000"/>
              </a:lnSpc>
              <a:spcBef>
                <a:spcPts val="0"/>
              </a:spcBef>
              <a:spcAft>
                <a:spcPts val="0"/>
              </a:spcAft>
              <a:buNone/>
            </a:pPr>
            <a:r>
              <a:rPr lang="en-US" sz="1200"/>
              <a:t>   - Validate identity using signed bearer tokens.</a:t>
            </a:r>
            <a:endParaRPr sz="1200"/>
          </a:p>
          <a:p>
            <a:pPr indent="0" lvl="0" marL="0" rtl="0" algn="l">
              <a:lnSpc>
                <a:spcPct val="115000"/>
              </a:lnSpc>
              <a:spcBef>
                <a:spcPts val="0"/>
              </a:spcBef>
              <a:spcAft>
                <a:spcPts val="0"/>
              </a:spcAft>
              <a:buNone/>
            </a:pPr>
            <a:r>
              <a:rPr lang="en-US" sz="1200"/>
              <a:t>   - Stateless verification enhances backend system performance.</a:t>
            </a:r>
            <a:endParaRPr sz="1200"/>
          </a:p>
          <a:p>
            <a:pPr indent="0" lvl="0" marL="0" rtl="0" algn="l">
              <a:lnSpc>
                <a:spcPct val="115000"/>
              </a:lnSpc>
              <a:spcBef>
                <a:spcPts val="0"/>
              </a:spcBef>
              <a:spcAft>
                <a:spcPts val="0"/>
              </a:spcAft>
              <a:buNone/>
            </a:pPr>
            <a:r>
              <a:rPr lang="en-US" sz="1200"/>
              <a:t>   - Encrypted payloads ensure safe data exchange.</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US" sz="1200"/>
              <a:t>  2. Route Protection</a:t>
            </a:r>
            <a:endParaRPr sz="1200"/>
          </a:p>
          <a:p>
            <a:pPr indent="0" lvl="0" marL="0" rtl="0" algn="l">
              <a:lnSpc>
                <a:spcPct val="115000"/>
              </a:lnSpc>
              <a:spcBef>
                <a:spcPts val="0"/>
              </a:spcBef>
              <a:spcAft>
                <a:spcPts val="0"/>
              </a:spcAft>
              <a:buNone/>
            </a:pPr>
            <a:r>
              <a:rPr lang="en-US" sz="1200"/>
              <a:t>   - Guard private API endpoints with middleware.</a:t>
            </a:r>
            <a:endParaRPr sz="1200"/>
          </a:p>
          <a:p>
            <a:pPr indent="0" lvl="0" marL="0" rtl="0" algn="l">
              <a:lnSpc>
                <a:spcPct val="115000"/>
              </a:lnSpc>
              <a:spcBef>
                <a:spcPts val="0"/>
              </a:spcBef>
              <a:spcAft>
                <a:spcPts val="0"/>
              </a:spcAft>
              <a:buNone/>
            </a:pPr>
            <a:r>
              <a:rPr lang="en-US" sz="1200"/>
              <a:t>   - Deny access to all unauthenticated requests.</a:t>
            </a:r>
            <a:endParaRPr sz="1200"/>
          </a:p>
          <a:p>
            <a:pPr indent="0" lvl="0" marL="0" rtl="0" algn="l">
              <a:lnSpc>
                <a:spcPct val="115000"/>
              </a:lnSpc>
              <a:spcBef>
                <a:spcPts val="0"/>
              </a:spcBef>
              <a:spcAft>
                <a:spcPts val="0"/>
              </a:spcAft>
              <a:buNone/>
            </a:pPr>
            <a:r>
              <a:rPr lang="en-US" sz="1200"/>
              <a:t>   - Secure data access via authorized headers.</a:t>
            </a:r>
            <a:endParaRPr sz="1200"/>
          </a:p>
          <a:p>
            <a:pPr indent="0" lvl="0" marL="0" rtl="0" algn="l">
              <a:lnSpc>
                <a:spcPct val="115000"/>
              </a:lnSpc>
              <a:spcBef>
                <a:spcPts val="0"/>
              </a:spcBef>
              <a:spcAft>
                <a:spcPts val="0"/>
              </a:spcAft>
              <a:buNone/>
            </a:pPr>
            <a:r>
              <a:rPr lang="en-US" sz="1200"/>
              <a:t>   - Protect sensitive resources from external threats.</a:t>
            </a:r>
            <a:endParaRPr sz="1200"/>
          </a:p>
        </p:txBody>
      </p:sp>
      <p:sp>
        <p:nvSpPr>
          <p:cNvPr id="416" name="Google Shape;416;g3f12f0a9926_0_47"/>
          <p:cNvSpPr txBox="1"/>
          <p:nvPr/>
        </p:nvSpPr>
        <p:spPr>
          <a:xfrm>
            <a:off x="4878700" y="1613050"/>
            <a:ext cx="4072800" cy="270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000"/>
              <a:t>  </a:t>
            </a:r>
            <a:r>
              <a:rPr lang="en-US" sz="1200"/>
              <a:t>3. Password Hashing</a:t>
            </a:r>
            <a:endParaRPr sz="1200"/>
          </a:p>
          <a:p>
            <a:pPr indent="0" lvl="0" marL="0" rtl="0" algn="l">
              <a:lnSpc>
                <a:spcPct val="115000"/>
              </a:lnSpc>
              <a:spcBef>
                <a:spcPts val="0"/>
              </a:spcBef>
              <a:spcAft>
                <a:spcPts val="0"/>
              </a:spcAft>
              <a:buNone/>
            </a:pPr>
            <a:r>
              <a:rPr lang="en-US" sz="1200"/>
              <a:t>   - Encrypt user passwords using bcrypt algorithm.</a:t>
            </a:r>
            <a:endParaRPr sz="1200"/>
          </a:p>
          <a:p>
            <a:pPr indent="0" lvl="0" marL="0" rtl="0" algn="l">
              <a:lnSpc>
                <a:spcPct val="115000"/>
              </a:lnSpc>
              <a:spcBef>
                <a:spcPts val="0"/>
              </a:spcBef>
              <a:spcAft>
                <a:spcPts val="0"/>
              </a:spcAft>
              <a:buNone/>
            </a:pPr>
            <a:r>
              <a:rPr lang="en-US" sz="1200"/>
              <a:t>   - Never store plain text in database.</a:t>
            </a:r>
            <a:endParaRPr sz="1200"/>
          </a:p>
          <a:p>
            <a:pPr indent="0" lvl="0" marL="0" rtl="0" algn="l">
              <a:lnSpc>
                <a:spcPct val="115000"/>
              </a:lnSpc>
              <a:spcBef>
                <a:spcPts val="0"/>
              </a:spcBef>
              <a:spcAft>
                <a:spcPts val="0"/>
              </a:spcAft>
              <a:buNone/>
            </a:pPr>
            <a:r>
              <a:rPr lang="en-US" sz="1200"/>
              <a:t>   - Pre-save hooks automate secure hashing logic.</a:t>
            </a:r>
            <a:endParaRPr sz="1200"/>
          </a:p>
          <a:p>
            <a:pPr indent="0" lvl="0" marL="0" rtl="0" algn="l">
              <a:lnSpc>
                <a:spcPct val="115000"/>
              </a:lnSpc>
              <a:spcBef>
                <a:spcPts val="0"/>
              </a:spcBef>
              <a:spcAft>
                <a:spcPts val="0"/>
              </a:spcAft>
              <a:buNone/>
            </a:pPr>
            <a:r>
              <a:rPr lang="en-US" sz="1200"/>
              <a:t>   - Robust protection against unauthorized credential access.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US" sz="1200"/>
              <a:t>  4. Secure Credential Storage</a:t>
            </a:r>
            <a:endParaRPr sz="1200"/>
          </a:p>
          <a:p>
            <a:pPr indent="0" lvl="0" marL="0" rtl="0" algn="l">
              <a:lnSpc>
                <a:spcPct val="115000"/>
              </a:lnSpc>
              <a:spcBef>
                <a:spcPts val="0"/>
              </a:spcBef>
              <a:spcAft>
                <a:spcPts val="0"/>
              </a:spcAft>
              <a:buNone/>
            </a:pPr>
            <a:r>
              <a:rPr lang="en-US" sz="1200"/>
              <a:t>   - Hide secret keys using environment variables.</a:t>
            </a:r>
            <a:endParaRPr sz="1200"/>
          </a:p>
          <a:p>
            <a:pPr indent="0" lvl="0" marL="0" rtl="0" algn="l">
              <a:lnSpc>
                <a:spcPct val="115000"/>
              </a:lnSpc>
              <a:spcBef>
                <a:spcPts val="0"/>
              </a:spcBef>
              <a:spcAft>
                <a:spcPts val="0"/>
              </a:spcAft>
              <a:buNone/>
            </a:pPr>
            <a:r>
              <a:rPr lang="en-US" sz="1200"/>
              <a:t>   - Protect system integrity from potential leaks.</a:t>
            </a:r>
            <a:endParaRPr sz="1200"/>
          </a:p>
          <a:p>
            <a:pPr indent="0" lvl="0" marL="0" rtl="0" algn="l">
              <a:lnSpc>
                <a:spcPct val="115000"/>
              </a:lnSpc>
              <a:spcBef>
                <a:spcPts val="0"/>
              </a:spcBef>
              <a:spcAft>
                <a:spcPts val="0"/>
              </a:spcAft>
              <a:buNone/>
            </a:pPr>
            <a:r>
              <a:rPr lang="en-US" sz="1200"/>
              <a:t>   - Utilize local files for sensitive configurations.</a:t>
            </a:r>
            <a:endParaRPr sz="1200"/>
          </a:p>
          <a:p>
            <a:pPr indent="0" lvl="0" marL="0" rtl="0" algn="l">
              <a:lnSpc>
                <a:spcPct val="115000"/>
              </a:lnSpc>
              <a:spcBef>
                <a:spcPts val="0"/>
              </a:spcBef>
              <a:spcAft>
                <a:spcPts val="0"/>
              </a:spcAft>
              <a:buNone/>
            </a:pPr>
            <a:r>
              <a:rPr lang="en-US" sz="1200"/>
              <a:t>   - Prevent hard-coded secrets within source code.</a:t>
            </a:r>
            <a:r>
              <a:rPr lang="en-US" sz="1000"/>
              <a:t> </a:t>
            </a:r>
            <a:endParaRPr sz="1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tmp/band.png" id="422" name="Google Shape;422;g3f129ba84b3_0_47"/>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423" name="Google Shape;423;g3f129ba84b3_0_47"/>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424" name="Google Shape;424;g3f129ba84b3_0_47"/>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425" name="Google Shape;425;g3f129ba84b3_0_47"/>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426" name="Google Shape;426;g3f129ba84b3_0_47"/>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500">
                <a:solidFill>
                  <a:schemeClr val="lt1"/>
                </a:solidFill>
                <a:latin typeface="Calibri"/>
                <a:ea typeface="Calibri"/>
                <a:cs typeface="Calibri"/>
                <a:sym typeface="Calibri"/>
              </a:rPr>
              <a:t>Security &amp; Data Protection (implementation)</a:t>
            </a:r>
            <a:endParaRPr b="1" sz="2500">
              <a:solidFill>
                <a:srgbClr val="FFFFFF"/>
              </a:solidFill>
              <a:latin typeface="Calibri"/>
              <a:ea typeface="Calibri"/>
              <a:cs typeface="Calibri"/>
              <a:sym typeface="Calibri"/>
            </a:endParaRPr>
          </a:p>
        </p:txBody>
      </p:sp>
      <p:sp>
        <p:nvSpPr>
          <p:cNvPr id="427" name="Google Shape;427;g3f129ba84b3_0_47"/>
          <p:cNvSpPr txBox="1"/>
          <p:nvPr/>
        </p:nvSpPr>
        <p:spPr>
          <a:xfrm>
            <a:off x="739152" y="3978325"/>
            <a:ext cx="35319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US" sz="1200">
                <a:latin typeface="Calibri"/>
                <a:ea typeface="Calibri"/>
                <a:cs typeface="Calibri"/>
                <a:sym typeface="Calibri"/>
              </a:rPr>
              <a:t>API Security: Prevents unauthorized external access. </a:t>
            </a:r>
            <a:endParaRPr sz="1200">
              <a:latin typeface="Calibri"/>
              <a:ea typeface="Calibri"/>
              <a:cs typeface="Calibri"/>
              <a:sym typeface="Calibri"/>
            </a:endParaRPr>
          </a:p>
        </p:txBody>
      </p:sp>
      <p:pic>
        <p:nvPicPr>
          <p:cNvPr id="428" name="Google Shape;428;g3f129ba84b3_0_47"/>
          <p:cNvPicPr preferRelativeResize="0"/>
          <p:nvPr/>
        </p:nvPicPr>
        <p:blipFill>
          <a:blip r:embed="rId4">
            <a:alphaModFix/>
          </a:blip>
          <a:stretch>
            <a:fillRect/>
          </a:stretch>
        </p:blipFill>
        <p:spPr>
          <a:xfrm>
            <a:off x="413270" y="1732652"/>
            <a:ext cx="4183649" cy="2005275"/>
          </a:xfrm>
          <a:prstGeom prst="rect">
            <a:avLst/>
          </a:prstGeom>
          <a:noFill/>
          <a:ln>
            <a:noFill/>
          </a:ln>
        </p:spPr>
      </p:pic>
      <p:pic>
        <p:nvPicPr>
          <p:cNvPr id="429" name="Google Shape;429;g3f129ba84b3_0_47"/>
          <p:cNvPicPr preferRelativeResize="0"/>
          <p:nvPr/>
        </p:nvPicPr>
        <p:blipFill>
          <a:blip r:embed="rId5">
            <a:alphaModFix/>
          </a:blip>
          <a:stretch>
            <a:fillRect/>
          </a:stretch>
        </p:blipFill>
        <p:spPr>
          <a:xfrm>
            <a:off x="4972646" y="1732650"/>
            <a:ext cx="3306616" cy="2005275"/>
          </a:xfrm>
          <a:prstGeom prst="rect">
            <a:avLst/>
          </a:prstGeom>
          <a:noFill/>
          <a:ln>
            <a:noFill/>
          </a:ln>
        </p:spPr>
      </p:pic>
      <p:sp>
        <p:nvSpPr>
          <p:cNvPr id="430" name="Google Shape;430;g3f129ba84b3_0_47"/>
          <p:cNvSpPr txBox="1"/>
          <p:nvPr/>
        </p:nvSpPr>
        <p:spPr>
          <a:xfrm>
            <a:off x="4943838" y="3978325"/>
            <a:ext cx="3364200" cy="58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US" sz="1200">
                <a:latin typeface="Calibri"/>
                <a:ea typeface="Calibri"/>
                <a:cs typeface="Calibri"/>
                <a:sym typeface="Calibri"/>
              </a:rPr>
              <a:t>Data Encryption: Ensures maximum protection for user identity and credentials. </a:t>
            </a:r>
            <a:endParaRPr sz="1200">
              <a:latin typeface="Calibri"/>
              <a:ea typeface="Calibri"/>
              <a:cs typeface="Calibri"/>
              <a:sym typeface="Calibri"/>
            </a:endParaRPr>
          </a:p>
        </p:txBody>
      </p:sp>
      <p:sp>
        <p:nvSpPr>
          <p:cNvPr id="431" name="Google Shape;431;g3f129ba84b3_0_47"/>
          <p:cNvSpPr/>
          <p:nvPr/>
        </p:nvSpPr>
        <p:spPr>
          <a:xfrm flipH="1" rot="10800000">
            <a:off x="707175" y="2315650"/>
            <a:ext cx="3957175" cy="316375"/>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32" name="Google Shape;432;g3f129ba84b3_0_47"/>
          <p:cNvSpPr/>
          <p:nvPr/>
        </p:nvSpPr>
        <p:spPr>
          <a:xfrm flipH="1" rot="10800000">
            <a:off x="5303400" y="2265325"/>
            <a:ext cx="2150625" cy="281200"/>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descr="/tmp/band.png" id="438" name="Google Shape;438;g3f12f0a9926_0_66"/>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439" name="Google Shape;439;g3f12f0a9926_0_66"/>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440" name="Google Shape;440;g3f12f0a9926_0_66"/>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441" name="Google Shape;441;g3f12f0a9926_0_66"/>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442" name="Google Shape;442;g3f12f0a9926_0_66"/>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500">
                <a:solidFill>
                  <a:srgbClr val="FFFFFF"/>
                </a:solidFill>
                <a:latin typeface="Calibri"/>
                <a:ea typeface="Calibri"/>
                <a:cs typeface="Calibri"/>
                <a:sym typeface="Calibri"/>
              </a:rPr>
              <a:t>Human-in-the-Loop Review Workflow</a:t>
            </a:r>
            <a:endParaRPr b="1" sz="2500">
              <a:solidFill>
                <a:srgbClr val="FFFFFF"/>
              </a:solidFill>
              <a:latin typeface="Calibri"/>
              <a:ea typeface="Calibri"/>
              <a:cs typeface="Calibri"/>
              <a:sym typeface="Calibri"/>
            </a:endParaRPr>
          </a:p>
        </p:txBody>
      </p:sp>
      <p:sp>
        <p:nvSpPr>
          <p:cNvPr id="443" name="Google Shape;443;g3f12f0a9926_0_66"/>
          <p:cNvSpPr txBox="1"/>
          <p:nvPr/>
        </p:nvSpPr>
        <p:spPr>
          <a:xfrm>
            <a:off x="246900" y="1655650"/>
            <a:ext cx="5025300" cy="249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200"/>
              <a:t>1. Human Oversight</a:t>
            </a:r>
            <a:endParaRPr sz="1200"/>
          </a:p>
          <a:p>
            <a:pPr indent="0" lvl="0" marL="0" rtl="0" algn="l">
              <a:lnSpc>
                <a:spcPct val="115000"/>
              </a:lnSpc>
              <a:spcBef>
                <a:spcPts val="0"/>
              </a:spcBef>
              <a:spcAft>
                <a:spcPts val="0"/>
              </a:spcAft>
              <a:buNone/>
            </a:pPr>
            <a:r>
              <a:rPr lang="en-US" sz="1200"/>
              <a:t>   - Users verify every single test case.</a:t>
            </a:r>
            <a:endParaRPr sz="1200"/>
          </a:p>
          <a:p>
            <a:pPr indent="0" lvl="0" marL="0" rtl="0" algn="l">
              <a:lnSpc>
                <a:spcPct val="115000"/>
              </a:lnSpc>
              <a:spcBef>
                <a:spcPts val="0"/>
              </a:spcBef>
              <a:spcAft>
                <a:spcPts val="0"/>
              </a:spcAft>
              <a:buNone/>
            </a:pPr>
            <a:r>
              <a:rPr lang="en-US" sz="1200"/>
              <a:t>   - Humans provide final check for quality.</a:t>
            </a:r>
            <a:endParaRPr sz="1200"/>
          </a:p>
          <a:p>
            <a:pPr indent="0" lvl="0" marL="0" rtl="0" algn="l">
              <a:lnSpc>
                <a:spcPct val="115000"/>
              </a:lnSpc>
              <a:spcBef>
                <a:spcPts val="0"/>
              </a:spcBef>
              <a:spcAft>
                <a:spcPts val="0"/>
              </a:spcAft>
              <a:buNone/>
            </a:pPr>
            <a:r>
              <a:rPr lang="en-US" sz="1200"/>
              <a:t>   - Manual edits ensure perfectly accurate results.</a:t>
            </a:r>
            <a:endParaRPr sz="1200"/>
          </a:p>
          <a:p>
            <a:pPr indent="0" lvl="0" marL="0" rtl="0" algn="l">
              <a:lnSpc>
                <a:spcPct val="115000"/>
              </a:lnSpc>
              <a:spcBef>
                <a:spcPts val="0"/>
              </a:spcBef>
              <a:spcAft>
                <a:spcPts val="0"/>
              </a:spcAft>
              <a:buNone/>
            </a:pPr>
            <a:r>
              <a:rPr lang="en-US" sz="1200"/>
              <a:t>   - AI assists but humans make decisions.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US" sz="1200"/>
              <a:t>  2. Approval Workflow</a:t>
            </a:r>
            <a:endParaRPr sz="1200"/>
          </a:p>
          <a:p>
            <a:pPr indent="0" lvl="0" marL="0" rtl="0" algn="l">
              <a:lnSpc>
                <a:spcPct val="115000"/>
              </a:lnSpc>
              <a:spcBef>
                <a:spcPts val="0"/>
              </a:spcBef>
              <a:spcAft>
                <a:spcPts val="0"/>
              </a:spcAft>
              <a:buNone/>
            </a:pPr>
            <a:r>
              <a:rPr lang="en-US" sz="1200"/>
              <a:t>   - Transition from draft to saved state.</a:t>
            </a:r>
            <a:endParaRPr sz="1200"/>
          </a:p>
          <a:p>
            <a:pPr indent="0" lvl="0" marL="0" rtl="0" algn="l">
              <a:lnSpc>
                <a:spcPct val="115000"/>
              </a:lnSpc>
              <a:spcBef>
                <a:spcPts val="0"/>
              </a:spcBef>
              <a:spcAft>
                <a:spcPts val="0"/>
              </a:spcAft>
              <a:buNone/>
            </a:pPr>
            <a:r>
              <a:rPr lang="en-US" sz="1200"/>
              <a:t>   - Structured process for finalized test cases.</a:t>
            </a:r>
            <a:endParaRPr sz="1200"/>
          </a:p>
          <a:p>
            <a:pPr indent="0" lvl="0" marL="0" rtl="0" algn="l">
              <a:lnSpc>
                <a:spcPct val="115000"/>
              </a:lnSpc>
              <a:spcBef>
                <a:spcPts val="0"/>
              </a:spcBef>
              <a:spcAft>
                <a:spcPts val="0"/>
              </a:spcAft>
              <a:buNone/>
            </a:pPr>
            <a:r>
              <a:rPr lang="en-US" sz="1200"/>
              <a:t>   - Professional review dashboard for software teams.</a:t>
            </a:r>
            <a:endParaRPr sz="1200"/>
          </a:p>
          <a:p>
            <a:pPr indent="0" lvl="0" marL="0" rtl="0" algn="l">
              <a:lnSpc>
                <a:spcPct val="115000"/>
              </a:lnSpc>
              <a:spcBef>
                <a:spcPts val="0"/>
              </a:spcBef>
              <a:spcAft>
                <a:spcPts val="0"/>
              </a:spcAft>
              <a:buNone/>
            </a:pPr>
            <a:r>
              <a:rPr lang="en-US" sz="1200"/>
              <a:t>   - Approve or reject scenarios with ease.</a:t>
            </a:r>
            <a:endParaRPr sz="1200"/>
          </a:p>
        </p:txBody>
      </p:sp>
      <p:sp>
        <p:nvSpPr>
          <p:cNvPr id="444" name="Google Shape;444;g3f12f0a9926_0_66"/>
          <p:cNvSpPr txBox="1"/>
          <p:nvPr/>
        </p:nvSpPr>
        <p:spPr>
          <a:xfrm>
            <a:off x="4614000" y="1655650"/>
            <a:ext cx="4072800" cy="249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000"/>
              <a:t> </a:t>
            </a:r>
            <a:r>
              <a:rPr lang="en-US" sz="1200"/>
              <a:t> 3. AI Governance</a:t>
            </a:r>
            <a:endParaRPr sz="1200"/>
          </a:p>
          <a:p>
            <a:pPr indent="0" lvl="0" marL="0" rtl="0" algn="l">
              <a:lnSpc>
                <a:spcPct val="115000"/>
              </a:lnSpc>
              <a:spcBef>
                <a:spcPts val="0"/>
              </a:spcBef>
              <a:spcAft>
                <a:spcPts val="0"/>
              </a:spcAft>
              <a:buNone/>
            </a:pPr>
            <a:r>
              <a:rPr lang="en-US" sz="1200"/>
              <a:t>   - Strict guidelines for large language models.</a:t>
            </a:r>
            <a:endParaRPr sz="1200"/>
          </a:p>
          <a:p>
            <a:pPr indent="0" lvl="0" marL="0" rtl="0" algn="l">
              <a:lnSpc>
                <a:spcPct val="115000"/>
              </a:lnSpc>
              <a:spcBef>
                <a:spcPts val="0"/>
              </a:spcBef>
              <a:spcAft>
                <a:spcPts val="0"/>
              </a:spcAft>
              <a:buNone/>
            </a:pPr>
            <a:r>
              <a:rPr lang="en-US" sz="1200"/>
              <a:t>   - Responsible AI usage within testing frameworks.</a:t>
            </a:r>
            <a:endParaRPr sz="1200"/>
          </a:p>
          <a:p>
            <a:pPr indent="0" lvl="0" marL="0" rtl="0" algn="l">
              <a:lnSpc>
                <a:spcPct val="115000"/>
              </a:lnSpc>
              <a:spcBef>
                <a:spcPts val="0"/>
              </a:spcBef>
              <a:spcAft>
                <a:spcPts val="0"/>
              </a:spcAft>
              <a:buNone/>
            </a:pPr>
            <a:r>
              <a:rPr lang="en-US" sz="1200"/>
              <a:t>   - Peer review agents ensure objective auditing.</a:t>
            </a:r>
            <a:endParaRPr sz="1200"/>
          </a:p>
          <a:p>
            <a:pPr indent="0" lvl="0" marL="0" rtl="0" algn="l">
              <a:lnSpc>
                <a:spcPct val="115000"/>
              </a:lnSpc>
              <a:spcBef>
                <a:spcPts val="0"/>
              </a:spcBef>
              <a:spcAft>
                <a:spcPts val="0"/>
              </a:spcAft>
              <a:buNone/>
            </a:pPr>
            <a:r>
              <a:rPr lang="en-US" sz="1200"/>
              <a:t>   - Maintain transparency with AI usage summaries.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US" sz="1200"/>
              <a:t>  4. Risk Mitigation</a:t>
            </a:r>
            <a:endParaRPr sz="1200"/>
          </a:p>
          <a:p>
            <a:pPr indent="0" lvl="0" marL="0" rtl="0" algn="l">
              <a:lnSpc>
                <a:spcPct val="115000"/>
              </a:lnSpc>
              <a:spcBef>
                <a:spcPts val="0"/>
              </a:spcBef>
              <a:spcAft>
                <a:spcPts val="0"/>
              </a:spcAft>
              <a:buNone/>
            </a:pPr>
            <a:r>
              <a:rPr lang="en-US" sz="1200"/>
              <a:t>   - Detect missing edge cases very early.</a:t>
            </a:r>
            <a:endParaRPr sz="1200"/>
          </a:p>
          <a:p>
            <a:pPr indent="0" lvl="0" marL="0" rtl="0" algn="l">
              <a:lnSpc>
                <a:spcPct val="115000"/>
              </a:lnSpc>
              <a:spcBef>
                <a:spcPts val="0"/>
              </a:spcBef>
              <a:spcAft>
                <a:spcPts val="0"/>
              </a:spcAft>
              <a:buNone/>
            </a:pPr>
            <a:r>
              <a:rPr lang="en-US" sz="1200"/>
              <a:t>   - Prevent generic results through grounded context.</a:t>
            </a:r>
            <a:endParaRPr sz="1200"/>
          </a:p>
          <a:p>
            <a:pPr indent="0" lvl="0" marL="0" rtl="0" algn="l">
              <a:lnSpc>
                <a:spcPct val="115000"/>
              </a:lnSpc>
              <a:spcBef>
                <a:spcPts val="0"/>
              </a:spcBef>
              <a:spcAft>
                <a:spcPts val="0"/>
              </a:spcAft>
              <a:buNone/>
            </a:pPr>
            <a:r>
              <a:rPr lang="en-US" sz="1200"/>
              <a:t>   - Identify impacted features for regression safety.</a:t>
            </a:r>
            <a:endParaRPr sz="1200"/>
          </a:p>
          <a:p>
            <a:pPr indent="0" lvl="0" marL="0" rtl="0" algn="l">
              <a:lnSpc>
                <a:spcPct val="115000"/>
              </a:lnSpc>
              <a:spcBef>
                <a:spcPts val="0"/>
              </a:spcBef>
              <a:spcAft>
                <a:spcPts val="0"/>
              </a:spcAft>
              <a:buNone/>
            </a:pPr>
            <a:r>
              <a:rPr lang="en-US" sz="1200"/>
              <a:t>   - Reduce human errors in manual testing.</a:t>
            </a:r>
            <a:endParaRPr sz="12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descr="/tmp/band.png" id="450" name="Google Shape;450;g3f12f0a9926_0_85"/>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451" name="Google Shape;451;g3f12f0a9926_0_85"/>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pic>
        <p:nvPicPr>
          <p:cNvPr descr="/tmp/band.png" id="452" name="Google Shape;452;g3f12f0a9926_0_85"/>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453" name="Google Shape;453;g3f12f0a9926_0_85"/>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454" name="Google Shape;454;g3f12f0a9926_0_85"/>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500">
                <a:solidFill>
                  <a:srgbClr val="FFFFFF"/>
                </a:solidFill>
                <a:latin typeface="Calibri"/>
                <a:ea typeface="Calibri"/>
                <a:cs typeface="Calibri"/>
                <a:sym typeface="Calibri"/>
              </a:rPr>
              <a:t>Human-in-the-Loop Review Workflow </a:t>
            </a:r>
            <a:r>
              <a:rPr b="1" lang="en-US" sz="2500">
                <a:solidFill>
                  <a:schemeClr val="lt1"/>
                </a:solidFill>
                <a:latin typeface="Calibri"/>
                <a:ea typeface="Calibri"/>
                <a:cs typeface="Calibri"/>
                <a:sym typeface="Calibri"/>
              </a:rPr>
              <a:t>(implementation)</a:t>
            </a:r>
            <a:endParaRPr b="1" sz="2500">
              <a:solidFill>
                <a:srgbClr val="FFFFFF"/>
              </a:solidFill>
              <a:latin typeface="Calibri"/>
              <a:ea typeface="Calibri"/>
              <a:cs typeface="Calibri"/>
              <a:sym typeface="Calibri"/>
            </a:endParaRPr>
          </a:p>
        </p:txBody>
      </p:sp>
      <p:pic>
        <p:nvPicPr>
          <p:cNvPr id="455" name="Google Shape;455;g3f12f0a9926_0_85"/>
          <p:cNvPicPr preferRelativeResize="0"/>
          <p:nvPr/>
        </p:nvPicPr>
        <p:blipFill>
          <a:blip r:embed="rId4">
            <a:alphaModFix/>
          </a:blip>
          <a:stretch>
            <a:fillRect/>
          </a:stretch>
        </p:blipFill>
        <p:spPr>
          <a:xfrm>
            <a:off x="200825" y="992400"/>
            <a:ext cx="4322926" cy="2063075"/>
          </a:xfrm>
          <a:prstGeom prst="rect">
            <a:avLst/>
          </a:prstGeom>
          <a:noFill/>
          <a:ln>
            <a:noFill/>
          </a:ln>
        </p:spPr>
      </p:pic>
      <p:sp>
        <p:nvSpPr>
          <p:cNvPr id="456" name="Google Shape;456;g3f12f0a9926_0_85"/>
          <p:cNvSpPr txBox="1"/>
          <p:nvPr/>
        </p:nvSpPr>
        <p:spPr>
          <a:xfrm>
            <a:off x="366627" y="2980925"/>
            <a:ext cx="35319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US" sz="1200">
                <a:latin typeface="Calibri"/>
                <a:ea typeface="Calibri"/>
                <a:cs typeface="Calibri"/>
                <a:sym typeface="Calibri"/>
              </a:rPr>
              <a:t>Test Case Draft Review</a:t>
            </a:r>
            <a:endParaRPr sz="1200">
              <a:latin typeface="Calibri"/>
              <a:ea typeface="Calibri"/>
              <a:cs typeface="Calibri"/>
              <a:sym typeface="Calibri"/>
            </a:endParaRPr>
          </a:p>
        </p:txBody>
      </p:sp>
      <p:pic>
        <p:nvPicPr>
          <p:cNvPr id="457" name="Google Shape;457;g3f12f0a9926_0_85"/>
          <p:cNvPicPr preferRelativeResize="0"/>
          <p:nvPr/>
        </p:nvPicPr>
        <p:blipFill>
          <a:blip r:embed="rId5">
            <a:alphaModFix/>
          </a:blip>
          <a:stretch>
            <a:fillRect/>
          </a:stretch>
        </p:blipFill>
        <p:spPr>
          <a:xfrm>
            <a:off x="5089850" y="992402"/>
            <a:ext cx="3013099" cy="2441451"/>
          </a:xfrm>
          <a:prstGeom prst="rect">
            <a:avLst/>
          </a:prstGeom>
          <a:noFill/>
          <a:ln>
            <a:noFill/>
          </a:ln>
        </p:spPr>
      </p:pic>
      <p:sp>
        <p:nvSpPr>
          <p:cNvPr id="458" name="Google Shape;458;g3f12f0a9926_0_85"/>
          <p:cNvSpPr txBox="1"/>
          <p:nvPr/>
        </p:nvSpPr>
        <p:spPr>
          <a:xfrm>
            <a:off x="4757827" y="3464525"/>
            <a:ext cx="3531900" cy="58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US" sz="1200">
                <a:latin typeface="Calibri"/>
                <a:ea typeface="Calibri"/>
                <a:cs typeface="Calibri"/>
                <a:sym typeface="Calibri"/>
              </a:rPr>
              <a:t>User-controlled approval process before saving AI-generated test cases </a:t>
            </a:r>
            <a:endParaRPr sz="1200">
              <a:latin typeface="Calibri"/>
              <a:ea typeface="Calibri"/>
              <a:cs typeface="Calibri"/>
              <a:sym typeface="Calibri"/>
            </a:endParaRPr>
          </a:p>
        </p:txBody>
      </p:sp>
      <p:sp>
        <p:nvSpPr>
          <p:cNvPr id="459" name="Google Shape;459;g3f12f0a9926_0_85"/>
          <p:cNvSpPr/>
          <p:nvPr/>
        </p:nvSpPr>
        <p:spPr>
          <a:xfrm>
            <a:off x="5249075" y="1739825"/>
            <a:ext cx="2832500" cy="474175"/>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460" name="Google Shape;460;g3f12f0a9926_0_85"/>
          <p:cNvSpPr/>
          <p:nvPr/>
        </p:nvSpPr>
        <p:spPr>
          <a:xfrm>
            <a:off x="284500" y="967475"/>
            <a:ext cx="4379850" cy="636375"/>
          </a:xfrm>
          <a:prstGeom prst="flowChartProcess">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01E4A"/>
        </a:solidFill>
      </p:bgPr>
    </p:bg>
    <p:spTree>
      <p:nvGrpSpPr>
        <p:cNvPr id="465" name="Shape 465"/>
        <p:cNvGrpSpPr/>
        <p:nvPr/>
      </p:nvGrpSpPr>
      <p:grpSpPr>
        <a:xfrm>
          <a:off x="0" y="0"/>
          <a:ext cx="0" cy="0"/>
          <a:chOff x="0" y="0"/>
          <a:chExt cx="0" cy="0"/>
        </a:xfrm>
      </p:grpSpPr>
      <p:pic>
        <p:nvPicPr>
          <p:cNvPr descr="/tmp/divider.png" id="466" name="Google Shape;466;p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67" name="Google Shape;467;p1"/>
          <p:cNvSpPr/>
          <p:nvPr/>
        </p:nvSpPr>
        <p:spPr>
          <a:xfrm>
            <a:off x="0" y="1965960"/>
            <a:ext cx="9144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E4ED"/>
              </a:buClr>
              <a:buSzPts val="1300"/>
              <a:buFont typeface="Calibri"/>
              <a:buNone/>
            </a:pPr>
            <a:r>
              <a:rPr b="1" i="0" lang="en-US" sz="1300" u="none" cap="none" strike="noStrike">
                <a:solidFill>
                  <a:srgbClr val="FCE4ED"/>
                </a:solidFill>
                <a:latin typeface="Calibri"/>
                <a:ea typeface="Calibri"/>
                <a:cs typeface="Calibri"/>
                <a:sym typeface="Calibri"/>
              </a:rPr>
              <a:t>FINAL ITERATION  •  SPECCHECK</a:t>
            </a:r>
            <a:endParaRPr b="0" i="0" sz="1300" u="none" cap="none" strike="noStrike">
              <a:solidFill>
                <a:schemeClr val="dk1"/>
              </a:solidFill>
              <a:latin typeface="Calibri"/>
              <a:ea typeface="Calibri"/>
              <a:cs typeface="Calibri"/>
              <a:sym typeface="Calibri"/>
            </a:endParaRPr>
          </a:p>
        </p:txBody>
      </p:sp>
      <p:sp>
        <p:nvSpPr>
          <p:cNvPr id="468" name="Google Shape;468;p1"/>
          <p:cNvSpPr/>
          <p:nvPr/>
        </p:nvSpPr>
        <p:spPr>
          <a:xfrm>
            <a:off x="0" y="2286000"/>
            <a:ext cx="91440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Testing &amp; Quality Assurance</a:t>
            </a:r>
            <a:endParaRPr b="0" i="0" sz="4000" u="none" cap="none" strike="noStrike">
              <a:solidFill>
                <a:schemeClr val="dk1"/>
              </a:solidFill>
              <a:latin typeface="Calibri"/>
              <a:ea typeface="Calibri"/>
              <a:cs typeface="Calibri"/>
              <a:sym typeface="Calibri"/>
            </a:endParaRPr>
          </a:p>
        </p:txBody>
      </p:sp>
      <p:sp>
        <p:nvSpPr>
          <p:cNvPr id="469" name="Google Shape;469;p1"/>
          <p:cNvSpPr/>
          <p:nvPr/>
        </p:nvSpPr>
        <p:spPr>
          <a:xfrm>
            <a:off x="0" y="3063240"/>
            <a:ext cx="91440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E4ED"/>
              </a:buClr>
              <a:buSzPts val="1400"/>
              <a:buFont typeface="Calibri"/>
              <a:buNone/>
            </a:pPr>
            <a:r>
              <a:rPr b="0" i="0" lang="en-US" sz="1400" u="none" cap="none" strike="noStrike">
                <a:solidFill>
                  <a:srgbClr val="FCE4ED"/>
                </a:solidFill>
                <a:latin typeface="Calibri"/>
                <a:ea typeface="Calibri"/>
                <a:cs typeface="Calibri"/>
                <a:sym typeface="Calibri"/>
              </a:rPr>
              <a:t>Unit  •  Integration  •  Functional  •  System  •  Acceptance  •  Regression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4" name="Shape 474"/>
        <p:cNvGrpSpPr/>
        <p:nvPr/>
      </p:nvGrpSpPr>
      <p:grpSpPr>
        <a:xfrm>
          <a:off x="0" y="0"/>
          <a:ext cx="0" cy="0"/>
          <a:chOff x="0" y="0"/>
          <a:chExt cx="0" cy="0"/>
        </a:xfrm>
      </p:grpSpPr>
      <p:pic>
        <p:nvPicPr>
          <p:cNvPr descr="/tmp/band.png" id="475" name="Google Shape;475;p2"/>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476" name="Google Shape;476;p2"/>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OUR QA STRATEGY</a:t>
            </a:r>
            <a:endParaRPr b="0" i="0" sz="1000" u="none" cap="none" strike="noStrike">
              <a:solidFill>
                <a:schemeClr val="dk1"/>
              </a:solidFill>
              <a:latin typeface="Calibri"/>
              <a:ea typeface="Calibri"/>
              <a:cs typeface="Calibri"/>
              <a:sym typeface="Calibri"/>
            </a:endParaRPr>
          </a:p>
        </p:txBody>
      </p:sp>
      <p:sp>
        <p:nvSpPr>
          <p:cNvPr id="477" name="Google Shape;477;p2"/>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Testing Types</a:t>
            </a:r>
            <a:endParaRPr b="0" i="0" sz="2500" u="none" cap="none" strike="noStrike">
              <a:solidFill>
                <a:schemeClr val="dk1"/>
              </a:solidFill>
              <a:latin typeface="Calibri"/>
              <a:ea typeface="Calibri"/>
              <a:cs typeface="Calibri"/>
              <a:sym typeface="Calibri"/>
            </a:endParaRPr>
          </a:p>
        </p:txBody>
      </p:sp>
      <p:cxnSp>
        <p:nvCxnSpPr>
          <p:cNvPr id="478" name="Google Shape;478;p2"/>
          <p:cNvCxnSpPr/>
          <p:nvPr/>
        </p:nvCxnSpPr>
        <p:spPr>
          <a:xfrm>
            <a:off x="914400" y="1609344"/>
            <a:ext cx="7315200" cy="0"/>
          </a:xfrm>
          <a:prstGeom prst="straightConnector1">
            <a:avLst/>
          </a:prstGeom>
          <a:noFill/>
          <a:ln cap="flat" cmpd="sng" w="15875">
            <a:solidFill>
              <a:srgbClr val="F4AABF"/>
            </a:solidFill>
            <a:prstDash val="dash"/>
            <a:round/>
            <a:headEnd len="sm" w="sm" type="none"/>
            <a:tailEnd len="sm" w="sm" type="none"/>
          </a:ln>
        </p:spPr>
      </p:cxnSp>
      <p:sp>
        <p:nvSpPr>
          <p:cNvPr id="479" name="Google Shape;479;p2"/>
          <p:cNvSpPr/>
          <p:nvPr/>
        </p:nvSpPr>
        <p:spPr>
          <a:xfrm>
            <a:off x="768096" y="1234440"/>
            <a:ext cx="749808" cy="749808"/>
          </a:xfrm>
          <a:prstGeom prst="ellipse">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
          <p:cNvSpPr/>
          <p:nvPr/>
        </p:nvSpPr>
        <p:spPr>
          <a:xfrm>
            <a:off x="768096" y="1234440"/>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81" name="Google Shape;481;p2"/>
          <p:cNvSpPr/>
          <p:nvPr/>
        </p:nvSpPr>
        <p:spPr>
          <a:xfrm>
            <a:off x="457200" y="2121408"/>
            <a:ext cx="1371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500"/>
              <a:buFont typeface="Calibri"/>
              <a:buNone/>
            </a:pPr>
            <a:r>
              <a:rPr b="1" i="0" lang="en-US" sz="1500" u="none" cap="none" strike="noStrike">
                <a:solidFill>
                  <a:srgbClr val="2D2D2D"/>
                </a:solidFill>
                <a:latin typeface="Calibri"/>
                <a:ea typeface="Calibri"/>
                <a:cs typeface="Calibri"/>
                <a:sym typeface="Calibri"/>
              </a:rPr>
              <a:t>Unit</a:t>
            </a:r>
            <a:endParaRPr b="0" i="0" sz="1500" u="none" cap="none" strike="noStrike">
              <a:solidFill>
                <a:schemeClr val="dk1"/>
              </a:solidFill>
              <a:latin typeface="Calibri"/>
              <a:ea typeface="Calibri"/>
              <a:cs typeface="Calibri"/>
              <a:sym typeface="Calibri"/>
            </a:endParaRPr>
          </a:p>
        </p:txBody>
      </p:sp>
      <p:sp>
        <p:nvSpPr>
          <p:cNvPr id="482" name="Google Shape;482;p2"/>
          <p:cNvSpPr/>
          <p:nvPr/>
        </p:nvSpPr>
        <p:spPr>
          <a:xfrm>
            <a:off x="502920" y="2487168"/>
            <a:ext cx="1280160" cy="8686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Functions &amp; components tested in isolation</a:t>
            </a:r>
            <a:endParaRPr b="0" i="0" sz="1050" u="none" cap="none" strike="noStrike">
              <a:solidFill>
                <a:schemeClr val="dk1"/>
              </a:solidFill>
              <a:latin typeface="Calibri"/>
              <a:ea typeface="Calibri"/>
              <a:cs typeface="Calibri"/>
              <a:sym typeface="Calibri"/>
            </a:endParaRPr>
          </a:p>
        </p:txBody>
      </p:sp>
      <p:sp>
        <p:nvSpPr>
          <p:cNvPr id="483" name="Google Shape;483;p2"/>
          <p:cNvSpPr/>
          <p:nvPr/>
        </p:nvSpPr>
        <p:spPr>
          <a:xfrm>
            <a:off x="2139696" y="1234440"/>
            <a:ext cx="749808" cy="749808"/>
          </a:xfrm>
          <a:prstGeom prst="ellipse">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
          <p:cNvSpPr/>
          <p:nvPr/>
        </p:nvSpPr>
        <p:spPr>
          <a:xfrm>
            <a:off x="2139696" y="1234440"/>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485" name="Google Shape;485;p2"/>
          <p:cNvSpPr/>
          <p:nvPr/>
        </p:nvSpPr>
        <p:spPr>
          <a:xfrm>
            <a:off x="1828800" y="2121408"/>
            <a:ext cx="1371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500"/>
              <a:buFont typeface="Calibri"/>
              <a:buNone/>
            </a:pPr>
            <a:r>
              <a:rPr b="1" i="0" lang="en-US" sz="1500" u="none" cap="none" strike="noStrike">
                <a:solidFill>
                  <a:srgbClr val="2D2D2D"/>
                </a:solidFill>
                <a:latin typeface="Calibri"/>
                <a:ea typeface="Calibri"/>
                <a:cs typeface="Calibri"/>
                <a:sym typeface="Calibri"/>
              </a:rPr>
              <a:t>Integration</a:t>
            </a:r>
            <a:endParaRPr b="0" i="0" sz="1500" u="none" cap="none" strike="noStrike">
              <a:solidFill>
                <a:schemeClr val="dk1"/>
              </a:solidFill>
              <a:latin typeface="Calibri"/>
              <a:ea typeface="Calibri"/>
              <a:cs typeface="Calibri"/>
              <a:sym typeface="Calibri"/>
            </a:endParaRPr>
          </a:p>
        </p:txBody>
      </p:sp>
      <p:sp>
        <p:nvSpPr>
          <p:cNvPr id="486" name="Google Shape;486;p2"/>
          <p:cNvSpPr/>
          <p:nvPr/>
        </p:nvSpPr>
        <p:spPr>
          <a:xfrm>
            <a:off x="1874520" y="2487168"/>
            <a:ext cx="1280160" cy="8686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API routes &amp; component–data flows</a:t>
            </a:r>
            <a:endParaRPr b="0" i="0" sz="1050" u="none" cap="none" strike="noStrike">
              <a:solidFill>
                <a:schemeClr val="dk1"/>
              </a:solidFill>
              <a:latin typeface="Calibri"/>
              <a:ea typeface="Calibri"/>
              <a:cs typeface="Calibri"/>
              <a:sym typeface="Calibri"/>
            </a:endParaRPr>
          </a:p>
        </p:txBody>
      </p:sp>
      <p:sp>
        <p:nvSpPr>
          <p:cNvPr id="487" name="Google Shape;487;p2"/>
          <p:cNvSpPr/>
          <p:nvPr/>
        </p:nvSpPr>
        <p:spPr>
          <a:xfrm>
            <a:off x="3511296" y="1234440"/>
            <a:ext cx="749808" cy="749808"/>
          </a:xfrm>
          <a:prstGeom prst="ellipse">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
          <p:cNvSpPr/>
          <p:nvPr/>
        </p:nvSpPr>
        <p:spPr>
          <a:xfrm>
            <a:off x="3511296" y="1234440"/>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489" name="Google Shape;489;p2"/>
          <p:cNvSpPr/>
          <p:nvPr/>
        </p:nvSpPr>
        <p:spPr>
          <a:xfrm>
            <a:off x="3200400" y="2121408"/>
            <a:ext cx="1371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500"/>
              <a:buFont typeface="Calibri"/>
              <a:buNone/>
            </a:pPr>
            <a:r>
              <a:rPr b="1" i="0" lang="en-US" sz="1500" u="none" cap="none" strike="noStrike">
                <a:solidFill>
                  <a:srgbClr val="2D2D2D"/>
                </a:solidFill>
                <a:latin typeface="Calibri"/>
                <a:ea typeface="Calibri"/>
                <a:cs typeface="Calibri"/>
                <a:sym typeface="Calibri"/>
              </a:rPr>
              <a:t>Functional</a:t>
            </a:r>
            <a:endParaRPr b="0" i="0" sz="1500" u="none" cap="none" strike="noStrike">
              <a:solidFill>
                <a:schemeClr val="dk1"/>
              </a:solidFill>
              <a:latin typeface="Calibri"/>
              <a:ea typeface="Calibri"/>
              <a:cs typeface="Calibri"/>
              <a:sym typeface="Calibri"/>
            </a:endParaRPr>
          </a:p>
        </p:txBody>
      </p:sp>
      <p:sp>
        <p:nvSpPr>
          <p:cNvPr id="490" name="Google Shape;490;p2"/>
          <p:cNvSpPr/>
          <p:nvPr/>
        </p:nvSpPr>
        <p:spPr>
          <a:xfrm>
            <a:off x="3246120" y="2487168"/>
            <a:ext cx="1280160" cy="8686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Feature behaves per requirements</a:t>
            </a:r>
            <a:endParaRPr b="0" i="0" sz="1050" u="none" cap="none" strike="noStrike">
              <a:solidFill>
                <a:schemeClr val="dk1"/>
              </a:solidFill>
              <a:latin typeface="Calibri"/>
              <a:ea typeface="Calibri"/>
              <a:cs typeface="Calibri"/>
              <a:sym typeface="Calibri"/>
            </a:endParaRPr>
          </a:p>
        </p:txBody>
      </p:sp>
      <p:sp>
        <p:nvSpPr>
          <p:cNvPr id="491" name="Google Shape;491;p2"/>
          <p:cNvSpPr/>
          <p:nvPr/>
        </p:nvSpPr>
        <p:spPr>
          <a:xfrm>
            <a:off x="4882896" y="1234440"/>
            <a:ext cx="749808" cy="749808"/>
          </a:xfrm>
          <a:prstGeom prst="ellipse">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
          <p:cNvSpPr/>
          <p:nvPr/>
        </p:nvSpPr>
        <p:spPr>
          <a:xfrm>
            <a:off x="4882896" y="1234440"/>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493" name="Google Shape;493;p2"/>
          <p:cNvSpPr/>
          <p:nvPr/>
        </p:nvSpPr>
        <p:spPr>
          <a:xfrm>
            <a:off x="4572000" y="2121408"/>
            <a:ext cx="1371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500"/>
              <a:buFont typeface="Calibri"/>
              <a:buNone/>
            </a:pPr>
            <a:r>
              <a:rPr b="1" i="0" lang="en-US" sz="1500" u="none" cap="none" strike="noStrike">
                <a:solidFill>
                  <a:srgbClr val="2D2D2D"/>
                </a:solidFill>
                <a:latin typeface="Calibri"/>
                <a:ea typeface="Calibri"/>
                <a:cs typeface="Calibri"/>
                <a:sym typeface="Calibri"/>
              </a:rPr>
              <a:t>System</a:t>
            </a:r>
            <a:endParaRPr b="0" i="0" sz="1500" u="none" cap="none" strike="noStrike">
              <a:solidFill>
                <a:schemeClr val="dk1"/>
              </a:solidFill>
              <a:latin typeface="Calibri"/>
              <a:ea typeface="Calibri"/>
              <a:cs typeface="Calibri"/>
              <a:sym typeface="Calibri"/>
            </a:endParaRPr>
          </a:p>
        </p:txBody>
      </p:sp>
      <p:sp>
        <p:nvSpPr>
          <p:cNvPr id="494" name="Google Shape;494;p2"/>
          <p:cNvSpPr/>
          <p:nvPr/>
        </p:nvSpPr>
        <p:spPr>
          <a:xfrm>
            <a:off x="4617720" y="2487168"/>
            <a:ext cx="1280160" cy="8686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Whole app exercised via the live UI</a:t>
            </a:r>
            <a:endParaRPr b="0" i="0" sz="1050" u="none" cap="none" strike="noStrike">
              <a:solidFill>
                <a:schemeClr val="dk1"/>
              </a:solidFill>
              <a:latin typeface="Calibri"/>
              <a:ea typeface="Calibri"/>
              <a:cs typeface="Calibri"/>
              <a:sym typeface="Calibri"/>
            </a:endParaRPr>
          </a:p>
        </p:txBody>
      </p:sp>
      <p:sp>
        <p:nvSpPr>
          <p:cNvPr id="495" name="Google Shape;495;p2"/>
          <p:cNvSpPr/>
          <p:nvPr/>
        </p:nvSpPr>
        <p:spPr>
          <a:xfrm>
            <a:off x="6254496" y="1234440"/>
            <a:ext cx="749808" cy="749808"/>
          </a:xfrm>
          <a:prstGeom prst="ellipse">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
          <p:cNvSpPr/>
          <p:nvPr/>
        </p:nvSpPr>
        <p:spPr>
          <a:xfrm>
            <a:off x="6254496" y="1234440"/>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497" name="Google Shape;497;p2"/>
          <p:cNvSpPr/>
          <p:nvPr/>
        </p:nvSpPr>
        <p:spPr>
          <a:xfrm>
            <a:off x="5943600" y="2121408"/>
            <a:ext cx="1371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500"/>
              <a:buFont typeface="Calibri"/>
              <a:buNone/>
            </a:pPr>
            <a:r>
              <a:rPr b="1" i="0" lang="en-US" sz="1500" u="none" cap="none" strike="noStrike">
                <a:solidFill>
                  <a:srgbClr val="2D2D2D"/>
                </a:solidFill>
                <a:latin typeface="Calibri"/>
                <a:ea typeface="Calibri"/>
                <a:cs typeface="Calibri"/>
                <a:sym typeface="Calibri"/>
              </a:rPr>
              <a:t>Acceptance</a:t>
            </a:r>
            <a:endParaRPr b="0" i="0" sz="1500" u="none" cap="none" strike="noStrike">
              <a:solidFill>
                <a:schemeClr val="dk1"/>
              </a:solidFill>
              <a:latin typeface="Calibri"/>
              <a:ea typeface="Calibri"/>
              <a:cs typeface="Calibri"/>
              <a:sym typeface="Calibri"/>
            </a:endParaRPr>
          </a:p>
        </p:txBody>
      </p:sp>
      <p:sp>
        <p:nvSpPr>
          <p:cNvPr id="498" name="Google Shape;498;p2"/>
          <p:cNvSpPr/>
          <p:nvPr/>
        </p:nvSpPr>
        <p:spPr>
          <a:xfrm>
            <a:off x="5989320" y="2487168"/>
            <a:ext cx="1280160" cy="8686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User-story criteria in Gherkin BDD</a:t>
            </a:r>
            <a:endParaRPr b="0" i="0" sz="1050" u="none" cap="none" strike="noStrike">
              <a:solidFill>
                <a:schemeClr val="dk1"/>
              </a:solidFill>
              <a:latin typeface="Calibri"/>
              <a:ea typeface="Calibri"/>
              <a:cs typeface="Calibri"/>
              <a:sym typeface="Calibri"/>
            </a:endParaRPr>
          </a:p>
        </p:txBody>
      </p:sp>
      <p:sp>
        <p:nvSpPr>
          <p:cNvPr id="499" name="Google Shape;499;p2"/>
          <p:cNvSpPr/>
          <p:nvPr/>
        </p:nvSpPr>
        <p:spPr>
          <a:xfrm>
            <a:off x="7626096" y="1234440"/>
            <a:ext cx="749808" cy="749808"/>
          </a:xfrm>
          <a:prstGeom prst="ellipse">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
          <p:cNvSpPr/>
          <p:nvPr/>
        </p:nvSpPr>
        <p:spPr>
          <a:xfrm>
            <a:off x="7626096" y="1234440"/>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501" name="Google Shape;501;p2"/>
          <p:cNvSpPr/>
          <p:nvPr/>
        </p:nvSpPr>
        <p:spPr>
          <a:xfrm>
            <a:off x="7315200" y="2121408"/>
            <a:ext cx="1371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500"/>
              <a:buFont typeface="Calibri"/>
              <a:buNone/>
            </a:pPr>
            <a:r>
              <a:rPr b="1" i="0" lang="en-US" sz="1500" u="none" cap="none" strike="noStrike">
                <a:solidFill>
                  <a:srgbClr val="2D2D2D"/>
                </a:solidFill>
                <a:latin typeface="Calibri"/>
                <a:ea typeface="Calibri"/>
                <a:cs typeface="Calibri"/>
                <a:sym typeface="Calibri"/>
              </a:rPr>
              <a:t>Regression</a:t>
            </a:r>
            <a:endParaRPr b="0" i="0" sz="1500" u="none" cap="none" strike="noStrike">
              <a:solidFill>
                <a:schemeClr val="dk1"/>
              </a:solidFill>
              <a:latin typeface="Calibri"/>
              <a:ea typeface="Calibri"/>
              <a:cs typeface="Calibri"/>
              <a:sym typeface="Calibri"/>
            </a:endParaRPr>
          </a:p>
        </p:txBody>
      </p:sp>
      <p:sp>
        <p:nvSpPr>
          <p:cNvPr id="502" name="Google Shape;502;p2"/>
          <p:cNvSpPr/>
          <p:nvPr/>
        </p:nvSpPr>
        <p:spPr>
          <a:xfrm>
            <a:off x="7360920" y="2487168"/>
            <a:ext cx="1280160" cy="8686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Full suite re-run on every change</a:t>
            </a:r>
            <a:endParaRPr b="0" i="0" sz="1050" u="none" cap="none" strike="noStrike">
              <a:solidFill>
                <a:schemeClr val="dk1"/>
              </a:solidFill>
              <a:latin typeface="Calibri"/>
              <a:ea typeface="Calibri"/>
              <a:cs typeface="Calibri"/>
              <a:sym typeface="Calibri"/>
            </a:endParaRPr>
          </a:p>
        </p:txBody>
      </p:sp>
      <p:sp>
        <p:nvSpPr>
          <p:cNvPr id="503" name="Google Shape;503;p2"/>
          <p:cNvSpPr/>
          <p:nvPr/>
        </p:nvSpPr>
        <p:spPr>
          <a:xfrm>
            <a:off x="457200" y="411480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1100"/>
              <a:buFont typeface="Calibri"/>
              <a:buNone/>
            </a:pPr>
            <a:r>
              <a:rPr b="0" i="1" lang="en-US" sz="1100" u="none" cap="none" strike="noStrike">
                <a:solidFill>
                  <a:srgbClr val="A01E4A"/>
                </a:solidFill>
                <a:latin typeface="Calibri"/>
                <a:ea typeface="Calibri"/>
                <a:cs typeface="Calibri"/>
                <a:sym typeface="Calibri"/>
              </a:rPr>
              <a:t>These types overlap in practice — the Playwright BDD suite delivers functional, system, acceptance and regression coverage from one set of Gherkin scenarios, replacing most manual tests.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8" name="Shape 508"/>
        <p:cNvGrpSpPr/>
        <p:nvPr/>
      </p:nvGrpSpPr>
      <p:grpSpPr>
        <a:xfrm>
          <a:off x="0" y="0"/>
          <a:ext cx="0" cy="0"/>
          <a:chOff x="0" y="0"/>
          <a:chExt cx="0" cy="0"/>
        </a:xfrm>
      </p:grpSpPr>
      <p:pic>
        <p:nvPicPr>
          <p:cNvPr descr="/tmp/band.png" id="509" name="Google Shape;509;p3"/>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510" name="Google Shape;510;p3"/>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TESTING LIFECYCLE</a:t>
            </a:r>
            <a:endParaRPr b="0" i="0" sz="1000" u="none" cap="none" strike="noStrike">
              <a:solidFill>
                <a:schemeClr val="dk1"/>
              </a:solidFill>
              <a:latin typeface="Calibri"/>
              <a:ea typeface="Calibri"/>
              <a:cs typeface="Calibri"/>
              <a:sym typeface="Calibri"/>
            </a:endParaRPr>
          </a:p>
        </p:txBody>
      </p:sp>
      <p:sp>
        <p:nvSpPr>
          <p:cNvPr id="511" name="Google Shape;511;p3"/>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When Each Test Runs</a:t>
            </a:r>
            <a:endParaRPr b="0" i="0" sz="2500" u="none" cap="none" strike="noStrike">
              <a:solidFill>
                <a:schemeClr val="dk1"/>
              </a:solidFill>
              <a:latin typeface="Calibri"/>
              <a:ea typeface="Calibri"/>
              <a:cs typeface="Calibri"/>
              <a:sym typeface="Calibri"/>
            </a:endParaRPr>
          </a:p>
        </p:txBody>
      </p:sp>
      <p:graphicFrame>
        <p:nvGraphicFramePr>
          <p:cNvPr id="512" name="Google Shape;512;p3"/>
          <p:cNvGraphicFramePr/>
          <p:nvPr/>
        </p:nvGraphicFramePr>
        <p:xfrm>
          <a:off x="457200" y="1097280"/>
          <a:ext cx="3000000" cy="3000000"/>
        </p:xfrm>
        <a:graphic>
          <a:graphicData uri="http://schemas.openxmlformats.org/drawingml/2006/table">
            <a:tbl>
              <a:tblPr>
                <a:noFill/>
                <a:tableStyleId>{3A829425-CA47-42D2-BFA8-2A0952B3F607}</a:tableStyleId>
              </a:tblPr>
              <a:tblGrid>
                <a:gridCol w="1417325"/>
                <a:gridCol w="2743200"/>
                <a:gridCol w="4069075"/>
              </a:tblGrid>
              <a:tr h="45720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Type</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When Performed</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Example</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r>
              <a:tr h="45720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Unit</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During development, before each PR</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login.test.js — bad credentials return 401</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Integration</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During dev — API &amp; component flows</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POST /api/projects creates project, returns 201 (Supertest)</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Functional</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After each new feature is added</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Successful login &amp; logout (LGN-002)</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System</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End of each iteration</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Full upload → generate → export journey in a real browser</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Acceptance</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Per user story / at iteration demo</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Gherkin Given / When / Then on a user-story scenario</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Regression</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Every PR + before each demo</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Entire 200+ suite re-run via GitHub Actions</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bl>
          </a:graphicData>
        </a:graphic>
      </p:graphicFrame>
      <p:sp>
        <p:nvSpPr>
          <p:cNvPr id="513" name="Google Shape;513;p3"/>
          <p:cNvSpPr/>
          <p:nvPr/>
        </p:nvSpPr>
        <p:spPr>
          <a:xfrm>
            <a:off x="457200" y="452628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b="0" i="1" lang="en-US" sz="1100" u="none" cap="none" strike="noStrike">
                <a:solidFill>
                  <a:srgbClr val="666666"/>
                </a:solidFill>
                <a:latin typeface="Calibri"/>
                <a:ea typeface="Calibri"/>
                <a:cs typeface="Calibri"/>
                <a:sym typeface="Calibri"/>
              </a:rPr>
              <a:t>Left → right also reads as the testing pyramid:  </a:t>
            </a:r>
            <a:r>
              <a:rPr b="1" i="1" lang="en-US" sz="1100" u="none" cap="none" strike="noStrike">
                <a:solidFill>
                  <a:srgbClr val="A01E4A"/>
                </a:solidFill>
                <a:latin typeface="Calibri"/>
                <a:ea typeface="Calibri"/>
                <a:cs typeface="Calibri"/>
                <a:sym typeface="Calibri"/>
              </a:rPr>
              <a:t>many fast unit tests at the base, fewer broad system / acceptance tests at the top.</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8" name="Shape 518"/>
        <p:cNvGrpSpPr/>
        <p:nvPr/>
      </p:nvGrpSpPr>
      <p:grpSpPr>
        <a:xfrm>
          <a:off x="0" y="0"/>
          <a:ext cx="0" cy="0"/>
          <a:chOff x="0" y="0"/>
          <a:chExt cx="0" cy="0"/>
        </a:xfrm>
      </p:grpSpPr>
      <p:pic>
        <p:nvPicPr>
          <p:cNvPr descr="/tmp/band.png" id="519" name="Google Shape;519;p4"/>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520" name="Google Shape;520;p4"/>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COVERAGE</a:t>
            </a:r>
            <a:endParaRPr b="0" i="0" sz="1000" u="none" cap="none" strike="noStrike">
              <a:solidFill>
                <a:schemeClr val="dk1"/>
              </a:solidFill>
              <a:latin typeface="Calibri"/>
              <a:ea typeface="Calibri"/>
              <a:cs typeface="Calibri"/>
              <a:sym typeface="Calibri"/>
            </a:endParaRPr>
          </a:p>
        </p:txBody>
      </p:sp>
      <p:sp>
        <p:nvSpPr>
          <p:cNvPr id="521" name="Google Shape;521;p4"/>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Test Suite at a Glance</a:t>
            </a:r>
            <a:endParaRPr b="0" i="0" sz="2500" u="none" cap="none" strike="noStrike">
              <a:solidFill>
                <a:schemeClr val="dk1"/>
              </a:solidFill>
              <a:latin typeface="Calibri"/>
              <a:ea typeface="Calibri"/>
              <a:cs typeface="Calibri"/>
              <a:sym typeface="Calibri"/>
            </a:endParaRPr>
          </a:p>
        </p:txBody>
      </p:sp>
      <p:sp>
        <p:nvSpPr>
          <p:cNvPr id="522" name="Google Shape;522;p4"/>
          <p:cNvSpPr/>
          <p:nvPr/>
        </p:nvSpPr>
        <p:spPr>
          <a:xfrm>
            <a:off x="457200" y="1143000"/>
            <a:ext cx="1947672" cy="1371600"/>
          </a:xfrm>
          <a:prstGeom prst="roundRect">
            <a:avLst>
              <a:gd fmla="val 40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
          <p:cNvSpPr/>
          <p:nvPr/>
        </p:nvSpPr>
        <p:spPr>
          <a:xfrm>
            <a:off x="457200" y="1261872"/>
            <a:ext cx="194767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2B63"/>
              </a:buClr>
              <a:buSzPts val="4000"/>
              <a:buFont typeface="Calibri"/>
              <a:buNone/>
            </a:pPr>
            <a:r>
              <a:rPr b="1" i="0" lang="en-US" sz="4000" u="none" cap="none" strike="noStrike">
                <a:solidFill>
                  <a:srgbClr val="D12B63"/>
                </a:solidFill>
                <a:latin typeface="Calibri"/>
                <a:ea typeface="Calibri"/>
                <a:cs typeface="Calibri"/>
                <a:sym typeface="Calibri"/>
              </a:rPr>
              <a:t>162</a:t>
            </a:r>
            <a:endParaRPr b="0" i="0" sz="4000" u="none" cap="none" strike="noStrike">
              <a:solidFill>
                <a:schemeClr val="dk1"/>
              </a:solidFill>
              <a:latin typeface="Calibri"/>
              <a:ea typeface="Calibri"/>
              <a:cs typeface="Calibri"/>
              <a:sym typeface="Calibri"/>
            </a:endParaRPr>
          </a:p>
        </p:txBody>
      </p:sp>
      <p:sp>
        <p:nvSpPr>
          <p:cNvPr id="524" name="Google Shape;524;p4"/>
          <p:cNvSpPr/>
          <p:nvPr/>
        </p:nvSpPr>
        <p:spPr>
          <a:xfrm>
            <a:off x="457200" y="1938528"/>
            <a:ext cx="19476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200"/>
              <a:buFont typeface="Calibri"/>
              <a:buNone/>
            </a:pPr>
            <a:r>
              <a:rPr b="1" i="0" lang="en-US" sz="1200" u="none" cap="none" strike="noStrike">
                <a:solidFill>
                  <a:srgbClr val="2D2D2D"/>
                </a:solidFill>
                <a:latin typeface="Calibri"/>
                <a:ea typeface="Calibri"/>
                <a:cs typeface="Calibri"/>
                <a:sym typeface="Calibri"/>
              </a:rPr>
              <a:t>Unit tests</a:t>
            </a:r>
            <a:endParaRPr b="0" i="0" sz="1200" u="none" cap="none" strike="noStrike">
              <a:solidFill>
                <a:schemeClr val="dk1"/>
              </a:solidFill>
              <a:latin typeface="Calibri"/>
              <a:ea typeface="Calibri"/>
              <a:cs typeface="Calibri"/>
              <a:sym typeface="Calibri"/>
            </a:endParaRPr>
          </a:p>
        </p:txBody>
      </p:sp>
      <p:sp>
        <p:nvSpPr>
          <p:cNvPr id="525" name="Google Shape;525;p4"/>
          <p:cNvSpPr/>
          <p:nvPr/>
        </p:nvSpPr>
        <p:spPr>
          <a:xfrm>
            <a:off x="2478024" y="1143000"/>
            <a:ext cx="1947672" cy="1371600"/>
          </a:xfrm>
          <a:prstGeom prst="roundRect">
            <a:avLst>
              <a:gd fmla="val 40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
          <p:cNvSpPr/>
          <p:nvPr/>
        </p:nvSpPr>
        <p:spPr>
          <a:xfrm>
            <a:off x="2478024" y="1261872"/>
            <a:ext cx="194767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4000"/>
              <a:buFont typeface="Calibri"/>
              <a:buNone/>
            </a:pPr>
            <a:r>
              <a:rPr b="1" i="0" lang="en-US" sz="4000" u="none" cap="none" strike="noStrike">
                <a:solidFill>
                  <a:srgbClr val="A01E4A"/>
                </a:solidFill>
                <a:latin typeface="Calibri"/>
                <a:ea typeface="Calibri"/>
                <a:cs typeface="Calibri"/>
                <a:sym typeface="Calibri"/>
              </a:rPr>
              <a:t>46</a:t>
            </a:r>
            <a:endParaRPr b="0" i="0" sz="4000" u="none" cap="none" strike="noStrike">
              <a:solidFill>
                <a:schemeClr val="dk1"/>
              </a:solidFill>
              <a:latin typeface="Calibri"/>
              <a:ea typeface="Calibri"/>
              <a:cs typeface="Calibri"/>
              <a:sym typeface="Calibri"/>
            </a:endParaRPr>
          </a:p>
        </p:txBody>
      </p:sp>
      <p:sp>
        <p:nvSpPr>
          <p:cNvPr id="527" name="Google Shape;527;p4"/>
          <p:cNvSpPr/>
          <p:nvPr/>
        </p:nvSpPr>
        <p:spPr>
          <a:xfrm>
            <a:off x="2478024" y="1938528"/>
            <a:ext cx="19476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200"/>
              <a:buFont typeface="Calibri"/>
              <a:buNone/>
            </a:pPr>
            <a:r>
              <a:rPr b="1" i="0" lang="en-US" sz="1200" u="none" cap="none" strike="noStrike">
                <a:solidFill>
                  <a:srgbClr val="2D2D2D"/>
                </a:solidFill>
                <a:latin typeface="Calibri"/>
                <a:ea typeface="Calibri"/>
                <a:cs typeface="Calibri"/>
                <a:sym typeface="Calibri"/>
              </a:rPr>
              <a:t>E2E scenarios</a:t>
            </a:r>
            <a:endParaRPr b="0" i="0" sz="1200" u="none" cap="none" strike="noStrike">
              <a:solidFill>
                <a:schemeClr val="dk1"/>
              </a:solidFill>
              <a:latin typeface="Calibri"/>
              <a:ea typeface="Calibri"/>
              <a:cs typeface="Calibri"/>
              <a:sym typeface="Calibri"/>
            </a:endParaRPr>
          </a:p>
        </p:txBody>
      </p:sp>
      <p:sp>
        <p:nvSpPr>
          <p:cNvPr id="528" name="Google Shape;528;p4"/>
          <p:cNvSpPr/>
          <p:nvPr/>
        </p:nvSpPr>
        <p:spPr>
          <a:xfrm>
            <a:off x="4498848" y="1143000"/>
            <a:ext cx="1947672" cy="1371600"/>
          </a:xfrm>
          <a:prstGeom prst="roundRect">
            <a:avLst>
              <a:gd fmla="val 40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
          <p:cNvSpPr/>
          <p:nvPr/>
        </p:nvSpPr>
        <p:spPr>
          <a:xfrm>
            <a:off x="4498848" y="1261872"/>
            <a:ext cx="194767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2B63"/>
              </a:buClr>
              <a:buSzPts val="4000"/>
              <a:buFont typeface="Calibri"/>
              <a:buNone/>
            </a:pPr>
            <a:r>
              <a:rPr b="1" i="0" lang="en-US" sz="4000" u="none" cap="none" strike="noStrike">
                <a:solidFill>
                  <a:srgbClr val="D12B63"/>
                </a:solidFill>
                <a:latin typeface="Calibri"/>
                <a:ea typeface="Calibri"/>
                <a:cs typeface="Calibri"/>
                <a:sym typeface="Calibri"/>
              </a:rPr>
              <a:t>51</a:t>
            </a:r>
            <a:endParaRPr b="0" i="0" sz="4000" u="none" cap="none" strike="noStrike">
              <a:solidFill>
                <a:schemeClr val="dk1"/>
              </a:solidFill>
              <a:latin typeface="Calibri"/>
              <a:ea typeface="Calibri"/>
              <a:cs typeface="Calibri"/>
              <a:sym typeface="Calibri"/>
            </a:endParaRPr>
          </a:p>
        </p:txBody>
      </p:sp>
      <p:sp>
        <p:nvSpPr>
          <p:cNvPr id="530" name="Google Shape;530;p4"/>
          <p:cNvSpPr/>
          <p:nvPr/>
        </p:nvSpPr>
        <p:spPr>
          <a:xfrm>
            <a:off x="4498848" y="1938528"/>
            <a:ext cx="19476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200"/>
              <a:buFont typeface="Calibri"/>
              <a:buNone/>
            </a:pPr>
            <a:r>
              <a:rPr b="1" i="0" lang="en-US" sz="1200" u="none" cap="none" strike="noStrike">
                <a:solidFill>
                  <a:srgbClr val="2D2D2D"/>
                </a:solidFill>
                <a:latin typeface="Calibri"/>
                <a:ea typeface="Calibri"/>
                <a:cs typeface="Calibri"/>
                <a:sym typeface="Calibri"/>
              </a:rPr>
              <a:t>E2E executions</a:t>
            </a:r>
            <a:endParaRPr b="0" i="0" sz="1200" u="none" cap="none" strike="noStrike">
              <a:solidFill>
                <a:schemeClr val="dk1"/>
              </a:solidFill>
              <a:latin typeface="Calibri"/>
              <a:ea typeface="Calibri"/>
              <a:cs typeface="Calibri"/>
              <a:sym typeface="Calibri"/>
            </a:endParaRPr>
          </a:p>
        </p:txBody>
      </p:sp>
      <p:sp>
        <p:nvSpPr>
          <p:cNvPr id="531" name="Google Shape;531;p4"/>
          <p:cNvSpPr/>
          <p:nvPr/>
        </p:nvSpPr>
        <p:spPr>
          <a:xfrm>
            <a:off x="6519672" y="1143000"/>
            <a:ext cx="1947672" cy="1371600"/>
          </a:xfrm>
          <a:prstGeom prst="roundRect">
            <a:avLst>
              <a:gd fmla="val 40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
          <p:cNvSpPr/>
          <p:nvPr/>
        </p:nvSpPr>
        <p:spPr>
          <a:xfrm>
            <a:off x="6519672" y="1261872"/>
            <a:ext cx="194767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4000"/>
              <a:buFont typeface="Calibri"/>
              <a:buNone/>
            </a:pPr>
            <a:r>
              <a:rPr b="1" i="0" lang="en-US" sz="4000" u="none" cap="none" strike="noStrike">
                <a:solidFill>
                  <a:srgbClr val="A01E4A"/>
                </a:solidFill>
                <a:latin typeface="Calibri"/>
                <a:ea typeface="Calibri"/>
                <a:cs typeface="Calibri"/>
                <a:sym typeface="Calibri"/>
              </a:rPr>
              <a:t>208</a:t>
            </a:r>
            <a:endParaRPr b="0" i="0" sz="4000" u="none" cap="none" strike="noStrike">
              <a:solidFill>
                <a:schemeClr val="dk1"/>
              </a:solidFill>
              <a:latin typeface="Calibri"/>
              <a:ea typeface="Calibri"/>
              <a:cs typeface="Calibri"/>
              <a:sym typeface="Calibri"/>
            </a:endParaRPr>
          </a:p>
        </p:txBody>
      </p:sp>
      <p:sp>
        <p:nvSpPr>
          <p:cNvPr id="533" name="Google Shape;533;p4"/>
          <p:cNvSpPr/>
          <p:nvPr/>
        </p:nvSpPr>
        <p:spPr>
          <a:xfrm>
            <a:off x="6519672" y="1938528"/>
            <a:ext cx="19476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200"/>
              <a:buFont typeface="Calibri"/>
              <a:buNone/>
            </a:pPr>
            <a:r>
              <a:rPr b="1" i="0" lang="en-US" sz="1200" u="none" cap="none" strike="noStrike">
                <a:solidFill>
                  <a:srgbClr val="2D2D2D"/>
                </a:solidFill>
                <a:latin typeface="Calibri"/>
                <a:ea typeface="Calibri"/>
                <a:cs typeface="Calibri"/>
                <a:sym typeface="Calibri"/>
              </a:rPr>
              <a:t>Automated checks</a:t>
            </a:r>
            <a:endParaRPr b="0" i="0" sz="1200" u="none" cap="none" strike="noStrike">
              <a:solidFill>
                <a:schemeClr val="dk1"/>
              </a:solidFill>
              <a:latin typeface="Calibri"/>
              <a:ea typeface="Calibri"/>
              <a:cs typeface="Calibri"/>
              <a:sym typeface="Calibri"/>
            </a:endParaRPr>
          </a:p>
        </p:txBody>
      </p:sp>
      <p:sp>
        <p:nvSpPr>
          <p:cNvPr id="534" name="Google Shape;534;p4"/>
          <p:cNvSpPr/>
          <p:nvPr/>
        </p:nvSpPr>
        <p:spPr>
          <a:xfrm>
            <a:off x="457200" y="27432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400"/>
              <a:buFont typeface="Calibri"/>
              <a:buNone/>
            </a:pPr>
            <a:r>
              <a:rPr b="1" i="0" lang="en-US" sz="1400" u="none" cap="none" strike="noStrike">
                <a:solidFill>
                  <a:srgbClr val="2D2D2D"/>
                </a:solidFill>
                <a:latin typeface="Calibri"/>
                <a:ea typeface="Calibri"/>
                <a:cs typeface="Calibri"/>
                <a:sym typeface="Calibri"/>
              </a:rPr>
              <a:t>Automated coverage by layer</a:t>
            </a:r>
            <a:endParaRPr b="0" i="0" sz="1400" u="none" cap="none" strike="noStrike">
              <a:solidFill>
                <a:schemeClr val="dk1"/>
              </a:solidFill>
              <a:latin typeface="Calibri"/>
              <a:ea typeface="Calibri"/>
              <a:cs typeface="Calibri"/>
              <a:sym typeface="Calibri"/>
            </a:endParaRPr>
          </a:p>
        </p:txBody>
      </p:sp>
      <p:graphicFrame>
        <p:nvGraphicFramePr>
          <p:cNvPr id="535" name="Google Shape;535;p4"/>
          <p:cNvGraphicFramePr/>
          <p:nvPr/>
        </p:nvGraphicFramePr>
        <p:xfrm>
          <a:off x="457200" y="3108960"/>
          <a:ext cx="3000000" cy="3000000"/>
        </p:xfrm>
        <a:graphic>
          <a:graphicData uri="http://schemas.openxmlformats.org/drawingml/2006/table">
            <a:tbl>
              <a:tblPr>
                <a:noFill/>
                <a:tableStyleId>{3A829425-CA47-42D2-BFA8-2A0952B3F607}</a:tableStyleId>
              </a:tblPr>
              <a:tblGrid>
                <a:gridCol w="2468875"/>
                <a:gridCol w="3931925"/>
                <a:gridCol w="1828800"/>
              </a:tblGrid>
              <a:tr h="3840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Layer</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Framework</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Tests</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r>
              <a:tr h="384050">
                <a:tc>
                  <a:txBody>
                    <a:bodyPr/>
                    <a:lstStyle/>
                    <a:p>
                      <a:pPr indent="0" lvl="0" marL="0" marR="0" rtl="0" algn="l">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Backend unit</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Jest 29 + Supertest</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D2D"/>
                        </a:buClr>
                        <a:buSzPts val="1200"/>
                        <a:buFont typeface="Calibri"/>
                        <a:buNone/>
                      </a:pPr>
                      <a:r>
                        <a:rPr b="1" lang="en-US" sz="1200" u="none" cap="none" strike="noStrike">
                          <a:solidFill>
                            <a:srgbClr val="2D2D2D"/>
                          </a:solidFill>
                          <a:latin typeface="Calibri"/>
                          <a:ea typeface="Calibri"/>
                          <a:cs typeface="Calibri"/>
                          <a:sym typeface="Calibri"/>
                        </a:rPr>
                        <a:t>65</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Frontend unit</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Vitest 2 + React Testing Library</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D2D"/>
                        </a:buClr>
                        <a:buSzPts val="1200"/>
                        <a:buFont typeface="Calibri"/>
                        <a:buNone/>
                      </a:pPr>
                      <a:r>
                        <a:rPr b="1" lang="en-US" sz="1200" u="none" cap="none" strike="noStrike">
                          <a:solidFill>
                            <a:srgbClr val="2D2D2D"/>
                          </a:solidFill>
                          <a:latin typeface="Calibri"/>
                          <a:ea typeface="Calibri"/>
                          <a:cs typeface="Calibri"/>
                          <a:sym typeface="Calibri"/>
                        </a:rPr>
                        <a:t>97</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End-to-end / BDD</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Playwright 1.44 + pytest-bdd</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D2D"/>
                        </a:buClr>
                        <a:buSzPts val="1200"/>
                        <a:buFont typeface="Calibri"/>
                        <a:buNone/>
                      </a:pPr>
                      <a:r>
                        <a:rPr b="1" lang="en-US" sz="1200" u="none" cap="none" strike="noStrike">
                          <a:solidFill>
                            <a:srgbClr val="2D2D2D"/>
                          </a:solidFill>
                          <a:latin typeface="Calibri"/>
                          <a:ea typeface="Calibri"/>
                          <a:cs typeface="Calibri"/>
                          <a:sym typeface="Calibri"/>
                        </a:rPr>
                        <a:t>46  (51 runs)</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0" name="Shape 540"/>
        <p:cNvGrpSpPr/>
        <p:nvPr/>
      </p:nvGrpSpPr>
      <p:grpSpPr>
        <a:xfrm>
          <a:off x="0" y="0"/>
          <a:ext cx="0" cy="0"/>
          <a:chOff x="0" y="0"/>
          <a:chExt cx="0" cy="0"/>
        </a:xfrm>
      </p:grpSpPr>
      <p:pic>
        <p:nvPicPr>
          <p:cNvPr descr="/tmp/band.png" id="541" name="Google Shape;541;p5"/>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542" name="Google Shape;542;p5"/>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HUMAN-EXECUTED QA</a:t>
            </a:r>
            <a:endParaRPr b="0" i="0" sz="1000" u="none" cap="none" strike="noStrike">
              <a:solidFill>
                <a:schemeClr val="dk1"/>
              </a:solidFill>
              <a:latin typeface="Calibri"/>
              <a:ea typeface="Calibri"/>
              <a:cs typeface="Calibri"/>
              <a:sym typeface="Calibri"/>
            </a:endParaRPr>
          </a:p>
        </p:txBody>
      </p:sp>
      <p:sp>
        <p:nvSpPr>
          <p:cNvPr id="543" name="Google Shape;543;p5"/>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Manual Testing</a:t>
            </a:r>
            <a:endParaRPr b="0" i="0" sz="2500" u="none" cap="none" strike="noStrike">
              <a:solidFill>
                <a:schemeClr val="dk1"/>
              </a:solidFill>
              <a:latin typeface="Calibri"/>
              <a:ea typeface="Calibri"/>
              <a:cs typeface="Calibri"/>
              <a:sym typeface="Calibri"/>
            </a:endParaRPr>
          </a:p>
        </p:txBody>
      </p:sp>
      <p:sp>
        <p:nvSpPr>
          <p:cNvPr id="544" name="Google Shape;544;p5"/>
          <p:cNvSpPr/>
          <p:nvPr/>
        </p:nvSpPr>
        <p:spPr>
          <a:xfrm>
            <a:off x="457200" y="1097280"/>
            <a:ext cx="1947672" cy="1143000"/>
          </a:xfrm>
          <a:prstGeom prst="roundRect">
            <a:avLst>
              <a:gd fmla="val 48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
          <p:cNvSpPr/>
          <p:nvPr/>
        </p:nvSpPr>
        <p:spPr>
          <a:xfrm>
            <a:off x="457200" y="1188720"/>
            <a:ext cx="194767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2B63"/>
              </a:buClr>
              <a:buSzPts val="3600"/>
              <a:buFont typeface="Calibri"/>
              <a:buNone/>
            </a:pPr>
            <a:r>
              <a:rPr b="1" i="0" lang="en-US" sz="3600" u="none" cap="none" strike="noStrike">
                <a:solidFill>
                  <a:srgbClr val="D12B63"/>
                </a:solidFill>
                <a:latin typeface="Calibri"/>
                <a:ea typeface="Calibri"/>
                <a:cs typeface="Calibri"/>
                <a:sym typeface="Calibri"/>
              </a:rPr>
              <a:t>64</a:t>
            </a:r>
            <a:endParaRPr b="0" i="0" sz="3600" u="none" cap="none" strike="noStrike">
              <a:solidFill>
                <a:schemeClr val="dk1"/>
              </a:solidFill>
              <a:latin typeface="Calibri"/>
              <a:ea typeface="Calibri"/>
              <a:cs typeface="Calibri"/>
              <a:sym typeface="Calibri"/>
            </a:endParaRPr>
          </a:p>
        </p:txBody>
      </p:sp>
      <p:sp>
        <p:nvSpPr>
          <p:cNvPr id="546" name="Google Shape;546;p5"/>
          <p:cNvSpPr/>
          <p:nvPr/>
        </p:nvSpPr>
        <p:spPr>
          <a:xfrm>
            <a:off x="457200" y="1755648"/>
            <a:ext cx="194767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150"/>
              <a:buFont typeface="Calibri"/>
              <a:buNone/>
            </a:pPr>
            <a:r>
              <a:rPr b="1" i="0" lang="en-US" sz="1150" u="none" cap="none" strike="noStrike">
                <a:solidFill>
                  <a:srgbClr val="2D2D2D"/>
                </a:solidFill>
                <a:latin typeface="Calibri"/>
                <a:ea typeface="Calibri"/>
                <a:cs typeface="Calibri"/>
                <a:sym typeface="Calibri"/>
              </a:rPr>
              <a:t>Total cases</a:t>
            </a:r>
            <a:endParaRPr b="0" i="0" sz="1150" u="none" cap="none" strike="noStrike">
              <a:solidFill>
                <a:schemeClr val="dk1"/>
              </a:solidFill>
              <a:latin typeface="Calibri"/>
              <a:ea typeface="Calibri"/>
              <a:cs typeface="Calibri"/>
              <a:sym typeface="Calibri"/>
            </a:endParaRPr>
          </a:p>
        </p:txBody>
      </p:sp>
      <p:sp>
        <p:nvSpPr>
          <p:cNvPr id="547" name="Google Shape;547;p5"/>
          <p:cNvSpPr/>
          <p:nvPr/>
        </p:nvSpPr>
        <p:spPr>
          <a:xfrm>
            <a:off x="2478024" y="1097280"/>
            <a:ext cx="1947672" cy="1143000"/>
          </a:xfrm>
          <a:prstGeom prst="roundRect">
            <a:avLst>
              <a:gd fmla="val 48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5"/>
          <p:cNvSpPr/>
          <p:nvPr/>
        </p:nvSpPr>
        <p:spPr>
          <a:xfrm>
            <a:off x="2478024" y="1188720"/>
            <a:ext cx="194767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9E6A"/>
              </a:buClr>
              <a:buSzPts val="3600"/>
              <a:buFont typeface="Calibri"/>
              <a:buNone/>
            </a:pPr>
            <a:r>
              <a:rPr b="1" i="0" lang="en-US" sz="3600" u="none" cap="none" strike="noStrike">
                <a:solidFill>
                  <a:srgbClr val="1E9E6A"/>
                </a:solidFill>
                <a:latin typeface="Calibri"/>
                <a:ea typeface="Calibri"/>
                <a:cs typeface="Calibri"/>
                <a:sym typeface="Calibri"/>
              </a:rPr>
              <a:t>58</a:t>
            </a:r>
            <a:endParaRPr b="0" i="0" sz="3600" u="none" cap="none" strike="noStrike">
              <a:solidFill>
                <a:schemeClr val="dk1"/>
              </a:solidFill>
              <a:latin typeface="Calibri"/>
              <a:ea typeface="Calibri"/>
              <a:cs typeface="Calibri"/>
              <a:sym typeface="Calibri"/>
            </a:endParaRPr>
          </a:p>
        </p:txBody>
      </p:sp>
      <p:sp>
        <p:nvSpPr>
          <p:cNvPr id="549" name="Google Shape;549;p5"/>
          <p:cNvSpPr/>
          <p:nvPr/>
        </p:nvSpPr>
        <p:spPr>
          <a:xfrm>
            <a:off x="2478024" y="1755648"/>
            <a:ext cx="194767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150"/>
              <a:buFont typeface="Calibri"/>
              <a:buNone/>
            </a:pPr>
            <a:r>
              <a:rPr b="1" i="0" lang="en-US" sz="1150" u="none" cap="none" strike="noStrike">
                <a:solidFill>
                  <a:srgbClr val="2D2D2D"/>
                </a:solidFill>
                <a:latin typeface="Calibri"/>
                <a:ea typeface="Calibri"/>
                <a:cs typeface="Calibri"/>
                <a:sym typeface="Calibri"/>
              </a:rPr>
              <a:t>Pass</a:t>
            </a:r>
            <a:endParaRPr b="0" i="0" sz="1150" u="none" cap="none" strike="noStrike">
              <a:solidFill>
                <a:schemeClr val="dk1"/>
              </a:solidFill>
              <a:latin typeface="Calibri"/>
              <a:ea typeface="Calibri"/>
              <a:cs typeface="Calibri"/>
              <a:sym typeface="Calibri"/>
            </a:endParaRPr>
          </a:p>
        </p:txBody>
      </p:sp>
      <p:sp>
        <p:nvSpPr>
          <p:cNvPr id="550" name="Google Shape;550;p5"/>
          <p:cNvSpPr/>
          <p:nvPr/>
        </p:nvSpPr>
        <p:spPr>
          <a:xfrm>
            <a:off x="4498848" y="1097280"/>
            <a:ext cx="1947672" cy="1143000"/>
          </a:xfrm>
          <a:prstGeom prst="roundRect">
            <a:avLst>
              <a:gd fmla="val 48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5"/>
          <p:cNvSpPr/>
          <p:nvPr/>
        </p:nvSpPr>
        <p:spPr>
          <a:xfrm>
            <a:off x="4498848" y="1188720"/>
            <a:ext cx="194767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3600"/>
              <a:buFont typeface="Calibri"/>
              <a:buNone/>
            </a:pPr>
            <a:r>
              <a:rPr b="1" i="0" lang="en-US" sz="3600" u="none" cap="none" strike="noStrike">
                <a:solidFill>
                  <a:srgbClr val="C0392B"/>
                </a:solidFill>
                <a:latin typeface="Calibri"/>
                <a:ea typeface="Calibri"/>
                <a:cs typeface="Calibri"/>
                <a:sym typeface="Calibri"/>
              </a:rPr>
              <a:t>2</a:t>
            </a:r>
            <a:endParaRPr b="0" i="0" sz="3600" u="none" cap="none" strike="noStrike">
              <a:solidFill>
                <a:schemeClr val="dk1"/>
              </a:solidFill>
              <a:latin typeface="Calibri"/>
              <a:ea typeface="Calibri"/>
              <a:cs typeface="Calibri"/>
              <a:sym typeface="Calibri"/>
            </a:endParaRPr>
          </a:p>
        </p:txBody>
      </p:sp>
      <p:sp>
        <p:nvSpPr>
          <p:cNvPr id="552" name="Google Shape;552;p5"/>
          <p:cNvSpPr/>
          <p:nvPr/>
        </p:nvSpPr>
        <p:spPr>
          <a:xfrm>
            <a:off x="4498848" y="1755648"/>
            <a:ext cx="194767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150"/>
              <a:buFont typeface="Calibri"/>
              <a:buNone/>
            </a:pPr>
            <a:r>
              <a:rPr b="1" i="0" lang="en-US" sz="1150" u="none" cap="none" strike="noStrike">
                <a:solidFill>
                  <a:srgbClr val="2D2D2D"/>
                </a:solidFill>
                <a:latin typeface="Calibri"/>
                <a:ea typeface="Calibri"/>
                <a:cs typeface="Calibri"/>
                <a:sym typeface="Calibri"/>
              </a:rPr>
              <a:t>Fail</a:t>
            </a:r>
            <a:endParaRPr b="0" i="0" sz="1150" u="none" cap="none" strike="noStrike">
              <a:solidFill>
                <a:schemeClr val="dk1"/>
              </a:solidFill>
              <a:latin typeface="Calibri"/>
              <a:ea typeface="Calibri"/>
              <a:cs typeface="Calibri"/>
              <a:sym typeface="Calibri"/>
            </a:endParaRPr>
          </a:p>
        </p:txBody>
      </p:sp>
      <p:sp>
        <p:nvSpPr>
          <p:cNvPr id="553" name="Google Shape;553;p5"/>
          <p:cNvSpPr/>
          <p:nvPr/>
        </p:nvSpPr>
        <p:spPr>
          <a:xfrm>
            <a:off x="6519672" y="1097280"/>
            <a:ext cx="1947672" cy="1143000"/>
          </a:xfrm>
          <a:prstGeom prst="roundRect">
            <a:avLst>
              <a:gd fmla="val 48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5"/>
          <p:cNvSpPr/>
          <p:nvPr/>
        </p:nvSpPr>
        <p:spPr>
          <a:xfrm>
            <a:off x="6519672" y="1188720"/>
            <a:ext cx="194767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07A00"/>
              </a:buClr>
              <a:buSzPts val="3600"/>
              <a:buFont typeface="Calibri"/>
              <a:buNone/>
            </a:pPr>
            <a:r>
              <a:rPr b="1" lang="en-US" sz="3600">
                <a:solidFill>
                  <a:srgbClr val="B07A00"/>
                </a:solidFill>
                <a:latin typeface="Calibri"/>
                <a:ea typeface="Calibri"/>
                <a:cs typeface="Calibri"/>
                <a:sym typeface="Calibri"/>
              </a:rPr>
              <a:t>0</a:t>
            </a:r>
            <a:endParaRPr b="0" i="0" sz="3600" u="none" cap="none" strike="noStrike">
              <a:solidFill>
                <a:schemeClr val="dk1"/>
              </a:solidFill>
              <a:latin typeface="Calibri"/>
              <a:ea typeface="Calibri"/>
              <a:cs typeface="Calibri"/>
              <a:sym typeface="Calibri"/>
            </a:endParaRPr>
          </a:p>
        </p:txBody>
      </p:sp>
      <p:sp>
        <p:nvSpPr>
          <p:cNvPr id="555" name="Google Shape;555;p5"/>
          <p:cNvSpPr/>
          <p:nvPr/>
        </p:nvSpPr>
        <p:spPr>
          <a:xfrm>
            <a:off x="6519672" y="1755648"/>
            <a:ext cx="194767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150"/>
              <a:buFont typeface="Calibri"/>
              <a:buNone/>
            </a:pPr>
            <a:r>
              <a:rPr b="1" i="0" lang="en-US" sz="1150" u="none" cap="none" strike="noStrike">
                <a:solidFill>
                  <a:srgbClr val="2D2D2D"/>
                </a:solidFill>
                <a:latin typeface="Calibri"/>
                <a:ea typeface="Calibri"/>
                <a:cs typeface="Calibri"/>
                <a:sym typeface="Calibri"/>
              </a:rPr>
              <a:t>Not executed</a:t>
            </a:r>
            <a:endParaRPr b="0" i="0" sz="1150" u="none" cap="none" strike="noStrike">
              <a:solidFill>
                <a:schemeClr val="dk1"/>
              </a:solidFill>
              <a:latin typeface="Calibri"/>
              <a:ea typeface="Calibri"/>
              <a:cs typeface="Calibri"/>
              <a:sym typeface="Calibri"/>
            </a:endParaRPr>
          </a:p>
        </p:txBody>
      </p:sp>
      <p:sp>
        <p:nvSpPr>
          <p:cNvPr id="556" name="Google Shape;556;p5"/>
          <p:cNvSpPr/>
          <p:nvPr/>
        </p:nvSpPr>
        <p:spPr>
          <a:xfrm>
            <a:off x="457200" y="2487168"/>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300"/>
              <a:buFont typeface="Calibri"/>
              <a:buNone/>
            </a:pPr>
            <a:r>
              <a:rPr b="1" i="0" lang="en-US" sz="1300" u="none" cap="none" strike="noStrike">
                <a:solidFill>
                  <a:srgbClr val="2D2D2D"/>
                </a:solidFill>
                <a:latin typeface="Calibri"/>
                <a:ea typeface="Calibri"/>
                <a:cs typeface="Calibri"/>
                <a:sym typeface="Calibri"/>
              </a:rPr>
              <a:t>Priority Breakdown</a:t>
            </a:r>
            <a:endParaRPr b="0" i="0" sz="1300" u="none" cap="none" strike="noStrike">
              <a:solidFill>
                <a:schemeClr val="dk1"/>
              </a:solidFill>
              <a:latin typeface="Calibri"/>
              <a:ea typeface="Calibri"/>
              <a:cs typeface="Calibri"/>
              <a:sym typeface="Calibri"/>
            </a:endParaRPr>
          </a:p>
        </p:txBody>
      </p:sp>
      <p:sp>
        <p:nvSpPr>
          <p:cNvPr id="557" name="Google Shape;557;p5"/>
          <p:cNvSpPr/>
          <p:nvPr/>
        </p:nvSpPr>
        <p:spPr>
          <a:xfrm>
            <a:off x="457200" y="2862072"/>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Calibri"/>
              <a:buNone/>
            </a:pPr>
            <a:r>
              <a:rPr b="1" i="0" lang="en-US" sz="1100" u="none" cap="none" strike="noStrike">
                <a:solidFill>
                  <a:srgbClr val="2D2D2D"/>
                </a:solidFill>
                <a:latin typeface="Calibri"/>
                <a:ea typeface="Calibri"/>
                <a:cs typeface="Calibri"/>
                <a:sym typeface="Calibri"/>
              </a:rPr>
              <a:t>High</a:t>
            </a:r>
            <a:endParaRPr b="0" i="0" sz="1100" u="none" cap="none" strike="noStrike">
              <a:solidFill>
                <a:schemeClr val="dk1"/>
              </a:solidFill>
              <a:latin typeface="Calibri"/>
              <a:ea typeface="Calibri"/>
              <a:cs typeface="Calibri"/>
              <a:sym typeface="Calibri"/>
            </a:endParaRPr>
          </a:p>
        </p:txBody>
      </p:sp>
      <p:sp>
        <p:nvSpPr>
          <p:cNvPr id="558" name="Google Shape;558;p5"/>
          <p:cNvSpPr/>
          <p:nvPr/>
        </p:nvSpPr>
        <p:spPr>
          <a:xfrm>
            <a:off x="1417320" y="2880360"/>
            <a:ext cx="2377440" cy="237744"/>
          </a:xfrm>
          <a:prstGeom prst="roundRect">
            <a:avLst>
              <a:gd fmla="val 15385" name="adj"/>
            </a:avLst>
          </a:pr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5"/>
          <p:cNvSpPr/>
          <p:nvPr/>
        </p:nvSpPr>
        <p:spPr>
          <a:xfrm>
            <a:off x="1417320" y="2880360"/>
            <a:ext cx="2377440" cy="237744"/>
          </a:xfrm>
          <a:prstGeom prst="roundRect">
            <a:avLst>
              <a:gd fmla="val 15385"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5"/>
          <p:cNvSpPr/>
          <p:nvPr/>
        </p:nvSpPr>
        <p:spPr>
          <a:xfrm>
            <a:off x="3886200" y="2862072"/>
            <a:ext cx="457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33</a:t>
            </a:r>
            <a:endParaRPr b="0" i="0" sz="1100" u="none" cap="none" strike="noStrike">
              <a:solidFill>
                <a:schemeClr val="dk1"/>
              </a:solidFill>
              <a:latin typeface="Calibri"/>
              <a:ea typeface="Calibri"/>
              <a:cs typeface="Calibri"/>
              <a:sym typeface="Calibri"/>
            </a:endParaRPr>
          </a:p>
        </p:txBody>
      </p:sp>
      <p:sp>
        <p:nvSpPr>
          <p:cNvPr id="561" name="Google Shape;561;p5"/>
          <p:cNvSpPr/>
          <p:nvPr/>
        </p:nvSpPr>
        <p:spPr>
          <a:xfrm>
            <a:off x="457200" y="3319272"/>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Calibri"/>
              <a:buNone/>
            </a:pPr>
            <a:r>
              <a:rPr b="1" i="0" lang="en-US" sz="1100" u="none" cap="none" strike="noStrike">
                <a:solidFill>
                  <a:srgbClr val="2D2D2D"/>
                </a:solidFill>
                <a:latin typeface="Calibri"/>
                <a:ea typeface="Calibri"/>
                <a:cs typeface="Calibri"/>
                <a:sym typeface="Calibri"/>
              </a:rPr>
              <a:t>Medium</a:t>
            </a:r>
            <a:endParaRPr b="0" i="0" sz="1100" u="none" cap="none" strike="noStrike">
              <a:solidFill>
                <a:schemeClr val="dk1"/>
              </a:solidFill>
              <a:latin typeface="Calibri"/>
              <a:ea typeface="Calibri"/>
              <a:cs typeface="Calibri"/>
              <a:sym typeface="Calibri"/>
            </a:endParaRPr>
          </a:p>
        </p:txBody>
      </p:sp>
      <p:sp>
        <p:nvSpPr>
          <p:cNvPr id="562" name="Google Shape;562;p5"/>
          <p:cNvSpPr/>
          <p:nvPr/>
        </p:nvSpPr>
        <p:spPr>
          <a:xfrm>
            <a:off x="1417320" y="3337560"/>
            <a:ext cx="2377440" cy="237744"/>
          </a:xfrm>
          <a:prstGeom prst="roundRect">
            <a:avLst>
              <a:gd fmla="val 15385" name="adj"/>
            </a:avLst>
          </a:pr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5"/>
          <p:cNvSpPr/>
          <p:nvPr/>
        </p:nvSpPr>
        <p:spPr>
          <a:xfrm>
            <a:off x="1417320" y="3337560"/>
            <a:ext cx="1873135" cy="237744"/>
          </a:xfrm>
          <a:prstGeom prst="roundRect">
            <a:avLst>
              <a:gd fmla="val 15385"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5"/>
          <p:cNvSpPr/>
          <p:nvPr/>
        </p:nvSpPr>
        <p:spPr>
          <a:xfrm>
            <a:off x="3886200" y="3319272"/>
            <a:ext cx="457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26</a:t>
            </a:r>
            <a:endParaRPr b="0" i="0" sz="1100" u="none" cap="none" strike="noStrike">
              <a:solidFill>
                <a:schemeClr val="dk1"/>
              </a:solidFill>
              <a:latin typeface="Calibri"/>
              <a:ea typeface="Calibri"/>
              <a:cs typeface="Calibri"/>
              <a:sym typeface="Calibri"/>
            </a:endParaRPr>
          </a:p>
        </p:txBody>
      </p:sp>
      <p:sp>
        <p:nvSpPr>
          <p:cNvPr id="565" name="Google Shape;565;p5"/>
          <p:cNvSpPr/>
          <p:nvPr/>
        </p:nvSpPr>
        <p:spPr>
          <a:xfrm>
            <a:off x="457200" y="3776472"/>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Calibri"/>
              <a:buNone/>
            </a:pPr>
            <a:r>
              <a:rPr b="1" i="0" lang="en-US" sz="1100" u="none" cap="none" strike="noStrike">
                <a:solidFill>
                  <a:srgbClr val="2D2D2D"/>
                </a:solidFill>
                <a:latin typeface="Calibri"/>
                <a:ea typeface="Calibri"/>
                <a:cs typeface="Calibri"/>
                <a:sym typeface="Calibri"/>
              </a:rPr>
              <a:t>Low</a:t>
            </a:r>
            <a:endParaRPr b="0" i="0" sz="1100" u="none" cap="none" strike="noStrike">
              <a:solidFill>
                <a:schemeClr val="dk1"/>
              </a:solidFill>
              <a:latin typeface="Calibri"/>
              <a:ea typeface="Calibri"/>
              <a:cs typeface="Calibri"/>
              <a:sym typeface="Calibri"/>
            </a:endParaRPr>
          </a:p>
        </p:txBody>
      </p:sp>
      <p:sp>
        <p:nvSpPr>
          <p:cNvPr id="566" name="Google Shape;566;p5"/>
          <p:cNvSpPr/>
          <p:nvPr/>
        </p:nvSpPr>
        <p:spPr>
          <a:xfrm>
            <a:off x="1417320" y="3794760"/>
            <a:ext cx="2377440" cy="237744"/>
          </a:xfrm>
          <a:prstGeom prst="roundRect">
            <a:avLst>
              <a:gd fmla="val 15385" name="adj"/>
            </a:avLst>
          </a:pr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5"/>
          <p:cNvSpPr/>
          <p:nvPr/>
        </p:nvSpPr>
        <p:spPr>
          <a:xfrm>
            <a:off x="1417320" y="3794760"/>
            <a:ext cx="360218" cy="237744"/>
          </a:xfrm>
          <a:prstGeom prst="roundRect">
            <a:avLst>
              <a:gd fmla="val 15385"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5"/>
          <p:cNvSpPr/>
          <p:nvPr/>
        </p:nvSpPr>
        <p:spPr>
          <a:xfrm>
            <a:off x="3886200" y="3776472"/>
            <a:ext cx="457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569" name="Google Shape;569;p5"/>
          <p:cNvSpPr/>
          <p:nvPr/>
        </p:nvSpPr>
        <p:spPr>
          <a:xfrm>
            <a:off x="457200" y="4114800"/>
            <a:ext cx="4023360" cy="594360"/>
          </a:xfrm>
          <a:prstGeom prst="roundRect">
            <a:avLst>
              <a:gd fmla="val 9231" name="adj"/>
            </a:avLst>
          </a:prstGeom>
          <a:solidFill>
            <a:srgbClr val="FCE4ED"/>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5"/>
          <p:cNvSpPr/>
          <p:nvPr/>
        </p:nvSpPr>
        <p:spPr>
          <a:xfrm>
            <a:off x="640080" y="4114800"/>
            <a:ext cx="37490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600"/>
              <a:buFont typeface="Calibri"/>
              <a:buNone/>
            </a:pPr>
            <a:r>
              <a:rPr b="1" i="0" lang="en-US" sz="1600" u="none" cap="none" strike="noStrike">
                <a:solidFill>
                  <a:srgbClr val="D12B63"/>
                </a:solidFill>
                <a:latin typeface="Calibri"/>
                <a:ea typeface="Calibri"/>
                <a:cs typeface="Calibri"/>
                <a:sym typeface="Calibri"/>
              </a:rPr>
              <a:t>96.7%  </a:t>
            </a:r>
            <a:r>
              <a:rPr b="0" i="0" lang="en-US" sz="1100" u="none" cap="none" strike="noStrike">
                <a:solidFill>
                  <a:srgbClr val="2D2D2D"/>
                </a:solidFill>
                <a:latin typeface="Calibri"/>
                <a:ea typeface="Calibri"/>
                <a:cs typeface="Calibri"/>
                <a:sym typeface="Calibri"/>
              </a:rPr>
              <a:t>pass rate of executed cases (58 / 60)</a:t>
            </a:r>
            <a:endParaRPr b="0" i="0" sz="1600" u="none" cap="none" strike="noStrike">
              <a:solidFill>
                <a:schemeClr val="dk1"/>
              </a:solidFill>
              <a:latin typeface="Calibri"/>
              <a:ea typeface="Calibri"/>
              <a:cs typeface="Calibri"/>
              <a:sym typeface="Calibri"/>
            </a:endParaRPr>
          </a:p>
        </p:txBody>
      </p:sp>
      <p:sp>
        <p:nvSpPr>
          <p:cNvPr id="571" name="Google Shape;571;p5"/>
          <p:cNvSpPr/>
          <p:nvPr/>
        </p:nvSpPr>
        <p:spPr>
          <a:xfrm>
            <a:off x="4754880" y="2487168"/>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300"/>
              <a:buFont typeface="Calibri"/>
              <a:buNone/>
            </a:pPr>
            <a:r>
              <a:rPr b="1" i="0" lang="en-US" sz="1300" u="none" cap="none" strike="noStrike">
                <a:solidFill>
                  <a:srgbClr val="2D2D2D"/>
                </a:solidFill>
                <a:latin typeface="Calibri"/>
                <a:ea typeface="Calibri"/>
                <a:cs typeface="Calibri"/>
                <a:sym typeface="Calibri"/>
              </a:rPr>
              <a:t>Features Covered</a:t>
            </a:r>
            <a:endParaRPr b="0" i="0" sz="1300" u="none" cap="none" strike="noStrike">
              <a:solidFill>
                <a:schemeClr val="dk1"/>
              </a:solidFill>
              <a:latin typeface="Calibri"/>
              <a:ea typeface="Calibri"/>
              <a:cs typeface="Calibri"/>
              <a:sym typeface="Calibri"/>
            </a:endParaRPr>
          </a:p>
        </p:txBody>
      </p:sp>
      <p:sp>
        <p:nvSpPr>
          <p:cNvPr id="572" name="Google Shape;572;p5"/>
          <p:cNvSpPr/>
          <p:nvPr/>
        </p:nvSpPr>
        <p:spPr>
          <a:xfrm>
            <a:off x="4754880" y="2862072"/>
            <a:ext cx="3931920" cy="347472"/>
          </a:xfrm>
          <a:prstGeom prst="roundRect">
            <a:avLst>
              <a:gd fmla="val 15789"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
          <p:cNvSpPr/>
          <p:nvPr/>
        </p:nvSpPr>
        <p:spPr>
          <a:xfrm>
            <a:off x="4892040" y="2862072"/>
            <a:ext cx="2606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1" i="0" lang="en-US" sz="1050" u="none" cap="none" strike="noStrike">
                <a:solidFill>
                  <a:srgbClr val="2D2D2D"/>
                </a:solidFill>
                <a:latin typeface="Calibri"/>
                <a:ea typeface="Calibri"/>
                <a:cs typeface="Calibri"/>
                <a:sym typeface="Calibri"/>
              </a:rPr>
              <a:t>Document Management</a:t>
            </a:r>
            <a:endParaRPr b="0" i="0" sz="1050" u="none" cap="none" strike="noStrike">
              <a:solidFill>
                <a:schemeClr val="dk1"/>
              </a:solidFill>
              <a:latin typeface="Calibri"/>
              <a:ea typeface="Calibri"/>
              <a:cs typeface="Calibri"/>
              <a:sym typeface="Calibri"/>
            </a:endParaRPr>
          </a:p>
        </p:txBody>
      </p:sp>
      <p:sp>
        <p:nvSpPr>
          <p:cNvPr id="574" name="Google Shape;574;p5"/>
          <p:cNvSpPr/>
          <p:nvPr/>
        </p:nvSpPr>
        <p:spPr>
          <a:xfrm>
            <a:off x="7452360" y="2862072"/>
            <a:ext cx="64008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900"/>
              <a:buFont typeface="Calibri"/>
              <a:buNone/>
            </a:pPr>
            <a:r>
              <a:rPr b="0" i="0" lang="en-US" sz="900" u="none" cap="none" strike="noStrike">
                <a:solidFill>
                  <a:srgbClr val="666666"/>
                </a:solidFill>
                <a:latin typeface="Calibri"/>
                <a:ea typeface="Calibri"/>
                <a:cs typeface="Calibri"/>
                <a:sym typeface="Calibri"/>
              </a:rPr>
              <a:t>Iter 1</a:t>
            </a:r>
            <a:endParaRPr b="0" i="0" sz="900" u="none" cap="none" strike="noStrike">
              <a:solidFill>
                <a:schemeClr val="dk1"/>
              </a:solidFill>
              <a:latin typeface="Calibri"/>
              <a:ea typeface="Calibri"/>
              <a:cs typeface="Calibri"/>
              <a:sym typeface="Calibri"/>
            </a:endParaRPr>
          </a:p>
        </p:txBody>
      </p:sp>
      <p:sp>
        <p:nvSpPr>
          <p:cNvPr id="575" name="Google Shape;575;p5"/>
          <p:cNvSpPr/>
          <p:nvPr/>
        </p:nvSpPr>
        <p:spPr>
          <a:xfrm>
            <a:off x="8138160" y="2862072"/>
            <a:ext cx="41148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20</a:t>
            </a:r>
            <a:endParaRPr b="0" i="0" sz="1100" u="none" cap="none" strike="noStrike">
              <a:solidFill>
                <a:schemeClr val="dk1"/>
              </a:solidFill>
              <a:latin typeface="Calibri"/>
              <a:ea typeface="Calibri"/>
              <a:cs typeface="Calibri"/>
              <a:sym typeface="Calibri"/>
            </a:endParaRPr>
          </a:p>
        </p:txBody>
      </p:sp>
      <p:sp>
        <p:nvSpPr>
          <p:cNvPr id="576" name="Google Shape;576;p5"/>
          <p:cNvSpPr/>
          <p:nvPr/>
        </p:nvSpPr>
        <p:spPr>
          <a:xfrm>
            <a:off x="4754880" y="3255264"/>
            <a:ext cx="3931920" cy="347472"/>
          </a:xfrm>
          <a:prstGeom prst="roundRect">
            <a:avLst>
              <a:gd fmla="val 15789"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5"/>
          <p:cNvSpPr/>
          <p:nvPr/>
        </p:nvSpPr>
        <p:spPr>
          <a:xfrm>
            <a:off x="4892040" y="3255264"/>
            <a:ext cx="2606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1" i="0" lang="en-US" sz="1050" u="none" cap="none" strike="noStrike">
                <a:solidFill>
                  <a:srgbClr val="2D2D2D"/>
                </a:solidFill>
                <a:latin typeface="Calibri"/>
                <a:ea typeface="Calibri"/>
                <a:cs typeface="Calibri"/>
                <a:sym typeface="Calibri"/>
              </a:rPr>
              <a:t>Login / Registration / Logout</a:t>
            </a:r>
            <a:endParaRPr b="0" i="0" sz="1050" u="none" cap="none" strike="noStrike">
              <a:solidFill>
                <a:schemeClr val="dk1"/>
              </a:solidFill>
              <a:latin typeface="Calibri"/>
              <a:ea typeface="Calibri"/>
              <a:cs typeface="Calibri"/>
              <a:sym typeface="Calibri"/>
            </a:endParaRPr>
          </a:p>
        </p:txBody>
      </p:sp>
      <p:sp>
        <p:nvSpPr>
          <p:cNvPr id="578" name="Google Shape;578;p5"/>
          <p:cNvSpPr/>
          <p:nvPr/>
        </p:nvSpPr>
        <p:spPr>
          <a:xfrm>
            <a:off x="7452360" y="3255264"/>
            <a:ext cx="64008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900"/>
              <a:buFont typeface="Calibri"/>
              <a:buNone/>
            </a:pPr>
            <a:r>
              <a:rPr b="0" i="0" lang="en-US" sz="900" u="none" cap="none" strike="noStrike">
                <a:solidFill>
                  <a:srgbClr val="666666"/>
                </a:solidFill>
                <a:latin typeface="Calibri"/>
                <a:ea typeface="Calibri"/>
                <a:cs typeface="Calibri"/>
                <a:sym typeface="Calibri"/>
              </a:rPr>
              <a:t>Iter 2</a:t>
            </a:r>
            <a:endParaRPr b="0" i="0" sz="900" u="none" cap="none" strike="noStrike">
              <a:solidFill>
                <a:schemeClr val="dk1"/>
              </a:solidFill>
              <a:latin typeface="Calibri"/>
              <a:ea typeface="Calibri"/>
              <a:cs typeface="Calibri"/>
              <a:sym typeface="Calibri"/>
            </a:endParaRPr>
          </a:p>
        </p:txBody>
      </p:sp>
      <p:sp>
        <p:nvSpPr>
          <p:cNvPr id="579" name="Google Shape;579;p5"/>
          <p:cNvSpPr/>
          <p:nvPr/>
        </p:nvSpPr>
        <p:spPr>
          <a:xfrm>
            <a:off x="8138160" y="3255264"/>
            <a:ext cx="41148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11</a:t>
            </a:r>
            <a:endParaRPr b="0" i="0" sz="1100" u="none" cap="none" strike="noStrike">
              <a:solidFill>
                <a:schemeClr val="dk1"/>
              </a:solidFill>
              <a:latin typeface="Calibri"/>
              <a:ea typeface="Calibri"/>
              <a:cs typeface="Calibri"/>
              <a:sym typeface="Calibri"/>
            </a:endParaRPr>
          </a:p>
        </p:txBody>
      </p:sp>
      <p:sp>
        <p:nvSpPr>
          <p:cNvPr id="580" name="Google Shape;580;p5"/>
          <p:cNvSpPr/>
          <p:nvPr/>
        </p:nvSpPr>
        <p:spPr>
          <a:xfrm>
            <a:off x="4754880" y="3648456"/>
            <a:ext cx="3931920" cy="347472"/>
          </a:xfrm>
          <a:prstGeom prst="roundRect">
            <a:avLst>
              <a:gd fmla="val 15789"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5"/>
          <p:cNvSpPr/>
          <p:nvPr/>
        </p:nvSpPr>
        <p:spPr>
          <a:xfrm>
            <a:off x="4892040" y="3648456"/>
            <a:ext cx="2606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1" i="0" lang="en-US" sz="1050" u="none" cap="none" strike="noStrike">
                <a:solidFill>
                  <a:srgbClr val="2D2D2D"/>
                </a:solidFill>
                <a:latin typeface="Calibri"/>
                <a:ea typeface="Calibri"/>
                <a:cs typeface="Calibri"/>
                <a:sym typeface="Calibri"/>
              </a:rPr>
              <a:t>Projects Dashboard</a:t>
            </a:r>
            <a:endParaRPr b="0" i="0" sz="1050" u="none" cap="none" strike="noStrike">
              <a:solidFill>
                <a:schemeClr val="dk1"/>
              </a:solidFill>
              <a:latin typeface="Calibri"/>
              <a:ea typeface="Calibri"/>
              <a:cs typeface="Calibri"/>
              <a:sym typeface="Calibri"/>
            </a:endParaRPr>
          </a:p>
        </p:txBody>
      </p:sp>
      <p:sp>
        <p:nvSpPr>
          <p:cNvPr id="582" name="Google Shape;582;p5"/>
          <p:cNvSpPr/>
          <p:nvPr/>
        </p:nvSpPr>
        <p:spPr>
          <a:xfrm>
            <a:off x="7452360" y="3648456"/>
            <a:ext cx="64008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900"/>
              <a:buFont typeface="Calibri"/>
              <a:buNone/>
            </a:pPr>
            <a:r>
              <a:rPr b="0" i="0" lang="en-US" sz="900" u="none" cap="none" strike="noStrike">
                <a:solidFill>
                  <a:srgbClr val="666666"/>
                </a:solidFill>
                <a:latin typeface="Calibri"/>
                <a:ea typeface="Calibri"/>
                <a:cs typeface="Calibri"/>
                <a:sym typeface="Calibri"/>
              </a:rPr>
              <a:t>Iter 2</a:t>
            </a:r>
            <a:endParaRPr b="0" i="0" sz="900" u="none" cap="none" strike="noStrike">
              <a:solidFill>
                <a:schemeClr val="dk1"/>
              </a:solidFill>
              <a:latin typeface="Calibri"/>
              <a:ea typeface="Calibri"/>
              <a:cs typeface="Calibri"/>
              <a:sym typeface="Calibri"/>
            </a:endParaRPr>
          </a:p>
        </p:txBody>
      </p:sp>
      <p:sp>
        <p:nvSpPr>
          <p:cNvPr id="583" name="Google Shape;583;p5"/>
          <p:cNvSpPr/>
          <p:nvPr/>
        </p:nvSpPr>
        <p:spPr>
          <a:xfrm>
            <a:off x="8138160" y="3648456"/>
            <a:ext cx="41148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11</a:t>
            </a:r>
            <a:endParaRPr b="0" i="0" sz="1100" u="none" cap="none" strike="noStrike">
              <a:solidFill>
                <a:schemeClr val="dk1"/>
              </a:solidFill>
              <a:latin typeface="Calibri"/>
              <a:ea typeface="Calibri"/>
              <a:cs typeface="Calibri"/>
              <a:sym typeface="Calibri"/>
            </a:endParaRPr>
          </a:p>
        </p:txBody>
      </p:sp>
      <p:sp>
        <p:nvSpPr>
          <p:cNvPr id="584" name="Google Shape;584;p5"/>
          <p:cNvSpPr/>
          <p:nvPr/>
        </p:nvSpPr>
        <p:spPr>
          <a:xfrm>
            <a:off x="4754880" y="4041648"/>
            <a:ext cx="3931920" cy="347472"/>
          </a:xfrm>
          <a:prstGeom prst="roundRect">
            <a:avLst>
              <a:gd fmla="val 15789"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5"/>
          <p:cNvSpPr/>
          <p:nvPr/>
        </p:nvSpPr>
        <p:spPr>
          <a:xfrm>
            <a:off x="4892040" y="4041648"/>
            <a:ext cx="2606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1" i="0" lang="en-US" sz="1050" u="none" cap="none" strike="noStrike">
                <a:solidFill>
                  <a:srgbClr val="2D2D2D"/>
                </a:solidFill>
                <a:latin typeface="Calibri"/>
                <a:ea typeface="Calibri"/>
                <a:cs typeface="Calibri"/>
                <a:sym typeface="Calibri"/>
              </a:rPr>
              <a:t>Generate Test Cases modal</a:t>
            </a:r>
            <a:endParaRPr b="0" i="0" sz="1050" u="none" cap="none" strike="noStrike">
              <a:solidFill>
                <a:schemeClr val="dk1"/>
              </a:solidFill>
              <a:latin typeface="Calibri"/>
              <a:ea typeface="Calibri"/>
              <a:cs typeface="Calibri"/>
              <a:sym typeface="Calibri"/>
            </a:endParaRPr>
          </a:p>
        </p:txBody>
      </p:sp>
      <p:sp>
        <p:nvSpPr>
          <p:cNvPr id="586" name="Google Shape;586;p5"/>
          <p:cNvSpPr/>
          <p:nvPr/>
        </p:nvSpPr>
        <p:spPr>
          <a:xfrm>
            <a:off x="7452360" y="4041648"/>
            <a:ext cx="64008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900"/>
              <a:buFont typeface="Calibri"/>
              <a:buNone/>
            </a:pPr>
            <a:r>
              <a:rPr b="0" i="0" lang="en-US" sz="900" u="none" cap="none" strike="noStrike">
                <a:solidFill>
                  <a:srgbClr val="666666"/>
                </a:solidFill>
                <a:latin typeface="Calibri"/>
                <a:ea typeface="Calibri"/>
                <a:cs typeface="Calibri"/>
                <a:sym typeface="Calibri"/>
              </a:rPr>
              <a:t>Iter 2</a:t>
            </a:r>
            <a:endParaRPr b="0" i="0" sz="900" u="none" cap="none" strike="noStrike">
              <a:solidFill>
                <a:schemeClr val="dk1"/>
              </a:solidFill>
              <a:latin typeface="Calibri"/>
              <a:ea typeface="Calibri"/>
              <a:cs typeface="Calibri"/>
              <a:sym typeface="Calibri"/>
            </a:endParaRPr>
          </a:p>
        </p:txBody>
      </p:sp>
      <p:sp>
        <p:nvSpPr>
          <p:cNvPr id="587" name="Google Shape;587;p5"/>
          <p:cNvSpPr/>
          <p:nvPr/>
        </p:nvSpPr>
        <p:spPr>
          <a:xfrm>
            <a:off x="8138160" y="4041648"/>
            <a:ext cx="41148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11</a:t>
            </a:r>
            <a:endParaRPr b="0" i="0" sz="1100" u="none" cap="none" strike="noStrike">
              <a:solidFill>
                <a:schemeClr val="dk1"/>
              </a:solidFill>
              <a:latin typeface="Calibri"/>
              <a:ea typeface="Calibri"/>
              <a:cs typeface="Calibri"/>
              <a:sym typeface="Calibri"/>
            </a:endParaRPr>
          </a:p>
        </p:txBody>
      </p:sp>
      <p:sp>
        <p:nvSpPr>
          <p:cNvPr id="588" name="Google Shape;588;p5"/>
          <p:cNvSpPr/>
          <p:nvPr/>
        </p:nvSpPr>
        <p:spPr>
          <a:xfrm>
            <a:off x="4754880" y="4434840"/>
            <a:ext cx="3931920" cy="347472"/>
          </a:xfrm>
          <a:prstGeom prst="roundRect">
            <a:avLst>
              <a:gd fmla="val 15789"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5"/>
          <p:cNvSpPr/>
          <p:nvPr/>
        </p:nvSpPr>
        <p:spPr>
          <a:xfrm>
            <a:off x="4892040" y="4434840"/>
            <a:ext cx="2606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1" i="0" lang="en-US" sz="1050" u="none" cap="none" strike="noStrike">
                <a:solidFill>
                  <a:srgbClr val="2D2D2D"/>
                </a:solidFill>
                <a:latin typeface="Calibri"/>
                <a:ea typeface="Calibri"/>
                <a:cs typeface="Calibri"/>
                <a:sym typeface="Calibri"/>
              </a:rPr>
              <a:t>Create Manual Test Case modal</a:t>
            </a:r>
            <a:endParaRPr b="0" i="0" sz="1050" u="none" cap="none" strike="noStrike">
              <a:solidFill>
                <a:schemeClr val="dk1"/>
              </a:solidFill>
              <a:latin typeface="Calibri"/>
              <a:ea typeface="Calibri"/>
              <a:cs typeface="Calibri"/>
              <a:sym typeface="Calibri"/>
            </a:endParaRPr>
          </a:p>
        </p:txBody>
      </p:sp>
      <p:sp>
        <p:nvSpPr>
          <p:cNvPr id="590" name="Google Shape;590;p5"/>
          <p:cNvSpPr/>
          <p:nvPr/>
        </p:nvSpPr>
        <p:spPr>
          <a:xfrm>
            <a:off x="7452360" y="4434840"/>
            <a:ext cx="64008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900"/>
              <a:buFont typeface="Calibri"/>
              <a:buNone/>
            </a:pPr>
            <a:r>
              <a:rPr b="0" i="0" lang="en-US" sz="900" u="none" cap="none" strike="noStrike">
                <a:solidFill>
                  <a:srgbClr val="666666"/>
                </a:solidFill>
                <a:latin typeface="Calibri"/>
                <a:ea typeface="Calibri"/>
                <a:cs typeface="Calibri"/>
                <a:sym typeface="Calibri"/>
              </a:rPr>
              <a:t>Iter 2</a:t>
            </a:r>
            <a:endParaRPr b="0" i="0" sz="900" u="none" cap="none" strike="noStrike">
              <a:solidFill>
                <a:schemeClr val="dk1"/>
              </a:solidFill>
              <a:latin typeface="Calibri"/>
              <a:ea typeface="Calibri"/>
              <a:cs typeface="Calibri"/>
              <a:sym typeface="Calibri"/>
            </a:endParaRPr>
          </a:p>
        </p:txBody>
      </p:sp>
      <p:sp>
        <p:nvSpPr>
          <p:cNvPr id="591" name="Google Shape;591;p5"/>
          <p:cNvSpPr/>
          <p:nvPr/>
        </p:nvSpPr>
        <p:spPr>
          <a:xfrm>
            <a:off x="8138160" y="4434840"/>
            <a:ext cx="41148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11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6" name="Shape 596"/>
        <p:cNvGrpSpPr/>
        <p:nvPr/>
      </p:nvGrpSpPr>
      <p:grpSpPr>
        <a:xfrm>
          <a:off x="0" y="0"/>
          <a:ext cx="0" cy="0"/>
          <a:chOff x="0" y="0"/>
          <a:chExt cx="0" cy="0"/>
        </a:xfrm>
      </p:grpSpPr>
      <p:pic>
        <p:nvPicPr>
          <p:cNvPr descr="/tmp/band.png" id="597" name="Google Shape;597;p6"/>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598" name="Google Shape;598;p6"/>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END-TO-END</a:t>
            </a:r>
            <a:endParaRPr b="0" i="0" sz="1000" u="none" cap="none" strike="noStrike">
              <a:solidFill>
                <a:schemeClr val="dk1"/>
              </a:solidFill>
              <a:latin typeface="Calibri"/>
              <a:ea typeface="Calibri"/>
              <a:cs typeface="Calibri"/>
              <a:sym typeface="Calibri"/>
            </a:endParaRPr>
          </a:p>
        </p:txBody>
      </p:sp>
      <p:sp>
        <p:nvSpPr>
          <p:cNvPr id="599" name="Google Shape;599;p6"/>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Automated E2E — Framework &amp; Architecture</a:t>
            </a:r>
            <a:endParaRPr b="0" i="0" sz="2500" u="none" cap="none" strike="noStrike">
              <a:solidFill>
                <a:schemeClr val="dk1"/>
              </a:solidFill>
              <a:latin typeface="Calibri"/>
              <a:ea typeface="Calibri"/>
              <a:cs typeface="Calibri"/>
              <a:sym typeface="Calibri"/>
            </a:endParaRPr>
          </a:p>
        </p:txBody>
      </p:sp>
      <p:sp>
        <p:nvSpPr>
          <p:cNvPr id="600" name="Google Shape;600;p6"/>
          <p:cNvSpPr/>
          <p:nvPr/>
        </p:nvSpPr>
        <p:spPr>
          <a:xfrm>
            <a:off x="457200" y="105156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400"/>
              <a:buFont typeface="Calibri"/>
              <a:buNone/>
            </a:pPr>
            <a:r>
              <a:rPr b="1" i="0" lang="en-US" sz="1400" u="none" cap="none" strike="noStrike">
                <a:solidFill>
                  <a:srgbClr val="2D2D2D"/>
                </a:solidFill>
                <a:latin typeface="Calibri"/>
                <a:ea typeface="Calibri"/>
                <a:cs typeface="Calibri"/>
                <a:sym typeface="Calibri"/>
              </a:rPr>
              <a:t>Automation Stack</a:t>
            </a:r>
            <a:endParaRPr b="0" i="0" sz="1400" u="none" cap="none" strike="noStrike">
              <a:solidFill>
                <a:schemeClr val="dk1"/>
              </a:solidFill>
              <a:latin typeface="Calibri"/>
              <a:ea typeface="Calibri"/>
              <a:cs typeface="Calibri"/>
              <a:sym typeface="Calibri"/>
            </a:endParaRPr>
          </a:p>
        </p:txBody>
      </p:sp>
      <p:sp>
        <p:nvSpPr>
          <p:cNvPr id="601" name="Google Shape;601;p6"/>
          <p:cNvSpPr/>
          <p:nvPr/>
        </p:nvSpPr>
        <p:spPr>
          <a:xfrm>
            <a:off x="457200" y="1417320"/>
            <a:ext cx="3200400" cy="310896"/>
          </a:xfrm>
          <a:prstGeom prst="roundRect">
            <a:avLst>
              <a:gd fmla="val 50000" name="adj"/>
            </a:avLst>
          </a:prstGeom>
          <a:solidFill>
            <a:srgbClr val="FCE4ED"/>
          </a:solidFill>
          <a:ln cap="flat" cmpd="sng" w="9525">
            <a:solidFill>
              <a:srgbClr val="F4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
          <p:cNvSpPr/>
          <p:nvPr/>
        </p:nvSpPr>
        <p:spPr>
          <a:xfrm>
            <a:off x="457200" y="1417320"/>
            <a:ext cx="32004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1050"/>
              <a:buFont typeface="Calibri"/>
              <a:buNone/>
            </a:pPr>
            <a:r>
              <a:rPr b="1" i="0" lang="en-US" sz="1050" u="none" cap="none" strike="noStrike">
                <a:solidFill>
                  <a:srgbClr val="A01E4A"/>
                </a:solidFill>
                <a:latin typeface="Calibri"/>
                <a:ea typeface="Calibri"/>
                <a:cs typeface="Calibri"/>
                <a:sym typeface="Calibri"/>
              </a:rPr>
              <a:t>Python 3.12</a:t>
            </a:r>
            <a:endParaRPr b="0" i="0" sz="1050" u="none" cap="none" strike="noStrike">
              <a:solidFill>
                <a:schemeClr val="dk1"/>
              </a:solidFill>
              <a:latin typeface="Calibri"/>
              <a:ea typeface="Calibri"/>
              <a:cs typeface="Calibri"/>
              <a:sym typeface="Calibri"/>
            </a:endParaRPr>
          </a:p>
        </p:txBody>
      </p:sp>
      <p:sp>
        <p:nvSpPr>
          <p:cNvPr id="603" name="Google Shape;603;p6"/>
          <p:cNvSpPr/>
          <p:nvPr/>
        </p:nvSpPr>
        <p:spPr>
          <a:xfrm>
            <a:off x="457200" y="1837944"/>
            <a:ext cx="3200400" cy="310896"/>
          </a:xfrm>
          <a:prstGeom prst="roundRect">
            <a:avLst>
              <a:gd fmla="val 50000" name="adj"/>
            </a:avLst>
          </a:prstGeom>
          <a:solidFill>
            <a:srgbClr val="FCE4ED"/>
          </a:solidFill>
          <a:ln cap="flat" cmpd="sng" w="9525">
            <a:solidFill>
              <a:srgbClr val="F4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
          <p:cNvSpPr/>
          <p:nvPr/>
        </p:nvSpPr>
        <p:spPr>
          <a:xfrm>
            <a:off x="457200" y="1837944"/>
            <a:ext cx="32004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1050"/>
              <a:buFont typeface="Calibri"/>
              <a:buNone/>
            </a:pPr>
            <a:r>
              <a:rPr b="1" i="0" lang="en-US" sz="1050" u="none" cap="none" strike="noStrike">
                <a:solidFill>
                  <a:srgbClr val="A01E4A"/>
                </a:solidFill>
                <a:latin typeface="Calibri"/>
                <a:ea typeface="Calibri"/>
                <a:cs typeface="Calibri"/>
                <a:sym typeface="Calibri"/>
              </a:rPr>
              <a:t>pytest-bdd 7.1.2</a:t>
            </a:r>
            <a:endParaRPr b="0" i="0" sz="1050" u="none" cap="none" strike="noStrike">
              <a:solidFill>
                <a:schemeClr val="dk1"/>
              </a:solidFill>
              <a:latin typeface="Calibri"/>
              <a:ea typeface="Calibri"/>
              <a:cs typeface="Calibri"/>
              <a:sym typeface="Calibri"/>
            </a:endParaRPr>
          </a:p>
        </p:txBody>
      </p:sp>
      <p:sp>
        <p:nvSpPr>
          <p:cNvPr id="605" name="Google Shape;605;p6"/>
          <p:cNvSpPr/>
          <p:nvPr/>
        </p:nvSpPr>
        <p:spPr>
          <a:xfrm>
            <a:off x="457200" y="2258568"/>
            <a:ext cx="3200400" cy="310896"/>
          </a:xfrm>
          <a:prstGeom prst="roundRect">
            <a:avLst>
              <a:gd fmla="val 50000" name="adj"/>
            </a:avLst>
          </a:prstGeom>
          <a:solidFill>
            <a:srgbClr val="FCE4ED"/>
          </a:solidFill>
          <a:ln cap="flat" cmpd="sng" w="9525">
            <a:solidFill>
              <a:srgbClr val="F4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6"/>
          <p:cNvSpPr/>
          <p:nvPr/>
        </p:nvSpPr>
        <p:spPr>
          <a:xfrm>
            <a:off x="457200" y="2258568"/>
            <a:ext cx="32004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1050"/>
              <a:buFont typeface="Calibri"/>
              <a:buNone/>
            </a:pPr>
            <a:r>
              <a:rPr b="1" i="0" lang="en-US" sz="1050" u="none" cap="none" strike="noStrike">
                <a:solidFill>
                  <a:srgbClr val="A01E4A"/>
                </a:solidFill>
                <a:latin typeface="Calibri"/>
                <a:ea typeface="Calibri"/>
                <a:cs typeface="Calibri"/>
                <a:sym typeface="Calibri"/>
              </a:rPr>
              <a:t>Playwright 1.44.0</a:t>
            </a:r>
            <a:endParaRPr b="0" i="0" sz="1050" u="none" cap="none" strike="noStrike">
              <a:solidFill>
                <a:schemeClr val="dk1"/>
              </a:solidFill>
              <a:latin typeface="Calibri"/>
              <a:ea typeface="Calibri"/>
              <a:cs typeface="Calibri"/>
              <a:sym typeface="Calibri"/>
            </a:endParaRPr>
          </a:p>
        </p:txBody>
      </p:sp>
      <p:sp>
        <p:nvSpPr>
          <p:cNvPr id="607" name="Google Shape;607;p6"/>
          <p:cNvSpPr/>
          <p:nvPr/>
        </p:nvSpPr>
        <p:spPr>
          <a:xfrm>
            <a:off x="457200" y="2679192"/>
            <a:ext cx="3200400" cy="310896"/>
          </a:xfrm>
          <a:prstGeom prst="roundRect">
            <a:avLst>
              <a:gd fmla="val 50000" name="adj"/>
            </a:avLst>
          </a:prstGeom>
          <a:solidFill>
            <a:srgbClr val="FCE4ED"/>
          </a:solidFill>
          <a:ln cap="flat" cmpd="sng" w="9525">
            <a:solidFill>
              <a:srgbClr val="F4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6"/>
          <p:cNvSpPr/>
          <p:nvPr/>
        </p:nvSpPr>
        <p:spPr>
          <a:xfrm>
            <a:off x="457200" y="2679192"/>
            <a:ext cx="32004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1050"/>
              <a:buFont typeface="Calibri"/>
              <a:buNone/>
            </a:pPr>
            <a:r>
              <a:rPr b="1" i="0" lang="en-US" sz="1050" u="none" cap="none" strike="noStrike">
                <a:solidFill>
                  <a:srgbClr val="A01E4A"/>
                </a:solidFill>
                <a:latin typeface="Calibri"/>
                <a:ea typeface="Calibri"/>
                <a:cs typeface="Calibri"/>
                <a:sym typeface="Calibri"/>
              </a:rPr>
              <a:t>Page Object Model</a:t>
            </a:r>
            <a:endParaRPr b="0" i="0" sz="1050" u="none" cap="none" strike="noStrike">
              <a:solidFill>
                <a:schemeClr val="dk1"/>
              </a:solidFill>
              <a:latin typeface="Calibri"/>
              <a:ea typeface="Calibri"/>
              <a:cs typeface="Calibri"/>
              <a:sym typeface="Calibri"/>
            </a:endParaRPr>
          </a:p>
        </p:txBody>
      </p:sp>
      <p:sp>
        <p:nvSpPr>
          <p:cNvPr id="609" name="Google Shape;609;p6"/>
          <p:cNvSpPr/>
          <p:nvPr/>
        </p:nvSpPr>
        <p:spPr>
          <a:xfrm>
            <a:off x="457200" y="3099816"/>
            <a:ext cx="3200400" cy="310896"/>
          </a:xfrm>
          <a:prstGeom prst="roundRect">
            <a:avLst>
              <a:gd fmla="val 50000" name="adj"/>
            </a:avLst>
          </a:prstGeom>
          <a:solidFill>
            <a:srgbClr val="FCE4ED"/>
          </a:solidFill>
          <a:ln cap="flat" cmpd="sng" w="9525">
            <a:solidFill>
              <a:srgbClr val="F4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
          <p:cNvSpPr/>
          <p:nvPr/>
        </p:nvSpPr>
        <p:spPr>
          <a:xfrm>
            <a:off x="457200" y="3099816"/>
            <a:ext cx="32004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1050"/>
              <a:buFont typeface="Calibri"/>
              <a:buNone/>
            </a:pPr>
            <a:r>
              <a:rPr b="1" i="0" lang="en-US" sz="1050" u="none" cap="none" strike="noStrike">
                <a:solidFill>
                  <a:srgbClr val="A01E4A"/>
                </a:solidFill>
                <a:latin typeface="Calibri"/>
                <a:ea typeface="Calibri"/>
                <a:cs typeface="Calibri"/>
                <a:sym typeface="Calibri"/>
              </a:rPr>
              <a:t>pytest-html reports</a:t>
            </a:r>
            <a:endParaRPr b="0" i="0" sz="1050" u="none" cap="none" strike="noStrike">
              <a:solidFill>
                <a:schemeClr val="dk1"/>
              </a:solidFill>
              <a:latin typeface="Calibri"/>
              <a:ea typeface="Calibri"/>
              <a:cs typeface="Calibri"/>
              <a:sym typeface="Calibri"/>
            </a:endParaRPr>
          </a:p>
        </p:txBody>
      </p:sp>
      <p:sp>
        <p:nvSpPr>
          <p:cNvPr id="611" name="Google Shape;611;p6"/>
          <p:cNvSpPr/>
          <p:nvPr/>
        </p:nvSpPr>
        <p:spPr>
          <a:xfrm>
            <a:off x="457200" y="3611880"/>
            <a:ext cx="33832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b="0" i="1" lang="en-US" sz="1100" u="none" cap="none" strike="noStrike">
                <a:solidFill>
                  <a:srgbClr val="666666"/>
                </a:solidFill>
                <a:latin typeface="Calibri"/>
                <a:ea typeface="Calibri"/>
                <a:cs typeface="Calibri"/>
                <a:sym typeface="Calibri"/>
              </a:rPr>
              <a:t>In-browser JS fetch mock — the suite runs with no real backend, MongoDB, or OpenAI.</a:t>
            </a:r>
            <a:endParaRPr b="0" i="0" sz="1100" u="none" cap="none" strike="noStrike">
              <a:solidFill>
                <a:schemeClr val="dk1"/>
              </a:solidFill>
              <a:latin typeface="Calibri"/>
              <a:ea typeface="Calibri"/>
              <a:cs typeface="Calibri"/>
              <a:sym typeface="Calibri"/>
            </a:endParaRPr>
          </a:p>
        </p:txBody>
      </p:sp>
      <p:sp>
        <p:nvSpPr>
          <p:cNvPr id="612" name="Google Shape;612;p6"/>
          <p:cNvSpPr/>
          <p:nvPr/>
        </p:nvSpPr>
        <p:spPr>
          <a:xfrm>
            <a:off x="4069080" y="105156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400"/>
              <a:buFont typeface="Calibri"/>
              <a:buNone/>
            </a:pPr>
            <a:r>
              <a:rPr b="1" i="0" lang="en-US" sz="1400" u="none" cap="none" strike="noStrike">
                <a:solidFill>
                  <a:srgbClr val="2D2D2D"/>
                </a:solidFill>
                <a:latin typeface="Calibri"/>
                <a:ea typeface="Calibri"/>
                <a:cs typeface="Calibri"/>
                <a:sym typeface="Calibri"/>
              </a:rPr>
              <a:t>Test Structure</a:t>
            </a:r>
            <a:endParaRPr b="0" i="0" sz="1400" u="none" cap="none" strike="noStrike">
              <a:solidFill>
                <a:schemeClr val="dk1"/>
              </a:solidFill>
              <a:latin typeface="Calibri"/>
              <a:ea typeface="Calibri"/>
              <a:cs typeface="Calibri"/>
              <a:sym typeface="Calibri"/>
            </a:endParaRPr>
          </a:p>
        </p:txBody>
      </p:sp>
      <p:sp>
        <p:nvSpPr>
          <p:cNvPr id="613" name="Google Shape;613;p6"/>
          <p:cNvSpPr/>
          <p:nvPr/>
        </p:nvSpPr>
        <p:spPr>
          <a:xfrm>
            <a:off x="4069080" y="1417320"/>
            <a:ext cx="4617720" cy="457200"/>
          </a:xfrm>
          <a:prstGeom prst="roundRect">
            <a:avLst>
              <a:gd fmla="val 120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6"/>
          <p:cNvSpPr/>
          <p:nvPr/>
        </p:nvSpPr>
        <p:spPr>
          <a:xfrm>
            <a:off x="4178808" y="1417320"/>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features/</a:t>
            </a:r>
            <a:endParaRPr b="0" i="0" sz="1100" u="none" cap="none" strike="noStrike">
              <a:solidFill>
                <a:schemeClr val="dk1"/>
              </a:solidFill>
              <a:latin typeface="Calibri"/>
              <a:ea typeface="Calibri"/>
              <a:cs typeface="Calibri"/>
              <a:sym typeface="Calibri"/>
            </a:endParaRPr>
          </a:p>
        </p:txBody>
      </p:sp>
      <p:sp>
        <p:nvSpPr>
          <p:cNvPr id="615" name="Google Shape;615;p6"/>
          <p:cNvSpPr/>
          <p:nvPr/>
        </p:nvSpPr>
        <p:spPr>
          <a:xfrm>
            <a:off x="5760720" y="1417320"/>
            <a:ext cx="2834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.feature Gherkin scenarios</a:t>
            </a:r>
            <a:endParaRPr b="0" i="0" sz="1050" u="none" cap="none" strike="noStrike">
              <a:solidFill>
                <a:schemeClr val="dk1"/>
              </a:solidFill>
              <a:latin typeface="Calibri"/>
              <a:ea typeface="Calibri"/>
              <a:cs typeface="Calibri"/>
              <a:sym typeface="Calibri"/>
            </a:endParaRPr>
          </a:p>
        </p:txBody>
      </p:sp>
      <p:sp>
        <p:nvSpPr>
          <p:cNvPr id="616" name="Google Shape;616;p6"/>
          <p:cNvSpPr/>
          <p:nvPr/>
        </p:nvSpPr>
        <p:spPr>
          <a:xfrm>
            <a:off x="4069080" y="1929384"/>
            <a:ext cx="4617720" cy="457200"/>
          </a:xfrm>
          <a:prstGeom prst="roundRect">
            <a:avLst>
              <a:gd fmla="val 120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6"/>
          <p:cNvSpPr/>
          <p:nvPr/>
        </p:nvSpPr>
        <p:spPr>
          <a:xfrm>
            <a:off x="4178808" y="1929384"/>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step_definitions/</a:t>
            </a:r>
            <a:endParaRPr b="0" i="0" sz="1100" u="none" cap="none" strike="noStrike">
              <a:solidFill>
                <a:schemeClr val="dk1"/>
              </a:solidFill>
              <a:latin typeface="Calibri"/>
              <a:ea typeface="Calibri"/>
              <a:cs typeface="Calibri"/>
              <a:sym typeface="Calibri"/>
            </a:endParaRPr>
          </a:p>
        </p:txBody>
      </p:sp>
      <p:sp>
        <p:nvSpPr>
          <p:cNvPr id="618" name="Google Shape;618;p6"/>
          <p:cNvSpPr/>
          <p:nvPr/>
        </p:nvSpPr>
        <p:spPr>
          <a:xfrm>
            <a:off x="5760720" y="1929384"/>
            <a:ext cx="2834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@given / @when / @then Python steps</a:t>
            </a:r>
            <a:endParaRPr b="0" i="0" sz="1050" u="none" cap="none" strike="noStrike">
              <a:solidFill>
                <a:schemeClr val="dk1"/>
              </a:solidFill>
              <a:latin typeface="Calibri"/>
              <a:ea typeface="Calibri"/>
              <a:cs typeface="Calibri"/>
              <a:sym typeface="Calibri"/>
            </a:endParaRPr>
          </a:p>
        </p:txBody>
      </p:sp>
      <p:sp>
        <p:nvSpPr>
          <p:cNvPr id="619" name="Google Shape;619;p6"/>
          <p:cNvSpPr/>
          <p:nvPr/>
        </p:nvSpPr>
        <p:spPr>
          <a:xfrm>
            <a:off x="4069080" y="2441448"/>
            <a:ext cx="4617720" cy="457200"/>
          </a:xfrm>
          <a:prstGeom prst="roundRect">
            <a:avLst>
              <a:gd fmla="val 120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6"/>
          <p:cNvSpPr/>
          <p:nvPr/>
        </p:nvSpPr>
        <p:spPr>
          <a:xfrm>
            <a:off x="4178808" y="2441448"/>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pages/</a:t>
            </a:r>
            <a:endParaRPr b="0" i="0" sz="1100" u="none" cap="none" strike="noStrike">
              <a:solidFill>
                <a:schemeClr val="dk1"/>
              </a:solidFill>
              <a:latin typeface="Calibri"/>
              <a:ea typeface="Calibri"/>
              <a:cs typeface="Calibri"/>
              <a:sym typeface="Calibri"/>
            </a:endParaRPr>
          </a:p>
        </p:txBody>
      </p:sp>
      <p:sp>
        <p:nvSpPr>
          <p:cNvPr id="621" name="Google Shape;621;p6"/>
          <p:cNvSpPr/>
          <p:nvPr/>
        </p:nvSpPr>
        <p:spPr>
          <a:xfrm>
            <a:off x="5760720" y="2441448"/>
            <a:ext cx="2834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Page Object Model locator classes</a:t>
            </a:r>
            <a:endParaRPr b="0" i="0" sz="1050" u="none" cap="none" strike="noStrike">
              <a:solidFill>
                <a:schemeClr val="dk1"/>
              </a:solidFill>
              <a:latin typeface="Calibri"/>
              <a:ea typeface="Calibri"/>
              <a:cs typeface="Calibri"/>
              <a:sym typeface="Calibri"/>
            </a:endParaRPr>
          </a:p>
        </p:txBody>
      </p:sp>
      <p:sp>
        <p:nvSpPr>
          <p:cNvPr id="622" name="Google Shape;622;p6"/>
          <p:cNvSpPr/>
          <p:nvPr/>
        </p:nvSpPr>
        <p:spPr>
          <a:xfrm>
            <a:off x="4069080" y="2953512"/>
            <a:ext cx="4617720" cy="457200"/>
          </a:xfrm>
          <a:prstGeom prst="roundRect">
            <a:avLst>
              <a:gd fmla="val 120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6"/>
          <p:cNvSpPr/>
          <p:nvPr/>
        </p:nvSpPr>
        <p:spPr>
          <a:xfrm>
            <a:off x="4178808" y="2953512"/>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fixtures/</a:t>
            </a:r>
            <a:endParaRPr b="0" i="0" sz="1100" u="none" cap="none" strike="noStrike">
              <a:solidFill>
                <a:schemeClr val="dk1"/>
              </a:solidFill>
              <a:latin typeface="Calibri"/>
              <a:ea typeface="Calibri"/>
              <a:cs typeface="Calibri"/>
              <a:sym typeface="Calibri"/>
            </a:endParaRPr>
          </a:p>
        </p:txBody>
      </p:sp>
      <p:sp>
        <p:nvSpPr>
          <p:cNvPr id="624" name="Google Shape;624;p6"/>
          <p:cNvSpPr/>
          <p:nvPr/>
        </p:nvSpPr>
        <p:spPr>
          <a:xfrm>
            <a:off x="5760720" y="2953512"/>
            <a:ext cx="2834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6 test files: PDF, PNG, JPG, EXE, MP3, oversized</a:t>
            </a:r>
            <a:endParaRPr b="0" i="0" sz="1050" u="none" cap="none" strike="noStrike">
              <a:solidFill>
                <a:schemeClr val="dk1"/>
              </a:solidFill>
              <a:latin typeface="Calibri"/>
              <a:ea typeface="Calibri"/>
              <a:cs typeface="Calibri"/>
              <a:sym typeface="Calibri"/>
            </a:endParaRPr>
          </a:p>
        </p:txBody>
      </p:sp>
      <p:sp>
        <p:nvSpPr>
          <p:cNvPr id="625" name="Google Shape;625;p6"/>
          <p:cNvSpPr/>
          <p:nvPr/>
        </p:nvSpPr>
        <p:spPr>
          <a:xfrm>
            <a:off x="4069080" y="3465576"/>
            <a:ext cx="4617720" cy="457200"/>
          </a:xfrm>
          <a:prstGeom prst="roundRect">
            <a:avLst>
              <a:gd fmla="val 120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6"/>
          <p:cNvSpPr/>
          <p:nvPr/>
        </p:nvSpPr>
        <p:spPr>
          <a:xfrm>
            <a:off x="4178808" y="3465576"/>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conftest.py</a:t>
            </a:r>
            <a:endParaRPr b="0" i="0" sz="1100" u="none" cap="none" strike="noStrike">
              <a:solidFill>
                <a:schemeClr val="dk1"/>
              </a:solidFill>
              <a:latin typeface="Calibri"/>
              <a:ea typeface="Calibri"/>
              <a:cs typeface="Calibri"/>
              <a:sym typeface="Calibri"/>
            </a:endParaRPr>
          </a:p>
        </p:txBody>
      </p:sp>
      <p:sp>
        <p:nvSpPr>
          <p:cNvPr id="627" name="Google Shape;627;p6"/>
          <p:cNvSpPr/>
          <p:nvPr/>
        </p:nvSpPr>
        <p:spPr>
          <a:xfrm>
            <a:off x="5760720" y="3465576"/>
            <a:ext cx="2834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Shared fixtures, fetch mock, screenshot hook</a:t>
            </a:r>
            <a:endParaRPr b="0" i="0" sz="1050" u="none" cap="none" strike="noStrike">
              <a:solidFill>
                <a:schemeClr val="dk1"/>
              </a:solidFill>
              <a:latin typeface="Calibri"/>
              <a:ea typeface="Calibri"/>
              <a:cs typeface="Calibri"/>
              <a:sym typeface="Calibri"/>
            </a:endParaRPr>
          </a:p>
        </p:txBody>
      </p:sp>
      <p:sp>
        <p:nvSpPr>
          <p:cNvPr id="628" name="Google Shape;628;p6"/>
          <p:cNvSpPr/>
          <p:nvPr/>
        </p:nvSpPr>
        <p:spPr>
          <a:xfrm>
            <a:off x="4069080" y="3977640"/>
            <a:ext cx="4617720" cy="457200"/>
          </a:xfrm>
          <a:prstGeom prst="roundRect">
            <a:avLst>
              <a:gd fmla="val 12000"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6"/>
          <p:cNvSpPr/>
          <p:nvPr/>
        </p:nvSpPr>
        <p:spPr>
          <a:xfrm>
            <a:off x="4178808" y="3977640"/>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reports/</a:t>
            </a:r>
            <a:endParaRPr b="0" i="0" sz="1100" u="none" cap="none" strike="noStrike">
              <a:solidFill>
                <a:schemeClr val="dk1"/>
              </a:solidFill>
              <a:latin typeface="Calibri"/>
              <a:ea typeface="Calibri"/>
              <a:cs typeface="Calibri"/>
              <a:sym typeface="Calibri"/>
            </a:endParaRPr>
          </a:p>
        </p:txBody>
      </p:sp>
      <p:sp>
        <p:nvSpPr>
          <p:cNvPr id="630" name="Google Shape;630;p6"/>
          <p:cNvSpPr/>
          <p:nvPr/>
        </p:nvSpPr>
        <p:spPr>
          <a:xfrm>
            <a:off x="5760720" y="3977640"/>
            <a:ext cx="2834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HTML report + failure screenshots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5" name="Shape 635"/>
        <p:cNvGrpSpPr/>
        <p:nvPr/>
      </p:nvGrpSpPr>
      <p:grpSpPr>
        <a:xfrm>
          <a:off x="0" y="0"/>
          <a:ext cx="0" cy="0"/>
          <a:chOff x="0" y="0"/>
          <a:chExt cx="0" cy="0"/>
        </a:xfrm>
      </p:grpSpPr>
      <p:pic>
        <p:nvPicPr>
          <p:cNvPr descr="/tmp/band.png" id="636" name="Google Shape;636;p7"/>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637" name="Google Shape;637;p7"/>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END-TO-END</a:t>
            </a:r>
            <a:endParaRPr b="0" i="0" sz="1000" u="none" cap="none" strike="noStrike">
              <a:solidFill>
                <a:schemeClr val="dk1"/>
              </a:solidFill>
              <a:latin typeface="Calibri"/>
              <a:ea typeface="Calibri"/>
              <a:cs typeface="Calibri"/>
              <a:sym typeface="Calibri"/>
            </a:endParaRPr>
          </a:p>
        </p:txBody>
      </p:sp>
      <p:sp>
        <p:nvSpPr>
          <p:cNvPr id="638" name="Google Shape;638;p7"/>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E2E Coverage by Feature</a:t>
            </a:r>
            <a:endParaRPr b="0" i="0" sz="2500" u="none" cap="none" strike="noStrike">
              <a:solidFill>
                <a:schemeClr val="dk1"/>
              </a:solidFill>
              <a:latin typeface="Calibri"/>
              <a:ea typeface="Calibri"/>
              <a:cs typeface="Calibri"/>
              <a:sym typeface="Calibri"/>
            </a:endParaRPr>
          </a:p>
        </p:txBody>
      </p:sp>
      <p:graphicFrame>
        <p:nvGraphicFramePr>
          <p:cNvPr id="639" name="Google Shape;639;p7"/>
          <p:cNvGraphicFramePr/>
          <p:nvPr/>
        </p:nvGraphicFramePr>
        <p:xfrm>
          <a:off x="457200" y="1097280"/>
          <a:ext cx="3000000" cy="3000000"/>
        </p:xfrm>
        <a:graphic>
          <a:graphicData uri="http://schemas.openxmlformats.org/drawingml/2006/table">
            <a:tbl>
              <a:tblPr>
                <a:noFill/>
                <a:tableStyleId>{3A829425-CA47-42D2-BFA8-2A0952B3F607}</a:tableStyleId>
              </a:tblPr>
              <a:tblGrid>
                <a:gridCol w="2743200"/>
                <a:gridCol w="1143000"/>
                <a:gridCol w="1143000"/>
              </a:tblGrid>
              <a:tr h="37490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Feature Area</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Scenarios</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Executions</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r>
              <a:tr h="374900">
                <a:tc>
                  <a:txBody>
                    <a:bodyPr/>
                    <a:lstStyle/>
                    <a:p>
                      <a:pPr indent="0" lvl="0" marL="0" marR="0" rtl="0" algn="l">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Login</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c>
                  <a:txBody>
                    <a:bodyPr/>
                    <a:lstStyle/>
                    <a:p>
                      <a:pPr indent="0" lvl="0" marL="0" marR="0" rtl="0" algn="ctr">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2</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c>
                  <a:txBody>
                    <a:bodyPr/>
                    <a:lstStyle/>
                    <a:p>
                      <a:pPr indent="0" lvl="0" marL="0" marR="0" rtl="0" algn="ctr">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2</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r>
              <a:tr h="374900">
                <a:tc>
                  <a:txBody>
                    <a:bodyPr/>
                    <a:lstStyle/>
                    <a:p>
                      <a:pPr indent="0" lvl="0" marL="0" marR="0" rtl="0" algn="l">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Registration</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c>
                  <a:txBody>
                    <a:bodyPr/>
                    <a:lstStyle/>
                    <a:p>
                      <a:pPr indent="0" lvl="0" marL="0" marR="0" rtl="0" algn="ctr">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10</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c>
                  <a:txBody>
                    <a:bodyPr/>
                    <a:lstStyle/>
                    <a:p>
                      <a:pPr indent="0" lvl="0" marL="0" marR="0" rtl="0" algn="ctr">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10</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r>
              <a:tr h="374900">
                <a:tc>
                  <a:txBody>
                    <a:bodyPr/>
                    <a:lstStyle/>
                    <a:p>
                      <a:pPr indent="0" lvl="0" marL="0" marR="0" rtl="0" algn="l">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Document Management</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c>
                  <a:txBody>
                    <a:bodyPr/>
                    <a:lstStyle/>
                    <a:p>
                      <a:pPr indent="0" lvl="0" marL="0" marR="0" rtl="0" algn="ctr">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13</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c>
                  <a:txBody>
                    <a:bodyPr/>
                    <a:lstStyle/>
                    <a:p>
                      <a:pPr indent="0" lvl="0" marL="0" marR="0" rtl="0" algn="ctr">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18</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r>
              <a:tr h="374900">
                <a:tc>
                  <a:txBody>
                    <a:bodyPr/>
                    <a:lstStyle/>
                    <a:p>
                      <a:pPr indent="0" lvl="0" marL="0" marR="0" rtl="0" algn="l">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Project Search</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c>
                  <a:txBody>
                    <a:bodyPr/>
                    <a:lstStyle/>
                    <a:p>
                      <a:pPr indent="0" lvl="0" marL="0" marR="0" rtl="0" algn="ctr">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4</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c>
                  <a:txBody>
                    <a:bodyPr/>
                    <a:lstStyle/>
                    <a:p>
                      <a:pPr indent="0" lvl="0" marL="0" marR="0" rtl="0" algn="ctr">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4</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r>
              <a:tr h="374900">
                <a:tc>
                  <a:txBody>
                    <a:bodyPr/>
                    <a:lstStyle/>
                    <a:p>
                      <a:pPr indent="0" lvl="0" marL="0" marR="0" rtl="0" algn="l">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Test Cases Dashboard</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c>
                  <a:txBody>
                    <a:bodyPr/>
                    <a:lstStyle/>
                    <a:p>
                      <a:pPr indent="0" lvl="0" marL="0" marR="0" rtl="0" algn="ctr">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17</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c>
                  <a:txBody>
                    <a:bodyPr/>
                    <a:lstStyle/>
                    <a:p>
                      <a:pPr indent="0" lvl="0" marL="0" marR="0" rtl="0" algn="ctr">
                        <a:spcBef>
                          <a:spcPts val="0"/>
                        </a:spcBef>
                        <a:spcAft>
                          <a:spcPts val="0"/>
                        </a:spcAft>
                        <a:buClr>
                          <a:srgbClr val="2D2D2D"/>
                        </a:buClr>
                        <a:buSzPts val="1200"/>
                        <a:buFont typeface="Calibri"/>
                        <a:buNone/>
                      </a:pPr>
                      <a:r>
                        <a:rPr lang="en-US" sz="1200" u="none" cap="none" strike="noStrike">
                          <a:solidFill>
                            <a:srgbClr val="2D2D2D"/>
                          </a:solidFill>
                          <a:latin typeface="Calibri"/>
                          <a:ea typeface="Calibri"/>
                          <a:cs typeface="Calibri"/>
                          <a:sym typeface="Calibri"/>
                        </a:rPr>
                        <a:t>17</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tcPr>
                </a:tc>
              </a:tr>
              <a:tr h="374900">
                <a:tc>
                  <a:txBody>
                    <a:bodyPr/>
                    <a:lstStyle/>
                    <a:p>
                      <a:pPr indent="0" lvl="0" marL="0" marR="0" rtl="0" algn="l">
                        <a:spcBef>
                          <a:spcPts val="0"/>
                        </a:spcBef>
                        <a:spcAft>
                          <a:spcPts val="0"/>
                        </a:spcAft>
                        <a:buClr>
                          <a:srgbClr val="2D2D2D"/>
                        </a:buClr>
                        <a:buSzPts val="1200"/>
                        <a:buFont typeface="Calibri"/>
                        <a:buNone/>
                      </a:pPr>
                      <a:r>
                        <a:rPr b="1" lang="en-US" sz="1200" u="none" cap="none" strike="noStrike">
                          <a:solidFill>
                            <a:srgbClr val="2D2D2D"/>
                          </a:solidFill>
                          <a:latin typeface="Calibri"/>
                          <a:ea typeface="Calibri"/>
                          <a:cs typeface="Calibri"/>
                          <a:sym typeface="Calibri"/>
                        </a:rPr>
                        <a:t>Total</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CE4ED"/>
                    </a:solidFill>
                  </a:tcPr>
                </a:tc>
                <a:tc>
                  <a:txBody>
                    <a:bodyPr/>
                    <a:lstStyle/>
                    <a:p>
                      <a:pPr indent="0" lvl="0" marL="0" marR="0" rtl="0" algn="ctr">
                        <a:spcBef>
                          <a:spcPts val="0"/>
                        </a:spcBef>
                        <a:spcAft>
                          <a:spcPts val="0"/>
                        </a:spcAft>
                        <a:buClr>
                          <a:srgbClr val="2D2D2D"/>
                        </a:buClr>
                        <a:buSzPts val="1200"/>
                        <a:buFont typeface="Calibri"/>
                        <a:buNone/>
                      </a:pPr>
                      <a:r>
                        <a:rPr b="1" lang="en-US" sz="1200" u="none" cap="none" strike="noStrike">
                          <a:solidFill>
                            <a:srgbClr val="2D2D2D"/>
                          </a:solidFill>
                          <a:latin typeface="Calibri"/>
                          <a:ea typeface="Calibri"/>
                          <a:cs typeface="Calibri"/>
                          <a:sym typeface="Calibri"/>
                        </a:rPr>
                        <a:t>46</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CE4ED"/>
                    </a:solidFill>
                  </a:tcPr>
                </a:tc>
                <a:tc>
                  <a:txBody>
                    <a:bodyPr/>
                    <a:lstStyle/>
                    <a:p>
                      <a:pPr indent="0" lvl="0" marL="0" marR="0" rtl="0" algn="ctr">
                        <a:spcBef>
                          <a:spcPts val="0"/>
                        </a:spcBef>
                        <a:spcAft>
                          <a:spcPts val="0"/>
                        </a:spcAft>
                        <a:buClr>
                          <a:srgbClr val="2D2D2D"/>
                        </a:buClr>
                        <a:buSzPts val="1200"/>
                        <a:buFont typeface="Calibri"/>
                        <a:buNone/>
                      </a:pPr>
                      <a:r>
                        <a:rPr b="1" lang="en-US" sz="1200" u="none" cap="none" strike="noStrike">
                          <a:solidFill>
                            <a:srgbClr val="2D2D2D"/>
                          </a:solidFill>
                          <a:latin typeface="Calibri"/>
                          <a:ea typeface="Calibri"/>
                          <a:cs typeface="Calibri"/>
                          <a:sym typeface="Calibri"/>
                        </a:rPr>
                        <a:t>51</a:t>
                      </a:r>
                      <a:endParaRPr sz="120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CE4ED"/>
                    </a:solidFill>
                  </a:tcPr>
                </a:tc>
              </a:tr>
            </a:tbl>
          </a:graphicData>
        </a:graphic>
      </p:graphicFrame>
      <p:sp>
        <p:nvSpPr>
          <p:cNvPr id="640" name="Google Shape;640;p7"/>
          <p:cNvSpPr/>
          <p:nvPr/>
        </p:nvSpPr>
        <p:spPr>
          <a:xfrm>
            <a:off x="5715000" y="1097280"/>
            <a:ext cx="2971800" cy="3246120"/>
          </a:xfrm>
          <a:prstGeom prst="roundRect">
            <a:avLst>
              <a:gd fmla="val 1846"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7"/>
          <p:cNvSpPr/>
          <p:nvPr/>
        </p:nvSpPr>
        <p:spPr>
          <a:xfrm>
            <a:off x="5897880" y="123444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300"/>
              <a:buFont typeface="Calibri"/>
              <a:buNone/>
            </a:pPr>
            <a:r>
              <a:rPr b="1" i="0" lang="en-US" sz="1300" u="none" cap="none" strike="noStrike">
                <a:solidFill>
                  <a:srgbClr val="2D2D2D"/>
                </a:solidFill>
                <a:latin typeface="Calibri"/>
                <a:ea typeface="Calibri"/>
                <a:cs typeface="Calibri"/>
                <a:sym typeface="Calibri"/>
              </a:rPr>
              <a:t>Run Subsets (pytest markers)</a:t>
            </a:r>
            <a:endParaRPr b="0" i="0" sz="1300" u="none" cap="none" strike="noStrike">
              <a:solidFill>
                <a:schemeClr val="dk1"/>
              </a:solidFill>
              <a:latin typeface="Calibri"/>
              <a:ea typeface="Calibri"/>
              <a:cs typeface="Calibri"/>
              <a:sym typeface="Calibri"/>
            </a:endParaRPr>
          </a:p>
        </p:txBody>
      </p:sp>
      <p:sp>
        <p:nvSpPr>
          <p:cNvPr id="642" name="Google Shape;642;p7"/>
          <p:cNvSpPr/>
          <p:nvPr/>
        </p:nvSpPr>
        <p:spPr>
          <a:xfrm>
            <a:off x="5897880" y="1627632"/>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smoke</a:t>
            </a:r>
            <a:endParaRPr b="0" i="0" sz="1100" u="none" cap="none" strike="noStrike">
              <a:solidFill>
                <a:schemeClr val="dk1"/>
              </a:solidFill>
              <a:latin typeface="Calibri"/>
              <a:ea typeface="Calibri"/>
              <a:cs typeface="Calibri"/>
              <a:sym typeface="Calibri"/>
            </a:endParaRPr>
          </a:p>
        </p:txBody>
      </p:sp>
      <p:sp>
        <p:nvSpPr>
          <p:cNvPr id="643" name="Google Shape;643;p7"/>
          <p:cNvSpPr/>
          <p:nvPr/>
        </p:nvSpPr>
        <p:spPr>
          <a:xfrm>
            <a:off x="8001000" y="1627632"/>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13</a:t>
            </a:r>
            <a:endParaRPr b="0" i="0" sz="1100" u="none" cap="none" strike="noStrike">
              <a:solidFill>
                <a:schemeClr val="dk1"/>
              </a:solidFill>
              <a:latin typeface="Calibri"/>
              <a:ea typeface="Calibri"/>
              <a:cs typeface="Calibri"/>
              <a:sym typeface="Calibri"/>
            </a:endParaRPr>
          </a:p>
        </p:txBody>
      </p:sp>
      <p:sp>
        <p:nvSpPr>
          <p:cNvPr id="644" name="Google Shape;644;p7"/>
          <p:cNvSpPr/>
          <p:nvPr/>
        </p:nvSpPr>
        <p:spPr>
          <a:xfrm>
            <a:off x="5897880" y="1965960"/>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test_case_dashboard</a:t>
            </a:r>
            <a:endParaRPr b="0" i="0" sz="1100" u="none" cap="none" strike="noStrike">
              <a:solidFill>
                <a:schemeClr val="dk1"/>
              </a:solidFill>
              <a:latin typeface="Calibri"/>
              <a:ea typeface="Calibri"/>
              <a:cs typeface="Calibri"/>
              <a:sym typeface="Calibri"/>
            </a:endParaRPr>
          </a:p>
        </p:txBody>
      </p:sp>
      <p:sp>
        <p:nvSpPr>
          <p:cNvPr id="645" name="Google Shape;645;p7"/>
          <p:cNvSpPr/>
          <p:nvPr/>
        </p:nvSpPr>
        <p:spPr>
          <a:xfrm>
            <a:off x="8001000" y="196596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17</a:t>
            </a:r>
            <a:endParaRPr b="0" i="0" sz="1100" u="none" cap="none" strike="noStrike">
              <a:solidFill>
                <a:schemeClr val="dk1"/>
              </a:solidFill>
              <a:latin typeface="Calibri"/>
              <a:ea typeface="Calibri"/>
              <a:cs typeface="Calibri"/>
              <a:sym typeface="Calibri"/>
            </a:endParaRPr>
          </a:p>
        </p:txBody>
      </p:sp>
      <p:sp>
        <p:nvSpPr>
          <p:cNvPr id="646" name="Google Shape;646;p7"/>
          <p:cNvSpPr/>
          <p:nvPr/>
        </p:nvSpPr>
        <p:spPr>
          <a:xfrm>
            <a:off x="5897880" y="2304288"/>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validation</a:t>
            </a:r>
            <a:endParaRPr b="0" i="0" sz="1100" u="none" cap="none" strike="noStrike">
              <a:solidFill>
                <a:schemeClr val="dk1"/>
              </a:solidFill>
              <a:latin typeface="Calibri"/>
              <a:ea typeface="Calibri"/>
              <a:cs typeface="Calibri"/>
              <a:sym typeface="Calibri"/>
            </a:endParaRPr>
          </a:p>
        </p:txBody>
      </p:sp>
      <p:sp>
        <p:nvSpPr>
          <p:cNvPr id="647" name="Google Shape;647;p7"/>
          <p:cNvSpPr/>
          <p:nvPr/>
        </p:nvSpPr>
        <p:spPr>
          <a:xfrm>
            <a:off x="8001000" y="230428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9</a:t>
            </a:r>
            <a:endParaRPr b="0" i="0" sz="1100" u="none" cap="none" strike="noStrike">
              <a:solidFill>
                <a:schemeClr val="dk1"/>
              </a:solidFill>
              <a:latin typeface="Calibri"/>
              <a:ea typeface="Calibri"/>
              <a:cs typeface="Calibri"/>
              <a:sym typeface="Calibri"/>
            </a:endParaRPr>
          </a:p>
        </p:txBody>
      </p:sp>
      <p:sp>
        <p:nvSpPr>
          <p:cNvPr id="648" name="Google Shape;648;p7"/>
          <p:cNvSpPr/>
          <p:nvPr/>
        </p:nvSpPr>
        <p:spPr>
          <a:xfrm>
            <a:off x="5897880" y="2642616"/>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management</a:t>
            </a:r>
            <a:endParaRPr b="0" i="0" sz="1100" u="none" cap="none" strike="noStrike">
              <a:solidFill>
                <a:schemeClr val="dk1"/>
              </a:solidFill>
              <a:latin typeface="Calibri"/>
              <a:ea typeface="Calibri"/>
              <a:cs typeface="Calibri"/>
              <a:sym typeface="Calibri"/>
            </a:endParaRPr>
          </a:p>
        </p:txBody>
      </p:sp>
      <p:sp>
        <p:nvSpPr>
          <p:cNvPr id="649" name="Google Shape;649;p7"/>
          <p:cNvSpPr/>
          <p:nvPr/>
        </p:nvSpPr>
        <p:spPr>
          <a:xfrm>
            <a:off x="8001000" y="2642616"/>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650" name="Google Shape;650;p7"/>
          <p:cNvSpPr/>
          <p:nvPr/>
        </p:nvSpPr>
        <p:spPr>
          <a:xfrm>
            <a:off x="5897880" y="2980944"/>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drag_drop</a:t>
            </a:r>
            <a:endParaRPr b="0" i="0" sz="1100" u="none" cap="none" strike="noStrike">
              <a:solidFill>
                <a:schemeClr val="dk1"/>
              </a:solidFill>
              <a:latin typeface="Calibri"/>
              <a:ea typeface="Calibri"/>
              <a:cs typeface="Calibri"/>
              <a:sym typeface="Calibri"/>
            </a:endParaRPr>
          </a:p>
        </p:txBody>
      </p:sp>
      <p:sp>
        <p:nvSpPr>
          <p:cNvPr id="651" name="Google Shape;651;p7"/>
          <p:cNvSpPr/>
          <p:nvPr/>
        </p:nvSpPr>
        <p:spPr>
          <a:xfrm>
            <a:off x="8001000" y="2980944"/>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652" name="Google Shape;652;p7"/>
          <p:cNvSpPr/>
          <p:nvPr/>
        </p:nvSpPr>
        <p:spPr>
          <a:xfrm>
            <a:off x="5897880" y="3319272"/>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search</a:t>
            </a:r>
            <a:endParaRPr b="0" i="0" sz="1100" u="none" cap="none" strike="noStrike">
              <a:solidFill>
                <a:schemeClr val="dk1"/>
              </a:solidFill>
              <a:latin typeface="Calibri"/>
              <a:ea typeface="Calibri"/>
              <a:cs typeface="Calibri"/>
              <a:sym typeface="Calibri"/>
            </a:endParaRPr>
          </a:p>
        </p:txBody>
      </p:sp>
      <p:sp>
        <p:nvSpPr>
          <p:cNvPr id="653" name="Google Shape;653;p7"/>
          <p:cNvSpPr/>
          <p:nvPr/>
        </p:nvSpPr>
        <p:spPr>
          <a:xfrm>
            <a:off x="8001000" y="3319272"/>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654" name="Google Shape;654;p7"/>
          <p:cNvSpPr/>
          <p:nvPr/>
        </p:nvSpPr>
        <p:spPr>
          <a:xfrm>
            <a:off x="5897880" y="3657600"/>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registration</a:t>
            </a:r>
            <a:endParaRPr b="0" i="0" sz="1100" u="none" cap="none" strike="noStrike">
              <a:solidFill>
                <a:schemeClr val="dk1"/>
              </a:solidFill>
              <a:latin typeface="Calibri"/>
              <a:ea typeface="Calibri"/>
              <a:cs typeface="Calibri"/>
              <a:sym typeface="Calibri"/>
            </a:endParaRPr>
          </a:p>
        </p:txBody>
      </p:sp>
      <p:sp>
        <p:nvSpPr>
          <p:cNvPr id="655" name="Google Shape;655;p7"/>
          <p:cNvSpPr/>
          <p:nvPr/>
        </p:nvSpPr>
        <p:spPr>
          <a:xfrm>
            <a:off x="8001000" y="365760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656" name="Google Shape;656;p7"/>
          <p:cNvSpPr/>
          <p:nvPr/>
        </p:nvSpPr>
        <p:spPr>
          <a:xfrm>
            <a:off x="5897880" y="3995928"/>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ourier New"/>
              <a:buNone/>
            </a:pPr>
            <a:r>
              <a:rPr b="1" i="0" lang="en-US" sz="1100" u="none" cap="none" strike="noStrike">
                <a:solidFill>
                  <a:srgbClr val="A01E4A"/>
                </a:solidFill>
                <a:latin typeface="Courier New"/>
                <a:ea typeface="Courier New"/>
                <a:cs typeface="Courier New"/>
                <a:sym typeface="Courier New"/>
              </a:rPr>
              <a:t>upload</a:t>
            </a:r>
            <a:endParaRPr b="0" i="0" sz="1100" u="none" cap="none" strike="noStrike">
              <a:solidFill>
                <a:schemeClr val="dk1"/>
              </a:solidFill>
              <a:latin typeface="Calibri"/>
              <a:ea typeface="Calibri"/>
              <a:cs typeface="Calibri"/>
              <a:sym typeface="Calibri"/>
            </a:endParaRPr>
          </a:p>
        </p:txBody>
      </p:sp>
      <p:sp>
        <p:nvSpPr>
          <p:cNvPr id="657" name="Google Shape;657;p7"/>
          <p:cNvSpPr/>
          <p:nvPr/>
        </p:nvSpPr>
        <p:spPr>
          <a:xfrm>
            <a:off x="8001000" y="39959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2" name="Shape 662"/>
        <p:cNvGrpSpPr/>
        <p:nvPr/>
      </p:nvGrpSpPr>
      <p:grpSpPr>
        <a:xfrm>
          <a:off x="0" y="0"/>
          <a:ext cx="0" cy="0"/>
          <a:chOff x="0" y="0"/>
          <a:chExt cx="0" cy="0"/>
        </a:xfrm>
      </p:grpSpPr>
      <p:pic>
        <p:nvPicPr>
          <p:cNvPr descr="/tmp/band.png" id="663" name="Google Shape;663;p8"/>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664" name="Google Shape;664;p8"/>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WHY BOTH LAYERS</a:t>
            </a:r>
            <a:endParaRPr b="0" i="0" sz="1000" u="none" cap="none" strike="noStrike">
              <a:solidFill>
                <a:schemeClr val="dk1"/>
              </a:solidFill>
              <a:latin typeface="Calibri"/>
              <a:ea typeface="Calibri"/>
              <a:cs typeface="Calibri"/>
              <a:sym typeface="Calibri"/>
            </a:endParaRPr>
          </a:p>
        </p:txBody>
      </p:sp>
      <p:sp>
        <p:nvSpPr>
          <p:cNvPr id="665" name="Google Shape;665;p8"/>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Unit vs End-to-End — Complementary Coverage</a:t>
            </a:r>
            <a:endParaRPr b="0" i="0" sz="2500" u="none" cap="none" strike="noStrike">
              <a:solidFill>
                <a:schemeClr val="dk1"/>
              </a:solidFill>
              <a:latin typeface="Calibri"/>
              <a:ea typeface="Calibri"/>
              <a:cs typeface="Calibri"/>
              <a:sym typeface="Calibri"/>
            </a:endParaRPr>
          </a:p>
        </p:txBody>
      </p:sp>
      <p:sp>
        <p:nvSpPr>
          <p:cNvPr id="666" name="Google Shape;666;p8"/>
          <p:cNvSpPr/>
          <p:nvPr/>
        </p:nvSpPr>
        <p:spPr>
          <a:xfrm>
            <a:off x="457200" y="1097280"/>
            <a:ext cx="3977640" cy="306324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8"/>
          <p:cNvSpPr/>
          <p:nvPr/>
        </p:nvSpPr>
        <p:spPr>
          <a:xfrm>
            <a:off x="685800" y="1280160"/>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700"/>
              <a:buFont typeface="Calibri"/>
              <a:buNone/>
            </a:pPr>
            <a:r>
              <a:rPr b="1" i="0" lang="en-US" sz="1700" u="none" cap="none" strike="noStrike">
                <a:solidFill>
                  <a:srgbClr val="D12B63"/>
                </a:solidFill>
                <a:latin typeface="Calibri"/>
                <a:ea typeface="Calibri"/>
                <a:cs typeface="Calibri"/>
                <a:sym typeface="Calibri"/>
              </a:rPr>
              <a:t>Unit Tests</a:t>
            </a:r>
            <a:endParaRPr b="0" i="0" sz="1700" u="none" cap="none" strike="noStrike">
              <a:solidFill>
                <a:schemeClr val="dk1"/>
              </a:solidFill>
              <a:latin typeface="Calibri"/>
              <a:ea typeface="Calibri"/>
              <a:cs typeface="Calibri"/>
              <a:sym typeface="Calibri"/>
            </a:endParaRPr>
          </a:p>
        </p:txBody>
      </p:sp>
      <p:sp>
        <p:nvSpPr>
          <p:cNvPr id="668" name="Google Shape;668;p8"/>
          <p:cNvSpPr/>
          <p:nvPr/>
        </p:nvSpPr>
        <p:spPr>
          <a:xfrm>
            <a:off x="3246120" y="1298448"/>
            <a:ext cx="960120" cy="384048"/>
          </a:xfrm>
          <a:prstGeom prst="roundRect">
            <a:avLst>
              <a:gd fmla="val 23810"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8"/>
          <p:cNvSpPr/>
          <p:nvPr/>
        </p:nvSpPr>
        <p:spPr>
          <a:xfrm>
            <a:off x="3246120" y="1298448"/>
            <a:ext cx="9601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162</a:t>
            </a:r>
            <a:endParaRPr b="0" i="0" sz="1200" u="none" cap="none" strike="noStrike">
              <a:solidFill>
                <a:schemeClr val="dk1"/>
              </a:solidFill>
              <a:latin typeface="Calibri"/>
              <a:ea typeface="Calibri"/>
              <a:cs typeface="Calibri"/>
              <a:sym typeface="Calibri"/>
            </a:endParaRPr>
          </a:p>
        </p:txBody>
      </p:sp>
      <p:sp>
        <p:nvSpPr>
          <p:cNvPr id="670" name="Google Shape;670;p8"/>
          <p:cNvSpPr/>
          <p:nvPr/>
        </p:nvSpPr>
        <p:spPr>
          <a:xfrm>
            <a:off x="685800" y="1828800"/>
            <a:ext cx="35204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900"/>
              <a:buFont typeface="Calibri"/>
              <a:buNone/>
            </a:pPr>
            <a:r>
              <a:rPr b="1" i="0" lang="en-US" sz="900" u="none" cap="none" strike="noStrike">
                <a:solidFill>
                  <a:srgbClr val="D12B63"/>
                </a:solidFill>
                <a:latin typeface="Calibri"/>
                <a:ea typeface="Calibri"/>
                <a:cs typeface="Calibri"/>
                <a:sym typeface="Calibri"/>
              </a:rPr>
              <a:t>SCOPE</a:t>
            </a:r>
            <a:endParaRPr b="0" i="0" sz="900" u="none" cap="none" strike="noStrike">
              <a:solidFill>
                <a:schemeClr val="dk1"/>
              </a:solidFill>
              <a:latin typeface="Calibri"/>
              <a:ea typeface="Calibri"/>
              <a:cs typeface="Calibri"/>
              <a:sym typeface="Calibri"/>
            </a:endParaRPr>
          </a:p>
        </p:txBody>
      </p:sp>
      <p:sp>
        <p:nvSpPr>
          <p:cNvPr id="671" name="Google Shape;671;p8"/>
          <p:cNvSpPr/>
          <p:nvPr/>
        </p:nvSpPr>
        <p:spPr>
          <a:xfrm>
            <a:off x="685800" y="2029968"/>
            <a:ext cx="3520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One route or component, in full isolation</a:t>
            </a:r>
            <a:endParaRPr b="0" i="0" sz="1050" u="none" cap="none" strike="noStrike">
              <a:solidFill>
                <a:schemeClr val="dk1"/>
              </a:solidFill>
              <a:latin typeface="Calibri"/>
              <a:ea typeface="Calibri"/>
              <a:cs typeface="Calibri"/>
              <a:sym typeface="Calibri"/>
            </a:endParaRPr>
          </a:p>
        </p:txBody>
      </p:sp>
      <p:sp>
        <p:nvSpPr>
          <p:cNvPr id="672" name="Google Shape;672;p8"/>
          <p:cNvSpPr/>
          <p:nvPr/>
        </p:nvSpPr>
        <p:spPr>
          <a:xfrm>
            <a:off x="685800" y="2395728"/>
            <a:ext cx="35204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900"/>
              <a:buFont typeface="Calibri"/>
              <a:buNone/>
            </a:pPr>
            <a:r>
              <a:rPr b="1" i="0" lang="en-US" sz="900" u="none" cap="none" strike="noStrike">
                <a:solidFill>
                  <a:srgbClr val="D12B63"/>
                </a:solidFill>
                <a:latin typeface="Calibri"/>
                <a:ea typeface="Calibri"/>
                <a:cs typeface="Calibri"/>
                <a:sym typeface="Calibri"/>
              </a:rPr>
              <a:t>DEPENDENCIES</a:t>
            </a:r>
            <a:endParaRPr b="0" i="0" sz="900" u="none" cap="none" strike="noStrike">
              <a:solidFill>
                <a:schemeClr val="dk1"/>
              </a:solidFill>
              <a:latin typeface="Calibri"/>
              <a:ea typeface="Calibri"/>
              <a:cs typeface="Calibri"/>
              <a:sym typeface="Calibri"/>
            </a:endParaRPr>
          </a:p>
        </p:txBody>
      </p:sp>
      <p:sp>
        <p:nvSpPr>
          <p:cNvPr id="673" name="Google Shape;673;p8"/>
          <p:cNvSpPr/>
          <p:nvPr/>
        </p:nvSpPr>
        <p:spPr>
          <a:xfrm>
            <a:off x="685800" y="2596896"/>
            <a:ext cx="3520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DB, OpenAI &amp; network all mocked</a:t>
            </a:r>
            <a:endParaRPr b="0" i="0" sz="1050" u="none" cap="none" strike="noStrike">
              <a:solidFill>
                <a:schemeClr val="dk1"/>
              </a:solidFill>
              <a:latin typeface="Calibri"/>
              <a:ea typeface="Calibri"/>
              <a:cs typeface="Calibri"/>
              <a:sym typeface="Calibri"/>
            </a:endParaRPr>
          </a:p>
        </p:txBody>
      </p:sp>
      <p:sp>
        <p:nvSpPr>
          <p:cNvPr id="674" name="Google Shape;674;p8"/>
          <p:cNvSpPr/>
          <p:nvPr/>
        </p:nvSpPr>
        <p:spPr>
          <a:xfrm>
            <a:off x="685800" y="2962656"/>
            <a:ext cx="35204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900"/>
              <a:buFont typeface="Calibri"/>
              <a:buNone/>
            </a:pPr>
            <a:r>
              <a:rPr b="1" i="0" lang="en-US" sz="900" u="none" cap="none" strike="noStrike">
                <a:solidFill>
                  <a:srgbClr val="D12B63"/>
                </a:solidFill>
                <a:latin typeface="Calibri"/>
                <a:ea typeface="Calibri"/>
                <a:cs typeface="Calibri"/>
                <a:sym typeface="Calibri"/>
              </a:rPr>
              <a:t>CATCHES</a:t>
            </a:r>
            <a:endParaRPr b="0" i="0" sz="900" u="none" cap="none" strike="noStrike">
              <a:solidFill>
                <a:schemeClr val="dk1"/>
              </a:solidFill>
              <a:latin typeface="Calibri"/>
              <a:ea typeface="Calibri"/>
              <a:cs typeface="Calibri"/>
              <a:sym typeface="Calibri"/>
            </a:endParaRPr>
          </a:p>
        </p:txBody>
      </p:sp>
      <p:sp>
        <p:nvSpPr>
          <p:cNvPr id="675" name="Google Shape;675;p8"/>
          <p:cNvSpPr/>
          <p:nvPr/>
        </p:nvSpPr>
        <p:spPr>
          <a:xfrm>
            <a:off x="685800" y="3163824"/>
            <a:ext cx="3520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Logic errors, edge cases, status codes, validation</a:t>
            </a:r>
            <a:endParaRPr b="0" i="0" sz="1050" u="none" cap="none" strike="noStrike">
              <a:solidFill>
                <a:schemeClr val="dk1"/>
              </a:solidFill>
              <a:latin typeface="Calibri"/>
              <a:ea typeface="Calibri"/>
              <a:cs typeface="Calibri"/>
              <a:sym typeface="Calibri"/>
            </a:endParaRPr>
          </a:p>
        </p:txBody>
      </p:sp>
      <p:sp>
        <p:nvSpPr>
          <p:cNvPr id="676" name="Google Shape;676;p8"/>
          <p:cNvSpPr/>
          <p:nvPr/>
        </p:nvSpPr>
        <p:spPr>
          <a:xfrm>
            <a:off x="685800" y="3529584"/>
            <a:ext cx="35204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900"/>
              <a:buFont typeface="Calibri"/>
              <a:buNone/>
            </a:pPr>
            <a:r>
              <a:rPr b="1" i="0" lang="en-US" sz="900" u="none" cap="none" strike="noStrike">
                <a:solidFill>
                  <a:srgbClr val="D12B63"/>
                </a:solidFill>
                <a:latin typeface="Calibri"/>
                <a:ea typeface="Calibri"/>
                <a:cs typeface="Calibri"/>
                <a:sym typeface="Calibri"/>
              </a:rPr>
              <a:t>CADENCE</a:t>
            </a:r>
            <a:endParaRPr b="0" i="0" sz="900" u="none" cap="none" strike="noStrike">
              <a:solidFill>
                <a:schemeClr val="dk1"/>
              </a:solidFill>
              <a:latin typeface="Calibri"/>
              <a:ea typeface="Calibri"/>
              <a:cs typeface="Calibri"/>
              <a:sym typeface="Calibri"/>
            </a:endParaRPr>
          </a:p>
        </p:txBody>
      </p:sp>
      <p:sp>
        <p:nvSpPr>
          <p:cNvPr id="677" name="Google Shape;677;p8"/>
          <p:cNvSpPr/>
          <p:nvPr/>
        </p:nvSpPr>
        <p:spPr>
          <a:xfrm>
            <a:off x="685800" y="3730752"/>
            <a:ext cx="3520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Milliseconds — run on every pull request</a:t>
            </a:r>
            <a:endParaRPr b="0" i="0" sz="1050" u="none" cap="none" strike="noStrike">
              <a:solidFill>
                <a:schemeClr val="dk1"/>
              </a:solidFill>
              <a:latin typeface="Calibri"/>
              <a:ea typeface="Calibri"/>
              <a:cs typeface="Calibri"/>
              <a:sym typeface="Calibri"/>
            </a:endParaRPr>
          </a:p>
        </p:txBody>
      </p:sp>
      <p:sp>
        <p:nvSpPr>
          <p:cNvPr id="678" name="Google Shape;678;p8"/>
          <p:cNvSpPr/>
          <p:nvPr/>
        </p:nvSpPr>
        <p:spPr>
          <a:xfrm>
            <a:off x="4709160" y="1097280"/>
            <a:ext cx="3977640" cy="3063240"/>
          </a:xfrm>
          <a:prstGeom prst="roundRect">
            <a:avLst>
              <a:gd fmla="val 17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8"/>
          <p:cNvSpPr/>
          <p:nvPr/>
        </p:nvSpPr>
        <p:spPr>
          <a:xfrm>
            <a:off x="4937760" y="1280160"/>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700"/>
              <a:buFont typeface="Calibri"/>
              <a:buNone/>
            </a:pPr>
            <a:r>
              <a:rPr b="1" i="0" lang="en-US" sz="1700" u="none" cap="none" strike="noStrike">
                <a:solidFill>
                  <a:srgbClr val="A01E4A"/>
                </a:solidFill>
                <a:latin typeface="Calibri"/>
                <a:ea typeface="Calibri"/>
                <a:cs typeface="Calibri"/>
                <a:sym typeface="Calibri"/>
              </a:rPr>
              <a:t>End-to-End / BDD</a:t>
            </a:r>
            <a:endParaRPr b="0" i="0" sz="1700" u="none" cap="none" strike="noStrike">
              <a:solidFill>
                <a:schemeClr val="dk1"/>
              </a:solidFill>
              <a:latin typeface="Calibri"/>
              <a:ea typeface="Calibri"/>
              <a:cs typeface="Calibri"/>
              <a:sym typeface="Calibri"/>
            </a:endParaRPr>
          </a:p>
        </p:txBody>
      </p:sp>
      <p:sp>
        <p:nvSpPr>
          <p:cNvPr id="680" name="Google Shape;680;p8"/>
          <p:cNvSpPr/>
          <p:nvPr/>
        </p:nvSpPr>
        <p:spPr>
          <a:xfrm>
            <a:off x="7498080" y="1298448"/>
            <a:ext cx="960120" cy="384048"/>
          </a:xfrm>
          <a:prstGeom prst="roundRect">
            <a:avLst>
              <a:gd fmla="val 23810" name="adj"/>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8"/>
          <p:cNvSpPr/>
          <p:nvPr/>
        </p:nvSpPr>
        <p:spPr>
          <a:xfrm>
            <a:off x="7498080" y="1298448"/>
            <a:ext cx="9601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46</a:t>
            </a:r>
            <a:endParaRPr b="0" i="0" sz="1200" u="none" cap="none" strike="noStrike">
              <a:solidFill>
                <a:schemeClr val="dk1"/>
              </a:solidFill>
              <a:latin typeface="Calibri"/>
              <a:ea typeface="Calibri"/>
              <a:cs typeface="Calibri"/>
              <a:sym typeface="Calibri"/>
            </a:endParaRPr>
          </a:p>
        </p:txBody>
      </p:sp>
      <p:sp>
        <p:nvSpPr>
          <p:cNvPr id="682" name="Google Shape;682;p8"/>
          <p:cNvSpPr/>
          <p:nvPr/>
        </p:nvSpPr>
        <p:spPr>
          <a:xfrm>
            <a:off x="4937760" y="1828800"/>
            <a:ext cx="35204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900"/>
              <a:buFont typeface="Calibri"/>
              <a:buNone/>
            </a:pPr>
            <a:r>
              <a:rPr b="1" i="0" lang="en-US" sz="900" u="none" cap="none" strike="noStrike">
                <a:solidFill>
                  <a:srgbClr val="A01E4A"/>
                </a:solidFill>
                <a:latin typeface="Calibri"/>
                <a:ea typeface="Calibri"/>
                <a:cs typeface="Calibri"/>
                <a:sym typeface="Calibri"/>
              </a:rPr>
              <a:t>SCOPE</a:t>
            </a:r>
            <a:endParaRPr b="0" i="0" sz="900" u="none" cap="none" strike="noStrike">
              <a:solidFill>
                <a:schemeClr val="dk1"/>
              </a:solidFill>
              <a:latin typeface="Calibri"/>
              <a:ea typeface="Calibri"/>
              <a:cs typeface="Calibri"/>
              <a:sym typeface="Calibri"/>
            </a:endParaRPr>
          </a:p>
        </p:txBody>
      </p:sp>
      <p:sp>
        <p:nvSpPr>
          <p:cNvPr id="683" name="Google Shape;683;p8"/>
          <p:cNvSpPr/>
          <p:nvPr/>
        </p:nvSpPr>
        <p:spPr>
          <a:xfrm>
            <a:off x="4937760" y="2029968"/>
            <a:ext cx="3520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Whole app driven through the live browser UI</a:t>
            </a:r>
            <a:endParaRPr b="0" i="0" sz="1050" u="none" cap="none" strike="noStrike">
              <a:solidFill>
                <a:schemeClr val="dk1"/>
              </a:solidFill>
              <a:latin typeface="Calibri"/>
              <a:ea typeface="Calibri"/>
              <a:cs typeface="Calibri"/>
              <a:sym typeface="Calibri"/>
            </a:endParaRPr>
          </a:p>
        </p:txBody>
      </p:sp>
      <p:sp>
        <p:nvSpPr>
          <p:cNvPr id="684" name="Google Shape;684;p8"/>
          <p:cNvSpPr/>
          <p:nvPr/>
        </p:nvSpPr>
        <p:spPr>
          <a:xfrm>
            <a:off x="4937760" y="2395728"/>
            <a:ext cx="35204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900"/>
              <a:buFont typeface="Calibri"/>
              <a:buNone/>
            </a:pPr>
            <a:r>
              <a:rPr b="1" i="0" lang="en-US" sz="900" u="none" cap="none" strike="noStrike">
                <a:solidFill>
                  <a:srgbClr val="A01E4A"/>
                </a:solidFill>
                <a:latin typeface="Calibri"/>
                <a:ea typeface="Calibri"/>
                <a:cs typeface="Calibri"/>
                <a:sym typeface="Calibri"/>
              </a:rPr>
              <a:t>DEPENDENCIES</a:t>
            </a:r>
            <a:endParaRPr b="0" i="0" sz="900" u="none" cap="none" strike="noStrike">
              <a:solidFill>
                <a:schemeClr val="dk1"/>
              </a:solidFill>
              <a:latin typeface="Calibri"/>
              <a:ea typeface="Calibri"/>
              <a:cs typeface="Calibri"/>
              <a:sym typeface="Calibri"/>
            </a:endParaRPr>
          </a:p>
        </p:txBody>
      </p:sp>
      <p:sp>
        <p:nvSpPr>
          <p:cNvPr id="685" name="Google Shape;685;p8"/>
          <p:cNvSpPr/>
          <p:nvPr/>
        </p:nvSpPr>
        <p:spPr>
          <a:xfrm>
            <a:off x="4937760" y="2596896"/>
            <a:ext cx="3520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Real rendered UI, routing &amp; user interactions</a:t>
            </a:r>
            <a:endParaRPr b="0" i="0" sz="1050" u="none" cap="none" strike="noStrike">
              <a:solidFill>
                <a:schemeClr val="dk1"/>
              </a:solidFill>
              <a:latin typeface="Calibri"/>
              <a:ea typeface="Calibri"/>
              <a:cs typeface="Calibri"/>
              <a:sym typeface="Calibri"/>
            </a:endParaRPr>
          </a:p>
        </p:txBody>
      </p:sp>
      <p:sp>
        <p:nvSpPr>
          <p:cNvPr id="686" name="Google Shape;686;p8"/>
          <p:cNvSpPr/>
          <p:nvPr/>
        </p:nvSpPr>
        <p:spPr>
          <a:xfrm>
            <a:off x="4937760" y="2962656"/>
            <a:ext cx="35204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900"/>
              <a:buFont typeface="Calibri"/>
              <a:buNone/>
            </a:pPr>
            <a:r>
              <a:rPr b="1" i="0" lang="en-US" sz="900" u="none" cap="none" strike="noStrike">
                <a:solidFill>
                  <a:srgbClr val="A01E4A"/>
                </a:solidFill>
                <a:latin typeface="Calibri"/>
                <a:ea typeface="Calibri"/>
                <a:cs typeface="Calibri"/>
                <a:sym typeface="Calibri"/>
              </a:rPr>
              <a:t>CATCHES</a:t>
            </a:r>
            <a:endParaRPr b="0" i="0" sz="900" u="none" cap="none" strike="noStrike">
              <a:solidFill>
                <a:schemeClr val="dk1"/>
              </a:solidFill>
              <a:latin typeface="Calibri"/>
              <a:ea typeface="Calibri"/>
              <a:cs typeface="Calibri"/>
              <a:sym typeface="Calibri"/>
            </a:endParaRPr>
          </a:p>
        </p:txBody>
      </p:sp>
      <p:sp>
        <p:nvSpPr>
          <p:cNvPr id="687" name="Google Shape;687;p8"/>
          <p:cNvSpPr/>
          <p:nvPr/>
        </p:nvSpPr>
        <p:spPr>
          <a:xfrm>
            <a:off x="4937760" y="3163824"/>
            <a:ext cx="3520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Broken flows, integration gaps, UI regressions</a:t>
            </a:r>
            <a:endParaRPr b="0" i="0" sz="1050" u="none" cap="none" strike="noStrike">
              <a:solidFill>
                <a:schemeClr val="dk1"/>
              </a:solidFill>
              <a:latin typeface="Calibri"/>
              <a:ea typeface="Calibri"/>
              <a:cs typeface="Calibri"/>
              <a:sym typeface="Calibri"/>
            </a:endParaRPr>
          </a:p>
        </p:txBody>
      </p:sp>
      <p:sp>
        <p:nvSpPr>
          <p:cNvPr id="688" name="Google Shape;688;p8"/>
          <p:cNvSpPr/>
          <p:nvPr/>
        </p:nvSpPr>
        <p:spPr>
          <a:xfrm>
            <a:off x="4937760" y="3529584"/>
            <a:ext cx="35204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900"/>
              <a:buFont typeface="Calibri"/>
              <a:buNone/>
            </a:pPr>
            <a:r>
              <a:rPr b="1" i="0" lang="en-US" sz="900" u="none" cap="none" strike="noStrike">
                <a:solidFill>
                  <a:srgbClr val="A01E4A"/>
                </a:solidFill>
                <a:latin typeface="Calibri"/>
                <a:ea typeface="Calibri"/>
                <a:cs typeface="Calibri"/>
                <a:sym typeface="Calibri"/>
              </a:rPr>
              <a:t>CADENCE</a:t>
            </a:r>
            <a:endParaRPr b="0" i="0" sz="900" u="none" cap="none" strike="noStrike">
              <a:solidFill>
                <a:schemeClr val="dk1"/>
              </a:solidFill>
              <a:latin typeface="Calibri"/>
              <a:ea typeface="Calibri"/>
              <a:cs typeface="Calibri"/>
              <a:sym typeface="Calibri"/>
            </a:endParaRPr>
          </a:p>
        </p:txBody>
      </p:sp>
      <p:sp>
        <p:nvSpPr>
          <p:cNvPr id="689" name="Google Shape;689;p8"/>
          <p:cNvSpPr/>
          <p:nvPr/>
        </p:nvSpPr>
        <p:spPr>
          <a:xfrm>
            <a:off x="4937760" y="3730752"/>
            <a:ext cx="3520440"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0" i="0" lang="en-US" sz="1050" u="none" cap="none" strike="noStrike">
                <a:solidFill>
                  <a:srgbClr val="2D2D2D"/>
                </a:solidFill>
                <a:latin typeface="Calibri"/>
                <a:ea typeface="Calibri"/>
                <a:cs typeface="Calibri"/>
                <a:sym typeface="Calibri"/>
              </a:rPr>
              <a:t>Seconds — run in CI before merge &amp; demo</a:t>
            </a:r>
            <a:endParaRPr b="0" i="0" sz="1050" u="none" cap="none" strike="noStrike">
              <a:solidFill>
                <a:schemeClr val="dk1"/>
              </a:solidFill>
              <a:latin typeface="Calibri"/>
              <a:ea typeface="Calibri"/>
              <a:cs typeface="Calibri"/>
              <a:sym typeface="Calibri"/>
            </a:endParaRPr>
          </a:p>
        </p:txBody>
      </p:sp>
      <p:sp>
        <p:nvSpPr>
          <p:cNvPr id="690" name="Google Shape;690;p8"/>
          <p:cNvSpPr/>
          <p:nvPr/>
        </p:nvSpPr>
        <p:spPr>
          <a:xfrm>
            <a:off x="457200" y="4297680"/>
            <a:ext cx="8229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1100"/>
              <a:buFont typeface="Calibri"/>
              <a:buNone/>
            </a:pPr>
            <a:r>
              <a:rPr b="0" i="1" lang="en-US" sz="1100" u="none" cap="none" strike="noStrike">
                <a:solidFill>
                  <a:srgbClr val="A01E4A"/>
                </a:solidFill>
                <a:latin typeface="Calibri"/>
                <a:ea typeface="Calibri"/>
                <a:cs typeface="Calibri"/>
                <a:sym typeface="Calibri"/>
              </a:rPr>
              <a:t>Unit and end-to-end suites are kept separate by design — they verify different aspects of the system, so both are needed for confidence.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5" name="Shape 695"/>
        <p:cNvGrpSpPr/>
        <p:nvPr/>
      </p:nvGrpSpPr>
      <p:grpSpPr>
        <a:xfrm>
          <a:off x="0" y="0"/>
          <a:ext cx="0" cy="0"/>
          <a:chOff x="0" y="0"/>
          <a:chExt cx="0" cy="0"/>
        </a:xfrm>
      </p:grpSpPr>
      <p:pic>
        <p:nvPicPr>
          <p:cNvPr descr="/tmp/band.png" id="696" name="Google Shape;696;p9"/>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697" name="Google Shape;697;p9"/>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JEST 29 + SUPERTEST  •  65 TESTS</a:t>
            </a:r>
            <a:endParaRPr b="0" i="0" sz="1000" u="none" cap="none" strike="noStrike">
              <a:solidFill>
                <a:schemeClr val="dk1"/>
              </a:solidFill>
              <a:latin typeface="Calibri"/>
              <a:ea typeface="Calibri"/>
              <a:cs typeface="Calibri"/>
              <a:sym typeface="Calibri"/>
            </a:endParaRPr>
          </a:p>
        </p:txBody>
      </p:sp>
      <p:sp>
        <p:nvSpPr>
          <p:cNvPr id="698" name="Google Shape;698;p9"/>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Backend Unit Tests</a:t>
            </a:r>
            <a:endParaRPr b="0" i="0" sz="2500" u="none" cap="none" strike="noStrike">
              <a:solidFill>
                <a:schemeClr val="dk1"/>
              </a:solidFill>
              <a:latin typeface="Calibri"/>
              <a:ea typeface="Calibri"/>
              <a:cs typeface="Calibri"/>
              <a:sym typeface="Calibri"/>
            </a:endParaRPr>
          </a:p>
        </p:txBody>
      </p:sp>
      <p:sp>
        <p:nvSpPr>
          <p:cNvPr id="699" name="Google Shape;699;p9"/>
          <p:cNvSpPr/>
          <p:nvPr/>
        </p:nvSpPr>
        <p:spPr>
          <a:xfrm>
            <a:off x="457200" y="1097280"/>
            <a:ext cx="8229600" cy="603504"/>
          </a:xfrm>
          <a:prstGeom prst="roundRect">
            <a:avLst>
              <a:gd fmla="val 90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9"/>
          <p:cNvSpPr/>
          <p:nvPr/>
        </p:nvSpPr>
        <p:spPr>
          <a:xfrm>
            <a:off x="640080" y="1252728"/>
            <a:ext cx="777240" cy="292608"/>
          </a:xfrm>
          <a:prstGeom prst="roundRect">
            <a:avLst>
              <a:gd fmla="val 50000"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9"/>
          <p:cNvSpPr/>
          <p:nvPr/>
        </p:nvSpPr>
        <p:spPr>
          <a:xfrm>
            <a:off x="640080" y="1252728"/>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15</a:t>
            </a:r>
            <a:endParaRPr b="0" i="0" sz="1300" u="none" cap="none" strike="noStrike">
              <a:solidFill>
                <a:schemeClr val="dk1"/>
              </a:solidFill>
              <a:latin typeface="Calibri"/>
              <a:ea typeface="Calibri"/>
              <a:cs typeface="Calibri"/>
              <a:sym typeface="Calibri"/>
            </a:endParaRPr>
          </a:p>
        </p:txBody>
      </p:sp>
      <p:sp>
        <p:nvSpPr>
          <p:cNvPr id="702" name="Google Shape;702;p9"/>
          <p:cNvSpPr/>
          <p:nvPr/>
        </p:nvSpPr>
        <p:spPr>
          <a:xfrm>
            <a:off x="1600200" y="1170432"/>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50"/>
              <a:buFont typeface="Courier New"/>
              <a:buNone/>
            </a:pPr>
            <a:r>
              <a:rPr b="1" i="0" lang="en-US" sz="1250" u="none" cap="none" strike="noStrike">
                <a:solidFill>
                  <a:srgbClr val="2D2D2D"/>
                </a:solidFill>
                <a:latin typeface="Courier New"/>
                <a:ea typeface="Courier New"/>
                <a:cs typeface="Courier New"/>
                <a:sym typeface="Courier New"/>
              </a:rPr>
              <a:t>login.test.js</a:t>
            </a:r>
            <a:endParaRPr b="0" i="0" sz="1250" u="none" cap="none" strike="noStrike">
              <a:solidFill>
                <a:schemeClr val="dk1"/>
              </a:solidFill>
              <a:latin typeface="Calibri"/>
              <a:ea typeface="Calibri"/>
              <a:cs typeface="Calibri"/>
              <a:sym typeface="Calibri"/>
            </a:endParaRPr>
          </a:p>
        </p:txBody>
      </p:sp>
      <p:sp>
        <p:nvSpPr>
          <p:cNvPr id="703" name="Google Shape;703;p9"/>
          <p:cNvSpPr/>
          <p:nvPr/>
        </p:nvSpPr>
        <p:spPr>
          <a:xfrm>
            <a:off x="4572000" y="1170432"/>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Auth, registration &amp; change-password — 400/401/404/500 paths</a:t>
            </a:r>
            <a:endParaRPr b="0" i="0" sz="1050" u="none" cap="none" strike="noStrike">
              <a:solidFill>
                <a:schemeClr val="dk1"/>
              </a:solidFill>
              <a:latin typeface="Calibri"/>
              <a:ea typeface="Calibri"/>
              <a:cs typeface="Calibri"/>
              <a:sym typeface="Calibri"/>
            </a:endParaRPr>
          </a:p>
        </p:txBody>
      </p:sp>
      <p:sp>
        <p:nvSpPr>
          <p:cNvPr id="704" name="Google Shape;704;p9"/>
          <p:cNvSpPr/>
          <p:nvPr/>
        </p:nvSpPr>
        <p:spPr>
          <a:xfrm>
            <a:off x="457200" y="1755648"/>
            <a:ext cx="8229600" cy="603504"/>
          </a:xfrm>
          <a:prstGeom prst="roundRect">
            <a:avLst>
              <a:gd fmla="val 90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9"/>
          <p:cNvSpPr/>
          <p:nvPr/>
        </p:nvSpPr>
        <p:spPr>
          <a:xfrm>
            <a:off x="640080" y="1911096"/>
            <a:ext cx="777240" cy="292608"/>
          </a:xfrm>
          <a:prstGeom prst="roundRect">
            <a:avLst>
              <a:gd fmla="val 50000"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9"/>
          <p:cNvSpPr/>
          <p:nvPr/>
        </p:nvSpPr>
        <p:spPr>
          <a:xfrm>
            <a:off x="640080" y="1911096"/>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17</a:t>
            </a:r>
            <a:endParaRPr b="0" i="0" sz="1300" u="none" cap="none" strike="noStrike">
              <a:solidFill>
                <a:schemeClr val="dk1"/>
              </a:solidFill>
              <a:latin typeface="Calibri"/>
              <a:ea typeface="Calibri"/>
              <a:cs typeface="Calibri"/>
              <a:sym typeface="Calibri"/>
            </a:endParaRPr>
          </a:p>
        </p:txBody>
      </p:sp>
      <p:sp>
        <p:nvSpPr>
          <p:cNvPr id="707" name="Google Shape;707;p9"/>
          <p:cNvSpPr/>
          <p:nvPr/>
        </p:nvSpPr>
        <p:spPr>
          <a:xfrm>
            <a:off x="1600200" y="182880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50"/>
              <a:buFont typeface="Courier New"/>
              <a:buNone/>
            </a:pPr>
            <a:r>
              <a:rPr b="1" i="0" lang="en-US" sz="1250" u="none" cap="none" strike="noStrike">
                <a:solidFill>
                  <a:srgbClr val="2D2D2D"/>
                </a:solidFill>
                <a:latin typeface="Courier New"/>
                <a:ea typeface="Courier New"/>
                <a:cs typeface="Courier New"/>
                <a:sym typeface="Courier New"/>
              </a:rPr>
              <a:t>testCaseManagement.test.js</a:t>
            </a:r>
            <a:endParaRPr b="0" i="0" sz="1250" u="none" cap="none" strike="noStrike">
              <a:solidFill>
                <a:schemeClr val="dk1"/>
              </a:solidFill>
              <a:latin typeface="Calibri"/>
              <a:ea typeface="Calibri"/>
              <a:cs typeface="Calibri"/>
              <a:sym typeface="Calibri"/>
            </a:endParaRPr>
          </a:p>
        </p:txBody>
      </p:sp>
      <p:sp>
        <p:nvSpPr>
          <p:cNvPr id="708" name="Google Shape;708;p9"/>
          <p:cNvSpPr/>
          <p:nvPr/>
        </p:nvSpPr>
        <p:spPr>
          <a:xfrm>
            <a:off x="4572000" y="182880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Edit, archive / unarchive &amp; delete test cases</a:t>
            </a:r>
            <a:endParaRPr b="0" i="0" sz="1050" u="none" cap="none" strike="noStrike">
              <a:solidFill>
                <a:schemeClr val="dk1"/>
              </a:solidFill>
              <a:latin typeface="Calibri"/>
              <a:ea typeface="Calibri"/>
              <a:cs typeface="Calibri"/>
              <a:sym typeface="Calibri"/>
            </a:endParaRPr>
          </a:p>
        </p:txBody>
      </p:sp>
      <p:sp>
        <p:nvSpPr>
          <p:cNvPr id="709" name="Google Shape;709;p9"/>
          <p:cNvSpPr/>
          <p:nvPr/>
        </p:nvSpPr>
        <p:spPr>
          <a:xfrm>
            <a:off x="457200" y="2414016"/>
            <a:ext cx="8229600" cy="603504"/>
          </a:xfrm>
          <a:prstGeom prst="roundRect">
            <a:avLst>
              <a:gd fmla="val 90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9"/>
          <p:cNvSpPr/>
          <p:nvPr/>
        </p:nvSpPr>
        <p:spPr>
          <a:xfrm>
            <a:off x="640080" y="2569464"/>
            <a:ext cx="777240" cy="292608"/>
          </a:xfrm>
          <a:prstGeom prst="roundRect">
            <a:avLst>
              <a:gd fmla="val 50000"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9"/>
          <p:cNvSpPr/>
          <p:nvPr/>
        </p:nvSpPr>
        <p:spPr>
          <a:xfrm>
            <a:off x="640080" y="2569464"/>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12</a:t>
            </a:r>
            <a:endParaRPr b="0" i="0" sz="1300" u="none" cap="none" strike="noStrike">
              <a:solidFill>
                <a:schemeClr val="dk1"/>
              </a:solidFill>
              <a:latin typeface="Calibri"/>
              <a:ea typeface="Calibri"/>
              <a:cs typeface="Calibri"/>
              <a:sym typeface="Calibri"/>
            </a:endParaRPr>
          </a:p>
        </p:txBody>
      </p:sp>
      <p:sp>
        <p:nvSpPr>
          <p:cNvPr id="712" name="Google Shape;712;p9"/>
          <p:cNvSpPr/>
          <p:nvPr/>
        </p:nvSpPr>
        <p:spPr>
          <a:xfrm>
            <a:off x="1600200" y="2487168"/>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50"/>
              <a:buFont typeface="Courier New"/>
              <a:buNone/>
            </a:pPr>
            <a:r>
              <a:rPr b="1" i="0" lang="en-US" sz="1250" u="none" cap="none" strike="noStrike">
                <a:solidFill>
                  <a:srgbClr val="2D2D2D"/>
                </a:solidFill>
                <a:latin typeface="Courier New"/>
                <a:ea typeface="Courier New"/>
                <a:cs typeface="Courier New"/>
                <a:sym typeface="Courier New"/>
              </a:rPr>
              <a:t>testGen.test.js</a:t>
            </a:r>
            <a:endParaRPr b="0" i="0" sz="1250" u="none" cap="none" strike="noStrike">
              <a:solidFill>
                <a:schemeClr val="dk1"/>
              </a:solidFill>
              <a:latin typeface="Calibri"/>
              <a:ea typeface="Calibri"/>
              <a:cs typeface="Calibri"/>
              <a:sym typeface="Calibri"/>
            </a:endParaRPr>
          </a:p>
        </p:txBody>
      </p:sp>
      <p:sp>
        <p:nvSpPr>
          <p:cNvPr id="713" name="Google Shape;713;p9"/>
          <p:cNvSpPr/>
          <p:nvPr/>
        </p:nvSpPr>
        <p:spPr>
          <a:xfrm>
            <a:off x="4572000" y="2487168"/>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AI generation, ID sequencing (AI-### / HU-###), manual add</a:t>
            </a:r>
            <a:endParaRPr b="0" i="0" sz="1050" u="none" cap="none" strike="noStrike">
              <a:solidFill>
                <a:schemeClr val="dk1"/>
              </a:solidFill>
              <a:latin typeface="Calibri"/>
              <a:ea typeface="Calibri"/>
              <a:cs typeface="Calibri"/>
              <a:sym typeface="Calibri"/>
            </a:endParaRPr>
          </a:p>
        </p:txBody>
      </p:sp>
      <p:sp>
        <p:nvSpPr>
          <p:cNvPr id="714" name="Google Shape;714;p9"/>
          <p:cNvSpPr/>
          <p:nvPr/>
        </p:nvSpPr>
        <p:spPr>
          <a:xfrm>
            <a:off x="457200" y="3072384"/>
            <a:ext cx="8229600" cy="603504"/>
          </a:xfrm>
          <a:prstGeom prst="roundRect">
            <a:avLst>
              <a:gd fmla="val 90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9"/>
          <p:cNvSpPr/>
          <p:nvPr/>
        </p:nvSpPr>
        <p:spPr>
          <a:xfrm>
            <a:off x="640080" y="3227832"/>
            <a:ext cx="777240" cy="292608"/>
          </a:xfrm>
          <a:prstGeom prst="roundRect">
            <a:avLst>
              <a:gd fmla="val 50000"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9"/>
          <p:cNvSpPr/>
          <p:nvPr/>
        </p:nvSpPr>
        <p:spPr>
          <a:xfrm>
            <a:off x="640080" y="3227832"/>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11</a:t>
            </a:r>
            <a:endParaRPr b="0" i="0" sz="1300" u="none" cap="none" strike="noStrike">
              <a:solidFill>
                <a:schemeClr val="dk1"/>
              </a:solidFill>
              <a:latin typeface="Calibri"/>
              <a:ea typeface="Calibri"/>
              <a:cs typeface="Calibri"/>
              <a:sym typeface="Calibri"/>
            </a:endParaRPr>
          </a:p>
        </p:txBody>
      </p:sp>
      <p:sp>
        <p:nvSpPr>
          <p:cNvPr id="717" name="Google Shape;717;p9"/>
          <p:cNvSpPr/>
          <p:nvPr/>
        </p:nvSpPr>
        <p:spPr>
          <a:xfrm>
            <a:off x="1600200" y="3145536"/>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50"/>
              <a:buFont typeface="Courier New"/>
              <a:buNone/>
            </a:pPr>
            <a:r>
              <a:rPr b="1" i="0" lang="en-US" sz="1250" u="none" cap="none" strike="noStrike">
                <a:solidFill>
                  <a:srgbClr val="2D2D2D"/>
                </a:solidFill>
                <a:latin typeface="Courier New"/>
                <a:ea typeface="Courier New"/>
                <a:cs typeface="Courier New"/>
                <a:sym typeface="Courier New"/>
              </a:rPr>
              <a:t>projects.test.js</a:t>
            </a:r>
            <a:endParaRPr b="0" i="0" sz="1250" u="none" cap="none" strike="noStrike">
              <a:solidFill>
                <a:schemeClr val="dk1"/>
              </a:solidFill>
              <a:latin typeface="Calibri"/>
              <a:ea typeface="Calibri"/>
              <a:cs typeface="Calibri"/>
              <a:sym typeface="Calibri"/>
            </a:endParaRPr>
          </a:p>
        </p:txBody>
      </p:sp>
      <p:sp>
        <p:nvSpPr>
          <p:cNvPr id="718" name="Google Shape;718;p9"/>
          <p:cNvSpPr/>
          <p:nvPr/>
        </p:nvSpPr>
        <p:spPr>
          <a:xfrm>
            <a:off x="4572000" y="3145536"/>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Project CRUD + ordered cascade delete of chunks &amp; docs</a:t>
            </a:r>
            <a:endParaRPr b="0" i="0" sz="1050" u="none" cap="none" strike="noStrike">
              <a:solidFill>
                <a:schemeClr val="dk1"/>
              </a:solidFill>
              <a:latin typeface="Calibri"/>
              <a:ea typeface="Calibri"/>
              <a:cs typeface="Calibri"/>
              <a:sym typeface="Calibri"/>
            </a:endParaRPr>
          </a:p>
        </p:txBody>
      </p:sp>
      <p:sp>
        <p:nvSpPr>
          <p:cNvPr id="719" name="Google Shape;719;p9"/>
          <p:cNvSpPr/>
          <p:nvPr/>
        </p:nvSpPr>
        <p:spPr>
          <a:xfrm>
            <a:off x="457200" y="3730752"/>
            <a:ext cx="8229600" cy="603504"/>
          </a:xfrm>
          <a:prstGeom prst="roundRect">
            <a:avLst>
              <a:gd fmla="val 9091"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9"/>
          <p:cNvSpPr/>
          <p:nvPr/>
        </p:nvSpPr>
        <p:spPr>
          <a:xfrm>
            <a:off x="640080" y="3886200"/>
            <a:ext cx="777240" cy="292608"/>
          </a:xfrm>
          <a:prstGeom prst="roundRect">
            <a:avLst>
              <a:gd fmla="val 50000" name="adj"/>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9"/>
          <p:cNvSpPr/>
          <p:nvPr/>
        </p:nvSpPr>
        <p:spPr>
          <a:xfrm>
            <a:off x="640080" y="3886200"/>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722" name="Google Shape;722;p9"/>
          <p:cNvSpPr/>
          <p:nvPr/>
        </p:nvSpPr>
        <p:spPr>
          <a:xfrm>
            <a:off x="1600200" y="3803904"/>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50"/>
              <a:buFont typeface="Courier New"/>
              <a:buNone/>
            </a:pPr>
            <a:r>
              <a:rPr b="1" i="0" lang="en-US" sz="1250" u="none" cap="none" strike="noStrike">
                <a:solidFill>
                  <a:srgbClr val="2D2D2D"/>
                </a:solidFill>
                <a:latin typeface="Courier New"/>
                <a:ea typeface="Courier New"/>
                <a:cs typeface="Courier New"/>
                <a:sym typeface="Courier New"/>
              </a:rPr>
              <a:t>upload.test.js</a:t>
            </a:r>
            <a:endParaRPr b="0" i="0" sz="1250" u="none" cap="none" strike="noStrike">
              <a:solidFill>
                <a:schemeClr val="dk1"/>
              </a:solidFill>
              <a:latin typeface="Calibri"/>
              <a:ea typeface="Calibri"/>
              <a:cs typeface="Calibri"/>
              <a:sym typeface="Calibri"/>
            </a:endParaRPr>
          </a:p>
        </p:txBody>
      </p:sp>
      <p:sp>
        <p:nvSpPr>
          <p:cNvPr id="723" name="Google Shape;723;p9"/>
          <p:cNvSpPr/>
          <p:nvPr/>
        </p:nvSpPr>
        <p:spPr>
          <a:xfrm>
            <a:off x="4572000" y="3803904"/>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File validation, storage, document + chunk removal</a:t>
            </a:r>
            <a:endParaRPr b="0" i="0" sz="1050" u="none" cap="none" strike="noStrike">
              <a:solidFill>
                <a:schemeClr val="dk1"/>
              </a:solidFill>
              <a:latin typeface="Calibri"/>
              <a:ea typeface="Calibri"/>
              <a:cs typeface="Calibri"/>
              <a:sym typeface="Calibri"/>
            </a:endParaRPr>
          </a:p>
        </p:txBody>
      </p:sp>
      <p:sp>
        <p:nvSpPr>
          <p:cNvPr id="724" name="Google Shape;724;p9"/>
          <p:cNvSpPr/>
          <p:nvPr/>
        </p:nvSpPr>
        <p:spPr>
          <a:xfrm>
            <a:off x="457200" y="452628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alibri"/>
              <a:buNone/>
            </a:pPr>
            <a:r>
              <a:rPr b="0" i="1" lang="en-US" sz="1100" u="none" cap="none" strike="noStrike">
                <a:solidFill>
                  <a:srgbClr val="A01E4A"/>
                </a:solidFill>
                <a:latin typeface="Calibri"/>
                <a:ea typeface="Calibri"/>
                <a:cs typeface="Calibri"/>
                <a:sym typeface="Calibri"/>
              </a:rPr>
              <a:t>Mock strategy:  jest.mock() for all Mongoose models, OpenAI, pdf-parse-fork and Tesseract — no real DB or API calls.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9" name="Shape 729"/>
        <p:cNvGrpSpPr/>
        <p:nvPr/>
      </p:nvGrpSpPr>
      <p:grpSpPr>
        <a:xfrm>
          <a:off x="0" y="0"/>
          <a:ext cx="0" cy="0"/>
          <a:chOff x="0" y="0"/>
          <a:chExt cx="0" cy="0"/>
        </a:xfrm>
      </p:grpSpPr>
      <p:pic>
        <p:nvPicPr>
          <p:cNvPr descr="/tmp/band.png" id="730" name="Google Shape;730;p10"/>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731" name="Google Shape;731;p10"/>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VITEST 2 + REACT TESTING LIBRARY  •  97 TESTS</a:t>
            </a:r>
            <a:endParaRPr b="0" i="0" sz="1000" u="none" cap="none" strike="noStrike">
              <a:solidFill>
                <a:schemeClr val="dk1"/>
              </a:solidFill>
              <a:latin typeface="Calibri"/>
              <a:ea typeface="Calibri"/>
              <a:cs typeface="Calibri"/>
              <a:sym typeface="Calibri"/>
            </a:endParaRPr>
          </a:p>
        </p:txBody>
      </p:sp>
      <p:sp>
        <p:nvSpPr>
          <p:cNvPr id="732" name="Google Shape;732;p10"/>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Frontend Unit Tests</a:t>
            </a:r>
            <a:endParaRPr b="0" i="0" sz="2500" u="none" cap="none" strike="noStrike">
              <a:solidFill>
                <a:schemeClr val="dk1"/>
              </a:solidFill>
              <a:latin typeface="Calibri"/>
              <a:ea typeface="Calibri"/>
              <a:cs typeface="Calibri"/>
              <a:sym typeface="Calibri"/>
            </a:endParaRPr>
          </a:p>
        </p:txBody>
      </p:sp>
      <p:sp>
        <p:nvSpPr>
          <p:cNvPr id="733" name="Google Shape;733;p10"/>
          <p:cNvSpPr/>
          <p:nvPr/>
        </p:nvSpPr>
        <p:spPr>
          <a:xfrm>
            <a:off x="457200" y="1097280"/>
            <a:ext cx="8229600" cy="502920"/>
          </a:xfrm>
          <a:prstGeom prst="roundRect">
            <a:avLst>
              <a:gd fmla="val 10909"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0"/>
          <p:cNvSpPr/>
          <p:nvPr/>
        </p:nvSpPr>
        <p:spPr>
          <a:xfrm>
            <a:off x="640080" y="1207008"/>
            <a:ext cx="777240" cy="292608"/>
          </a:xfrm>
          <a:prstGeom prst="roundRect">
            <a:avLst>
              <a:gd fmla="val 50000" name="adj"/>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0"/>
          <p:cNvSpPr/>
          <p:nvPr/>
        </p:nvSpPr>
        <p:spPr>
          <a:xfrm>
            <a:off x="640080" y="1207008"/>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24</a:t>
            </a:r>
            <a:endParaRPr b="0" i="0" sz="1300" u="none" cap="none" strike="noStrike">
              <a:solidFill>
                <a:schemeClr val="dk1"/>
              </a:solidFill>
              <a:latin typeface="Calibri"/>
              <a:ea typeface="Calibri"/>
              <a:cs typeface="Calibri"/>
              <a:sym typeface="Calibri"/>
            </a:endParaRPr>
          </a:p>
        </p:txBody>
      </p:sp>
      <p:sp>
        <p:nvSpPr>
          <p:cNvPr id="736" name="Google Shape;736;p10"/>
          <p:cNvSpPr/>
          <p:nvPr/>
        </p:nvSpPr>
        <p:spPr>
          <a:xfrm>
            <a:off x="1600200" y="1115568"/>
            <a:ext cx="4069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50"/>
              <a:buFont typeface="Courier New"/>
              <a:buNone/>
            </a:pPr>
            <a:r>
              <a:rPr b="1" i="0" lang="en-US" sz="1150" u="none" cap="none" strike="noStrike">
                <a:solidFill>
                  <a:srgbClr val="2D2D2D"/>
                </a:solidFill>
                <a:latin typeface="Courier New"/>
                <a:ea typeface="Courier New"/>
                <a:cs typeface="Courier New"/>
                <a:sym typeface="Courier New"/>
              </a:rPr>
              <a:t>TestCaseManagementView.test.jsx</a:t>
            </a:r>
            <a:endParaRPr b="0" i="0" sz="1150" u="none" cap="none" strike="noStrike">
              <a:solidFill>
                <a:schemeClr val="dk1"/>
              </a:solidFill>
              <a:latin typeface="Calibri"/>
              <a:ea typeface="Calibri"/>
              <a:cs typeface="Calibri"/>
              <a:sym typeface="Calibri"/>
            </a:endParaRPr>
          </a:p>
        </p:txBody>
      </p:sp>
      <p:sp>
        <p:nvSpPr>
          <p:cNvPr id="737" name="Google Shape;737;p10"/>
          <p:cNvSpPr/>
          <p:nvPr/>
        </p:nvSpPr>
        <p:spPr>
          <a:xfrm>
            <a:off x="5715000" y="1115568"/>
            <a:ext cx="2788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Loading, search, dropdown / status filters, edit modal</a:t>
            </a:r>
            <a:endParaRPr b="0" i="0" sz="1000" u="none" cap="none" strike="noStrike">
              <a:solidFill>
                <a:schemeClr val="dk1"/>
              </a:solidFill>
              <a:latin typeface="Calibri"/>
              <a:ea typeface="Calibri"/>
              <a:cs typeface="Calibri"/>
              <a:sym typeface="Calibri"/>
            </a:endParaRPr>
          </a:p>
        </p:txBody>
      </p:sp>
      <p:sp>
        <p:nvSpPr>
          <p:cNvPr id="738" name="Google Shape;738;p10"/>
          <p:cNvSpPr/>
          <p:nvPr/>
        </p:nvSpPr>
        <p:spPr>
          <a:xfrm>
            <a:off x="457200" y="1645920"/>
            <a:ext cx="8229600" cy="502920"/>
          </a:xfrm>
          <a:prstGeom prst="roundRect">
            <a:avLst>
              <a:gd fmla="val 10909"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0"/>
          <p:cNvSpPr/>
          <p:nvPr/>
        </p:nvSpPr>
        <p:spPr>
          <a:xfrm>
            <a:off x="640080" y="1755648"/>
            <a:ext cx="777240" cy="292608"/>
          </a:xfrm>
          <a:prstGeom prst="roundRect">
            <a:avLst>
              <a:gd fmla="val 50000" name="adj"/>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0"/>
          <p:cNvSpPr/>
          <p:nvPr/>
        </p:nvSpPr>
        <p:spPr>
          <a:xfrm>
            <a:off x="640080" y="1755648"/>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17</a:t>
            </a:r>
            <a:endParaRPr b="0" i="0" sz="1300" u="none" cap="none" strike="noStrike">
              <a:solidFill>
                <a:schemeClr val="dk1"/>
              </a:solidFill>
              <a:latin typeface="Calibri"/>
              <a:ea typeface="Calibri"/>
              <a:cs typeface="Calibri"/>
              <a:sym typeface="Calibri"/>
            </a:endParaRPr>
          </a:p>
        </p:txBody>
      </p:sp>
      <p:sp>
        <p:nvSpPr>
          <p:cNvPr id="741" name="Google Shape;741;p10"/>
          <p:cNvSpPr/>
          <p:nvPr/>
        </p:nvSpPr>
        <p:spPr>
          <a:xfrm>
            <a:off x="1600200" y="1664208"/>
            <a:ext cx="4069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50"/>
              <a:buFont typeface="Courier New"/>
              <a:buNone/>
            </a:pPr>
            <a:r>
              <a:rPr b="1" i="0" lang="en-US" sz="1150" u="none" cap="none" strike="noStrike">
                <a:solidFill>
                  <a:srgbClr val="2D2D2D"/>
                </a:solidFill>
                <a:latin typeface="Courier New"/>
                <a:ea typeface="Courier New"/>
                <a:cs typeface="Courier New"/>
                <a:sym typeface="Courier New"/>
              </a:rPr>
              <a:t>UserStoryInputView.test.jsx</a:t>
            </a:r>
            <a:endParaRPr b="0" i="0" sz="1150" u="none" cap="none" strike="noStrike">
              <a:solidFill>
                <a:schemeClr val="dk1"/>
              </a:solidFill>
              <a:latin typeface="Calibri"/>
              <a:ea typeface="Calibri"/>
              <a:cs typeface="Calibri"/>
              <a:sym typeface="Calibri"/>
            </a:endParaRPr>
          </a:p>
        </p:txBody>
      </p:sp>
      <p:sp>
        <p:nvSpPr>
          <p:cNvPr id="742" name="Google Shape;742;p10"/>
          <p:cNvSpPr/>
          <p:nvPr/>
        </p:nvSpPr>
        <p:spPr>
          <a:xfrm>
            <a:off x="5715000" y="1664208"/>
            <a:ext cx="2788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Render, checkbox logic, validation, generate API call</a:t>
            </a:r>
            <a:endParaRPr b="0" i="0" sz="1000" u="none" cap="none" strike="noStrike">
              <a:solidFill>
                <a:schemeClr val="dk1"/>
              </a:solidFill>
              <a:latin typeface="Calibri"/>
              <a:ea typeface="Calibri"/>
              <a:cs typeface="Calibri"/>
              <a:sym typeface="Calibri"/>
            </a:endParaRPr>
          </a:p>
        </p:txBody>
      </p:sp>
      <p:sp>
        <p:nvSpPr>
          <p:cNvPr id="743" name="Google Shape;743;p10"/>
          <p:cNvSpPr/>
          <p:nvPr/>
        </p:nvSpPr>
        <p:spPr>
          <a:xfrm>
            <a:off x="457200" y="2194560"/>
            <a:ext cx="8229600" cy="502920"/>
          </a:xfrm>
          <a:prstGeom prst="roundRect">
            <a:avLst>
              <a:gd fmla="val 10909"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0"/>
          <p:cNvSpPr/>
          <p:nvPr/>
        </p:nvSpPr>
        <p:spPr>
          <a:xfrm>
            <a:off x="640080" y="2304288"/>
            <a:ext cx="777240" cy="292608"/>
          </a:xfrm>
          <a:prstGeom prst="roundRect">
            <a:avLst>
              <a:gd fmla="val 50000" name="adj"/>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0"/>
          <p:cNvSpPr/>
          <p:nvPr/>
        </p:nvSpPr>
        <p:spPr>
          <a:xfrm>
            <a:off x="640080" y="2304288"/>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16</a:t>
            </a:r>
            <a:endParaRPr b="0" i="0" sz="1300" u="none" cap="none" strike="noStrike">
              <a:solidFill>
                <a:schemeClr val="dk1"/>
              </a:solidFill>
              <a:latin typeface="Calibri"/>
              <a:ea typeface="Calibri"/>
              <a:cs typeface="Calibri"/>
              <a:sym typeface="Calibri"/>
            </a:endParaRPr>
          </a:p>
        </p:txBody>
      </p:sp>
      <p:sp>
        <p:nvSpPr>
          <p:cNvPr id="746" name="Google Shape;746;p10"/>
          <p:cNvSpPr/>
          <p:nvPr/>
        </p:nvSpPr>
        <p:spPr>
          <a:xfrm>
            <a:off x="1600200" y="2212848"/>
            <a:ext cx="4069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50"/>
              <a:buFont typeface="Courier New"/>
              <a:buNone/>
            </a:pPr>
            <a:r>
              <a:rPr b="1" i="0" lang="en-US" sz="1150" u="none" cap="none" strike="noStrike">
                <a:solidFill>
                  <a:srgbClr val="2D2D2D"/>
                </a:solidFill>
                <a:latin typeface="Courier New"/>
                <a:ea typeface="Courier New"/>
                <a:cs typeface="Courier New"/>
                <a:sym typeface="Courier New"/>
              </a:rPr>
              <a:t>TestCasesView.test.jsx</a:t>
            </a:r>
            <a:endParaRPr b="0" i="0" sz="1150" u="none" cap="none" strike="noStrike">
              <a:solidFill>
                <a:schemeClr val="dk1"/>
              </a:solidFill>
              <a:latin typeface="Calibri"/>
              <a:ea typeface="Calibri"/>
              <a:cs typeface="Calibri"/>
              <a:sym typeface="Calibri"/>
            </a:endParaRPr>
          </a:p>
        </p:txBody>
      </p:sp>
      <p:sp>
        <p:nvSpPr>
          <p:cNvPr id="747" name="Google Shape;747;p10"/>
          <p:cNvSpPr/>
          <p:nvPr/>
        </p:nvSpPr>
        <p:spPr>
          <a:xfrm>
            <a:off x="5715000" y="2212848"/>
            <a:ext cx="2788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Data load, type filter, row expansion, create modal</a:t>
            </a:r>
            <a:endParaRPr b="0" i="0" sz="1000" u="none" cap="none" strike="noStrike">
              <a:solidFill>
                <a:schemeClr val="dk1"/>
              </a:solidFill>
              <a:latin typeface="Calibri"/>
              <a:ea typeface="Calibri"/>
              <a:cs typeface="Calibri"/>
              <a:sym typeface="Calibri"/>
            </a:endParaRPr>
          </a:p>
        </p:txBody>
      </p:sp>
      <p:sp>
        <p:nvSpPr>
          <p:cNvPr id="748" name="Google Shape;748;p10"/>
          <p:cNvSpPr/>
          <p:nvPr/>
        </p:nvSpPr>
        <p:spPr>
          <a:xfrm>
            <a:off x="457200" y="2743200"/>
            <a:ext cx="8229600" cy="502920"/>
          </a:xfrm>
          <a:prstGeom prst="roundRect">
            <a:avLst>
              <a:gd fmla="val 10909"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0"/>
          <p:cNvSpPr/>
          <p:nvPr/>
        </p:nvSpPr>
        <p:spPr>
          <a:xfrm>
            <a:off x="640080" y="2852928"/>
            <a:ext cx="777240" cy="292608"/>
          </a:xfrm>
          <a:prstGeom prst="roundRect">
            <a:avLst>
              <a:gd fmla="val 50000" name="adj"/>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0"/>
          <p:cNvSpPr/>
          <p:nvPr/>
        </p:nvSpPr>
        <p:spPr>
          <a:xfrm>
            <a:off x="640080" y="2852928"/>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15</a:t>
            </a:r>
            <a:endParaRPr b="0" i="0" sz="1300" u="none" cap="none" strike="noStrike">
              <a:solidFill>
                <a:schemeClr val="dk1"/>
              </a:solidFill>
              <a:latin typeface="Calibri"/>
              <a:ea typeface="Calibri"/>
              <a:cs typeface="Calibri"/>
              <a:sym typeface="Calibri"/>
            </a:endParaRPr>
          </a:p>
        </p:txBody>
      </p:sp>
      <p:sp>
        <p:nvSpPr>
          <p:cNvPr id="751" name="Google Shape;751;p10"/>
          <p:cNvSpPr/>
          <p:nvPr/>
        </p:nvSpPr>
        <p:spPr>
          <a:xfrm>
            <a:off x="1600200" y="2761488"/>
            <a:ext cx="4069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50"/>
              <a:buFont typeface="Courier New"/>
              <a:buNone/>
            </a:pPr>
            <a:r>
              <a:rPr b="1" i="0" lang="en-US" sz="1150" u="none" cap="none" strike="noStrike">
                <a:solidFill>
                  <a:srgbClr val="2D2D2D"/>
                </a:solidFill>
                <a:latin typeface="Courier New"/>
                <a:ea typeface="Courier New"/>
                <a:cs typeface="Courier New"/>
                <a:sym typeface="Courier New"/>
              </a:rPr>
              <a:t>Login.test.jsx</a:t>
            </a:r>
            <a:endParaRPr b="0" i="0" sz="1150" u="none" cap="none" strike="noStrike">
              <a:solidFill>
                <a:schemeClr val="dk1"/>
              </a:solidFill>
              <a:latin typeface="Calibri"/>
              <a:ea typeface="Calibri"/>
              <a:cs typeface="Calibri"/>
              <a:sym typeface="Calibri"/>
            </a:endParaRPr>
          </a:p>
        </p:txBody>
      </p:sp>
      <p:sp>
        <p:nvSpPr>
          <p:cNvPr id="752" name="Google Shape;752;p10"/>
          <p:cNvSpPr/>
          <p:nvPr/>
        </p:nvSpPr>
        <p:spPr>
          <a:xfrm>
            <a:off x="5715000" y="2761488"/>
            <a:ext cx="2788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Render, mode switching, validation, API interactions</a:t>
            </a:r>
            <a:endParaRPr b="0" i="0" sz="1000" u="none" cap="none" strike="noStrike">
              <a:solidFill>
                <a:schemeClr val="dk1"/>
              </a:solidFill>
              <a:latin typeface="Calibri"/>
              <a:ea typeface="Calibri"/>
              <a:cs typeface="Calibri"/>
              <a:sym typeface="Calibri"/>
            </a:endParaRPr>
          </a:p>
        </p:txBody>
      </p:sp>
      <p:sp>
        <p:nvSpPr>
          <p:cNvPr id="753" name="Google Shape;753;p10"/>
          <p:cNvSpPr/>
          <p:nvPr/>
        </p:nvSpPr>
        <p:spPr>
          <a:xfrm>
            <a:off x="457200" y="3291840"/>
            <a:ext cx="8229600" cy="502920"/>
          </a:xfrm>
          <a:prstGeom prst="roundRect">
            <a:avLst>
              <a:gd fmla="val 10909"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0"/>
          <p:cNvSpPr/>
          <p:nvPr/>
        </p:nvSpPr>
        <p:spPr>
          <a:xfrm>
            <a:off x="640080" y="3401568"/>
            <a:ext cx="777240" cy="292608"/>
          </a:xfrm>
          <a:prstGeom prst="roundRect">
            <a:avLst>
              <a:gd fmla="val 50000" name="adj"/>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0"/>
          <p:cNvSpPr/>
          <p:nvPr/>
        </p:nvSpPr>
        <p:spPr>
          <a:xfrm>
            <a:off x="640080" y="3401568"/>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15</a:t>
            </a:r>
            <a:endParaRPr b="0" i="0" sz="1300" u="none" cap="none" strike="noStrike">
              <a:solidFill>
                <a:schemeClr val="dk1"/>
              </a:solidFill>
              <a:latin typeface="Calibri"/>
              <a:ea typeface="Calibri"/>
              <a:cs typeface="Calibri"/>
              <a:sym typeface="Calibri"/>
            </a:endParaRPr>
          </a:p>
        </p:txBody>
      </p:sp>
      <p:sp>
        <p:nvSpPr>
          <p:cNvPr id="756" name="Google Shape;756;p10"/>
          <p:cNvSpPr/>
          <p:nvPr/>
        </p:nvSpPr>
        <p:spPr>
          <a:xfrm>
            <a:off x="1600200" y="3310128"/>
            <a:ext cx="4069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50"/>
              <a:buFont typeface="Courier New"/>
              <a:buNone/>
            </a:pPr>
            <a:r>
              <a:rPr b="1" i="0" lang="en-US" sz="1150" u="none" cap="none" strike="noStrike">
                <a:solidFill>
                  <a:srgbClr val="2D2D2D"/>
                </a:solidFill>
                <a:latin typeface="Courier New"/>
                <a:ea typeface="Courier New"/>
                <a:cs typeface="Courier New"/>
                <a:sym typeface="Courier New"/>
              </a:rPr>
              <a:t>ProjectsView.test.jsx</a:t>
            </a:r>
            <a:endParaRPr b="0" i="0" sz="1150" u="none" cap="none" strike="noStrike">
              <a:solidFill>
                <a:schemeClr val="dk1"/>
              </a:solidFill>
              <a:latin typeface="Calibri"/>
              <a:ea typeface="Calibri"/>
              <a:cs typeface="Calibri"/>
              <a:sym typeface="Calibri"/>
            </a:endParaRPr>
          </a:p>
        </p:txBody>
      </p:sp>
      <p:sp>
        <p:nvSpPr>
          <p:cNvPr id="757" name="Google Shape;757;p10"/>
          <p:cNvSpPr/>
          <p:nvPr/>
        </p:nvSpPr>
        <p:spPr>
          <a:xfrm>
            <a:off x="5715000" y="3310128"/>
            <a:ext cx="2788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Empty state, project cards, New Project modal</a:t>
            </a:r>
            <a:endParaRPr b="0" i="0" sz="1000" u="none" cap="none" strike="noStrike">
              <a:solidFill>
                <a:schemeClr val="dk1"/>
              </a:solidFill>
              <a:latin typeface="Calibri"/>
              <a:ea typeface="Calibri"/>
              <a:cs typeface="Calibri"/>
              <a:sym typeface="Calibri"/>
            </a:endParaRPr>
          </a:p>
        </p:txBody>
      </p:sp>
      <p:sp>
        <p:nvSpPr>
          <p:cNvPr id="758" name="Google Shape;758;p10"/>
          <p:cNvSpPr/>
          <p:nvPr/>
        </p:nvSpPr>
        <p:spPr>
          <a:xfrm>
            <a:off x="457200" y="3840480"/>
            <a:ext cx="8229600" cy="502920"/>
          </a:xfrm>
          <a:prstGeom prst="roundRect">
            <a:avLst>
              <a:gd fmla="val 10909"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0"/>
          <p:cNvSpPr/>
          <p:nvPr/>
        </p:nvSpPr>
        <p:spPr>
          <a:xfrm>
            <a:off x="640080" y="3950208"/>
            <a:ext cx="777240" cy="292608"/>
          </a:xfrm>
          <a:prstGeom prst="roundRect">
            <a:avLst>
              <a:gd fmla="val 50000" name="adj"/>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0"/>
          <p:cNvSpPr/>
          <p:nvPr/>
        </p:nvSpPr>
        <p:spPr>
          <a:xfrm>
            <a:off x="640080" y="3950208"/>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761" name="Google Shape;761;p10"/>
          <p:cNvSpPr/>
          <p:nvPr/>
        </p:nvSpPr>
        <p:spPr>
          <a:xfrm>
            <a:off x="1600200" y="3858768"/>
            <a:ext cx="4069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50"/>
              <a:buFont typeface="Courier New"/>
              <a:buNone/>
            </a:pPr>
            <a:r>
              <a:rPr b="1" i="0" lang="en-US" sz="1150" u="none" cap="none" strike="noStrike">
                <a:solidFill>
                  <a:srgbClr val="2D2D2D"/>
                </a:solidFill>
                <a:latin typeface="Courier New"/>
                <a:ea typeface="Courier New"/>
                <a:cs typeface="Courier New"/>
                <a:sym typeface="Courier New"/>
              </a:rPr>
              <a:t>DocumentsView.test.jsx</a:t>
            </a:r>
            <a:endParaRPr b="0" i="0" sz="1150" u="none" cap="none" strike="noStrike">
              <a:solidFill>
                <a:schemeClr val="dk1"/>
              </a:solidFill>
              <a:latin typeface="Calibri"/>
              <a:ea typeface="Calibri"/>
              <a:cs typeface="Calibri"/>
              <a:sym typeface="Calibri"/>
            </a:endParaRPr>
          </a:p>
        </p:txBody>
      </p:sp>
      <p:sp>
        <p:nvSpPr>
          <p:cNvPr id="762" name="Google Shape;762;p10"/>
          <p:cNvSpPr/>
          <p:nvPr/>
        </p:nvSpPr>
        <p:spPr>
          <a:xfrm>
            <a:off x="5715000" y="3858768"/>
            <a:ext cx="2788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Drag-drop zone, document list, empty state, file input</a:t>
            </a:r>
            <a:endParaRPr b="0" i="0" sz="1000" u="none" cap="none" strike="noStrike">
              <a:solidFill>
                <a:schemeClr val="dk1"/>
              </a:solidFill>
              <a:latin typeface="Calibri"/>
              <a:ea typeface="Calibri"/>
              <a:cs typeface="Calibri"/>
              <a:sym typeface="Calibri"/>
            </a:endParaRPr>
          </a:p>
        </p:txBody>
      </p:sp>
      <p:sp>
        <p:nvSpPr>
          <p:cNvPr id="763" name="Google Shape;763;p10"/>
          <p:cNvSpPr/>
          <p:nvPr/>
        </p:nvSpPr>
        <p:spPr>
          <a:xfrm>
            <a:off x="457200" y="452628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100"/>
              <a:buFont typeface="Calibri"/>
              <a:buNone/>
            </a:pPr>
            <a:r>
              <a:rPr b="0" i="1" lang="en-US" sz="1100" u="none" cap="none" strike="noStrike">
                <a:solidFill>
                  <a:srgbClr val="A01E4A"/>
                </a:solidFill>
                <a:latin typeface="Calibri"/>
                <a:ea typeface="Calibri"/>
                <a:cs typeface="Calibri"/>
                <a:sym typeface="Calibri"/>
              </a:rPr>
              <a:t>Mock strategy:  vi.fn() for global.fetch and callback props — components tested in isolation with no real HTTP.</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8" name="Shape 768"/>
        <p:cNvGrpSpPr/>
        <p:nvPr/>
      </p:nvGrpSpPr>
      <p:grpSpPr>
        <a:xfrm>
          <a:off x="0" y="0"/>
          <a:ext cx="0" cy="0"/>
          <a:chOff x="0" y="0"/>
          <a:chExt cx="0" cy="0"/>
        </a:xfrm>
      </p:grpSpPr>
      <p:pic>
        <p:nvPicPr>
          <p:cNvPr descr="/tmp/band.png" id="769" name="Google Shape;769;p11"/>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770" name="Google Shape;770;p11"/>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TWO ISOLATED STACKS</a:t>
            </a:r>
            <a:endParaRPr b="0" i="0" sz="1000" u="none" cap="none" strike="noStrike">
              <a:solidFill>
                <a:schemeClr val="dk1"/>
              </a:solidFill>
              <a:latin typeface="Calibri"/>
              <a:ea typeface="Calibri"/>
              <a:cs typeface="Calibri"/>
              <a:sym typeface="Calibri"/>
            </a:endParaRPr>
          </a:p>
        </p:txBody>
      </p:sp>
      <p:sp>
        <p:nvSpPr>
          <p:cNvPr id="771" name="Google Shape;771;p11"/>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Unit Test Structure</a:t>
            </a:r>
            <a:endParaRPr b="0" i="0" sz="2500" u="none" cap="none" strike="noStrike">
              <a:solidFill>
                <a:schemeClr val="dk1"/>
              </a:solidFill>
              <a:latin typeface="Calibri"/>
              <a:ea typeface="Calibri"/>
              <a:cs typeface="Calibri"/>
              <a:sym typeface="Calibri"/>
            </a:endParaRPr>
          </a:p>
        </p:txBody>
      </p:sp>
      <p:sp>
        <p:nvSpPr>
          <p:cNvPr id="772" name="Google Shape;772;p11"/>
          <p:cNvSpPr/>
          <p:nvPr/>
        </p:nvSpPr>
        <p:spPr>
          <a:xfrm>
            <a:off x="457200" y="1005840"/>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300"/>
              <a:buFont typeface="Calibri"/>
              <a:buNone/>
            </a:pPr>
            <a:r>
              <a:rPr b="1" i="0" lang="en-US" sz="1300" u="none" cap="none" strike="noStrike">
                <a:solidFill>
                  <a:srgbClr val="2D2D2D"/>
                </a:solidFill>
                <a:latin typeface="Calibri"/>
                <a:ea typeface="Calibri"/>
                <a:cs typeface="Calibri"/>
                <a:sym typeface="Calibri"/>
              </a:rPr>
              <a:t>Two separate stacks</a:t>
            </a:r>
            <a:endParaRPr b="0" i="0" sz="1300" u="none" cap="none" strike="noStrike">
              <a:solidFill>
                <a:schemeClr val="dk1"/>
              </a:solidFill>
              <a:latin typeface="Calibri"/>
              <a:ea typeface="Calibri"/>
              <a:cs typeface="Calibri"/>
              <a:sym typeface="Calibri"/>
            </a:endParaRPr>
          </a:p>
        </p:txBody>
      </p:sp>
      <p:graphicFrame>
        <p:nvGraphicFramePr>
          <p:cNvPr id="773" name="Google Shape;773;p11"/>
          <p:cNvGraphicFramePr/>
          <p:nvPr/>
        </p:nvGraphicFramePr>
        <p:xfrm>
          <a:off x="457200" y="1298448"/>
          <a:ext cx="3000000" cy="3000000"/>
        </p:xfrm>
        <a:graphic>
          <a:graphicData uri="http://schemas.openxmlformats.org/drawingml/2006/table">
            <a:tbl>
              <a:tblPr>
                <a:noFill/>
                <a:tableStyleId>{3A829425-CA47-42D2-BFA8-2A0952B3F607}</a:tableStyleId>
              </a:tblPr>
              <a:tblGrid>
                <a:gridCol w="1371600"/>
                <a:gridCol w="1325875"/>
                <a:gridCol w="1325875"/>
              </a:tblGrid>
              <a:tr h="347475">
                <a:tc>
                  <a:txBody>
                    <a:bodyPr/>
                    <a:lstStyle/>
                    <a:p>
                      <a:pPr indent="0" lvl="0" marL="0" marR="0" rtl="0" algn="l">
                        <a:spcBef>
                          <a:spcPts val="0"/>
                        </a:spcBef>
                        <a:spcAft>
                          <a:spcPts val="0"/>
                        </a:spcAft>
                        <a:buClr>
                          <a:schemeClr val="dk1"/>
                        </a:buClr>
                        <a:buSzPts val="1050"/>
                        <a:buFont typeface="Calibri"/>
                        <a:buNone/>
                      </a:pPr>
                      <a:r>
                        <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Backend</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Frontend</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r>
              <a:tr h="347475">
                <a:tc>
                  <a:txBody>
                    <a:bodyPr/>
                    <a:lstStyle/>
                    <a:p>
                      <a:pPr indent="0" lvl="0" marL="0" marR="0" rtl="0" algn="l">
                        <a:spcBef>
                          <a:spcPts val="0"/>
                        </a:spcBef>
                        <a:spcAft>
                          <a:spcPts val="0"/>
                        </a:spcAft>
                        <a:buClr>
                          <a:srgbClr val="2D2D2D"/>
                        </a:buClr>
                        <a:buSzPts val="1050"/>
                        <a:buFont typeface="Calibri"/>
                        <a:buNone/>
                      </a:pPr>
                      <a:r>
                        <a:rPr b="1" lang="en-US" sz="1050" u="none" cap="none" strike="noStrike">
                          <a:solidFill>
                            <a:srgbClr val="2D2D2D"/>
                          </a:solidFill>
                          <a:latin typeface="Calibri"/>
                          <a:ea typeface="Calibri"/>
                          <a:cs typeface="Calibri"/>
                          <a:sym typeface="Calibri"/>
                        </a:rPr>
                        <a:t>Runner</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D2D"/>
                        </a:buClr>
                        <a:buSzPts val="1050"/>
                        <a:buFont typeface="Calibri"/>
                        <a:buNone/>
                      </a:pPr>
                      <a:r>
                        <a:rPr lang="en-US" sz="1050" u="none" cap="none" strike="noStrike">
                          <a:solidFill>
                            <a:srgbClr val="2D2D2D"/>
                          </a:solidFill>
                          <a:latin typeface="Calibri"/>
                          <a:ea typeface="Calibri"/>
                          <a:cs typeface="Calibri"/>
                          <a:sym typeface="Calibri"/>
                        </a:rPr>
                        <a:t>Jest 29</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D2D"/>
                        </a:buClr>
                        <a:buSzPts val="1050"/>
                        <a:buFont typeface="Calibri"/>
                        <a:buNone/>
                      </a:pPr>
                      <a:r>
                        <a:rPr lang="en-US" sz="1050" u="none" cap="none" strike="noStrike">
                          <a:solidFill>
                            <a:srgbClr val="2D2D2D"/>
                          </a:solidFill>
                          <a:latin typeface="Calibri"/>
                          <a:ea typeface="Calibri"/>
                          <a:cs typeface="Calibri"/>
                          <a:sym typeface="Calibri"/>
                        </a:rPr>
                        <a:t>Vitest 2</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2D2D2D"/>
                        </a:buClr>
                        <a:buSzPts val="1050"/>
                        <a:buFont typeface="Calibri"/>
                        <a:buNone/>
                      </a:pPr>
                      <a:r>
                        <a:rPr b="1" lang="en-US" sz="1050" u="none" cap="none" strike="noStrike">
                          <a:solidFill>
                            <a:srgbClr val="2D2D2D"/>
                          </a:solidFill>
                          <a:latin typeface="Calibri"/>
                          <a:ea typeface="Calibri"/>
                          <a:cs typeface="Calibri"/>
                          <a:sym typeface="Calibri"/>
                        </a:rPr>
                        <a:t>HTTP / DOM</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D2D"/>
                        </a:buClr>
                        <a:buSzPts val="1050"/>
                        <a:buFont typeface="Calibri"/>
                        <a:buNone/>
                      </a:pPr>
                      <a:r>
                        <a:rPr lang="en-US" sz="1050" u="none" cap="none" strike="noStrike">
                          <a:solidFill>
                            <a:srgbClr val="2D2D2D"/>
                          </a:solidFill>
                          <a:latin typeface="Calibri"/>
                          <a:ea typeface="Calibri"/>
                          <a:cs typeface="Calibri"/>
                          <a:sym typeface="Calibri"/>
                        </a:rPr>
                        <a:t>Supertest 7</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D2D"/>
                        </a:buClr>
                        <a:buSzPts val="1050"/>
                        <a:buFont typeface="Calibri"/>
                        <a:buNone/>
                      </a:pPr>
                      <a:r>
                        <a:rPr lang="en-US" sz="1050" u="none" cap="none" strike="noStrike">
                          <a:solidFill>
                            <a:srgbClr val="2D2D2D"/>
                          </a:solidFill>
                          <a:latin typeface="Calibri"/>
                          <a:ea typeface="Calibri"/>
                          <a:cs typeface="Calibri"/>
                          <a:sym typeface="Calibri"/>
                        </a:rPr>
                        <a:t>RTL 16</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2D2D2D"/>
                        </a:buClr>
                        <a:buSzPts val="1050"/>
                        <a:buFont typeface="Calibri"/>
                        <a:buNone/>
                      </a:pPr>
                      <a:r>
                        <a:rPr b="1" lang="en-US" sz="1050" u="none" cap="none" strike="noStrike">
                          <a:solidFill>
                            <a:srgbClr val="2D2D2D"/>
                          </a:solidFill>
                          <a:latin typeface="Calibri"/>
                          <a:ea typeface="Calibri"/>
                          <a:cs typeface="Calibri"/>
                          <a:sym typeface="Calibri"/>
                        </a:rPr>
                        <a:t>Mocks</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D2D"/>
                        </a:buClr>
                        <a:buSzPts val="1050"/>
                        <a:buFont typeface="Calibri"/>
                        <a:buNone/>
                      </a:pPr>
                      <a:r>
                        <a:rPr lang="en-US" sz="1050" u="none" cap="none" strike="noStrike">
                          <a:solidFill>
                            <a:srgbClr val="2D2D2D"/>
                          </a:solidFill>
                          <a:latin typeface="Calibri"/>
                          <a:ea typeface="Calibri"/>
                          <a:cs typeface="Calibri"/>
                          <a:sym typeface="Calibri"/>
                        </a:rPr>
                        <a:t>jest.mock()</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D2D"/>
                        </a:buClr>
                        <a:buSzPts val="1050"/>
                        <a:buFont typeface="Calibri"/>
                        <a:buNone/>
                      </a:pPr>
                      <a:r>
                        <a:rPr lang="en-US" sz="1050" u="none" cap="none" strike="noStrike">
                          <a:solidFill>
                            <a:srgbClr val="2D2D2D"/>
                          </a:solidFill>
                          <a:latin typeface="Calibri"/>
                          <a:ea typeface="Calibri"/>
                          <a:cs typeface="Calibri"/>
                          <a:sym typeface="Calibri"/>
                        </a:rPr>
                        <a:t>vi.fn()</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2D2D2D"/>
                        </a:buClr>
                        <a:buSzPts val="1050"/>
                        <a:buFont typeface="Calibri"/>
                        <a:buNone/>
                      </a:pPr>
                      <a:r>
                        <a:rPr b="1" lang="en-US" sz="1050" u="none" cap="none" strike="noStrike">
                          <a:solidFill>
                            <a:srgbClr val="2D2D2D"/>
                          </a:solidFill>
                          <a:latin typeface="Calibri"/>
                          <a:ea typeface="Calibri"/>
                          <a:cs typeface="Calibri"/>
                          <a:sym typeface="Calibri"/>
                        </a:rPr>
                        <a:t>Test env</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D2D"/>
                        </a:buClr>
                        <a:buSzPts val="1050"/>
                        <a:buFont typeface="Calibri"/>
                        <a:buNone/>
                      </a:pPr>
                      <a:r>
                        <a:rPr lang="en-US" sz="1050" u="none" cap="none" strike="noStrike">
                          <a:solidFill>
                            <a:srgbClr val="2D2D2D"/>
                          </a:solidFill>
                          <a:latin typeface="Calibri"/>
                          <a:ea typeface="Calibri"/>
                          <a:cs typeface="Calibri"/>
                          <a:sym typeface="Calibri"/>
                        </a:rPr>
                        <a:t>Node</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D2D"/>
                        </a:buClr>
                        <a:buSzPts val="1050"/>
                        <a:buFont typeface="Calibri"/>
                        <a:buNone/>
                      </a:pPr>
                      <a:r>
                        <a:rPr lang="en-US" sz="1050" u="none" cap="none" strike="noStrike">
                          <a:solidFill>
                            <a:srgbClr val="2D2D2D"/>
                          </a:solidFill>
                          <a:latin typeface="Calibri"/>
                          <a:ea typeface="Calibri"/>
                          <a:cs typeface="Calibri"/>
                          <a:sym typeface="Calibri"/>
                        </a:rPr>
                        <a:t>jsdom</a:t>
                      </a:r>
                      <a:endParaRPr sz="10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bl>
          </a:graphicData>
        </a:graphic>
      </p:graphicFrame>
      <p:sp>
        <p:nvSpPr>
          <p:cNvPr id="774" name="Google Shape;774;p11"/>
          <p:cNvSpPr/>
          <p:nvPr/>
        </p:nvSpPr>
        <p:spPr>
          <a:xfrm>
            <a:off x="457200" y="3063240"/>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00"/>
              <a:buFont typeface="Calibri"/>
              <a:buNone/>
            </a:pPr>
            <a:r>
              <a:rPr b="1" i="0" lang="en-US" sz="1000" u="none" cap="none" strike="noStrike">
                <a:solidFill>
                  <a:srgbClr val="2D2D2D"/>
                </a:solidFill>
                <a:latin typeface="Calibri"/>
                <a:ea typeface="Calibri"/>
                <a:cs typeface="Calibri"/>
                <a:sym typeface="Calibri"/>
              </a:rPr>
              <a:t>Run:  </a:t>
            </a:r>
            <a:r>
              <a:rPr b="0" i="0" lang="en-US" sz="1000" u="none" cap="none" strike="noStrike">
                <a:solidFill>
                  <a:srgbClr val="A01E4A"/>
                </a:solidFill>
                <a:latin typeface="Courier New"/>
                <a:ea typeface="Courier New"/>
                <a:cs typeface="Courier New"/>
                <a:sym typeface="Courier New"/>
              </a:rPr>
              <a:t>npm test</a:t>
            </a:r>
            <a:r>
              <a:rPr b="0" i="0" lang="en-US" sz="1000" u="none" cap="none" strike="noStrike">
                <a:solidFill>
                  <a:srgbClr val="666666"/>
                </a:solidFill>
                <a:latin typeface="Calibri"/>
                <a:ea typeface="Calibri"/>
                <a:cs typeface="Calibri"/>
                <a:sym typeface="Calibri"/>
              </a:rPr>
              <a:t>   /   </a:t>
            </a:r>
            <a:r>
              <a:rPr b="0" i="0" lang="en-US" sz="1000" u="none" cap="none" strike="noStrike">
                <a:solidFill>
                  <a:srgbClr val="A01E4A"/>
                </a:solidFill>
                <a:latin typeface="Courier New"/>
                <a:ea typeface="Courier New"/>
                <a:cs typeface="Courier New"/>
                <a:sym typeface="Courier New"/>
              </a:rPr>
              <a:t>npm run test:run</a:t>
            </a:r>
            <a:endParaRPr b="0" i="0" sz="1000" u="none" cap="none" strike="noStrike">
              <a:solidFill>
                <a:schemeClr val="dk1"/>
              </a:solidFill>
              <a:latin typeface="Calibri"/>
              <a:ea typeface="Calibri"/>
              <a:cs typeface="Calibri"/>
              <a:sym typeface="Calibri"/>
            </a:endParaRPr>
          </a:p>
        </p:txBody>
      </p:sp>
      <p:sp>
        <p:nvSpPr>
          <p:cNvPr id="775" name="Google Shape;775;p11"/>
          <p:cNvSpPr/>
          <p:nvPr/>
        </p:nvSpPr>
        <p:spPr>
          <a:xfrm>
            <a:off x="4754880" y="1005840"/>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300"/>
              <a:buFont typeface="Calibri"/>
              <a:buNone/>
            </a:pPr>
            <a:r>
              <a:rPr b="1" i="0" lang="en-US" sz="1300" u="none" cap="none" strike="noStrike">
                <a:solidFill>
                  <a:srgbClr val="2D2D2D"/>
                </a:solidFill>
                <a:latin typeface="Calibri"/>
                <a:ea typeface="Calibri"/>
                <a:cs typeface="Calibri"/>
                <a:sym typeface="Calibri"/>
              </a:rPr>
              <a:t>Tests sit 1:1 with routes &amp; views</a:t>
            </a:r>
            <a:endParaRPr b="0" i="0" sz="1300" u="none" cap="none" strike="noStrike">
              <a:solidFill>
                <a:schemeClr val="dk1"/>
              </a:solidFill>
              <a:latin typeface="Calibri"/>
              <a:ea typeface="Calibri"/>
              <a:cs typeface="Calibri"/>
              <a:sym typeface="Calibri"/>
            </a:endParaRPr>
          </a:p>
        </p:txBody>
      </p:sp>
      <p:sp>
        <p:nvSpPr>
          <p:cNvPr id="776" name="Google Shape;776;p11"/>
          <p:cNvSpPr/>
          <p:nvPr/>
        </p:nvSpPr>
        <p:spPr>
          <a:xfrm>
            <a:off x="4754880" y="1298448"/>
            <a:ext cx="3931920" cy="1993392"/>
          </a:xfrm>
          <a:prstGeom prst="roundRect">
            <a:avLst>
              <a:gd fmla="val 2752"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1"/>
          <p:cNvSpPr/>
          <p:nvPr/>
        </p:nvSpPr>
        <p:spPr>
          <a:xfrm>
            <a:off x="4937760" y="1417320"/>
            <a:ext cx="3657600" cy="17373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test-case-generator/</a:t>
            </a:r>
            <a:endParaRPr b="0" i="0" sz="9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 backend/</a:t>
            </a:r>
            <a:endParaRPr b="0" i="0" sz="9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  ├─ src/routes/      5 route handlers</a:t>
            </a:r>
            <a:endParaRPr b="0" i="0" sz="9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  └─ __tests__/       5 .test.js · 65</a:t>
            </a:r>
            <a:endParaRPr b="0" i="0" sz="9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 frontend/</a:t>
            </a:r>
            <a:endParaRPr b="0" i="0" sz="9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  ├─ src/views/       6 components</a:t>
            </a:r>
            <a:endParaRPr b="0" i="0" sz="9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  └─ src/__tests__/   6 .test.jsx · 97</a:t>
            </a:r>
            <a:endParaRPr b="0" i="0" sz="9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tests/                 Playwright BDD E2E</a:t>
            </a:r>
            <a:endParaRPr b="0" i="0" sz="950" u="none" cap="none" strike="noStrike">
              <a:solidFill>
                <a:schemeClr val="dk1"/>
              </a:solidFill>
              <a:latin typeface="Calibri"/>
              <a:ea typeface="Calibri"/>
              <a:cs typeface="Calibri"/>
              <a:sym typeface="Calibri"/>
            </a:endParaRPr>
          </a:p>
        </p:txBody>
      </p:sp>
      <p:sp>
        <p:nvSpPr>
          <p:cNvPr id="778" name="Google Shape;778;p11"/>
          <p:cNvSpPr/>
          <p:nvPr/>
        </p:nvSpPr>
        <p:spPr>
          <a:xfrm>
            <a:off x="457200" y="3520440"/>
            <a:ext cx="3977640" cy="1371600"/>
          </a:xfrm>
          <a:prstGeom prst="roundRect">
            <a:avLst>
              <a:gd fmla="val 4000"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1"/>
          <p:cNvSpPr/>
          <p:nvPr/>
        </p:nvSpPr>
        <p:spPr>
          <a:xfrm>
            <a:off x="640080" y="3621024"/>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250"/>
              <a:buFont typeface="Calibri"/>
              <a:buNone/>
            </a:pPr>
            <a:r>
              <a:rPr b="1" i="0" lang="en-US" sz="1250" u="none" cap="none" strike="noStrike">
                <a:solidFill>
                  <a:srgbClr val="D12B63"/>
                </a:solidFill>
                <a:latin typeface="Calibri"/>
                <a:ea typeface="Calibri"/>
                <a:cs typeface="Calibri"/>
                <a:sym typeface="Calibri"/>
              </a:rPr>
              <a:t>Backend — each test</a:t>
            </a:r>
            <a:endParaRPr b="0" i="0" sz="1250" u="none" cap="none" strike="noStrike">
              <a:solidFill>
                <a:schemeClr val="dk1"/>
              </a:solidFill>
              <a:latin typeface="Calibri"/>
              <a:ea typeface="Calibri"/>
              <a:cs typeface="Calibri"/>
              <a:sym typeface="Calibri"/>
            </a:endParaRPr>
          </a:p>
        </p:txBody>
      </p:sp>
      <p:sp>
        <p:nvSpPr>
          <p:cNvPr id="780" name="Google Shape;780;p11"/>
          <p:cNvSpPr/>
          <p:nvPr/>
        </p:nvSpPr>
        <p:spPr>
          <a:xfrm>
            <a:off x="658368" y="3950208"/>
            <a:ext cx="237744" cy="237744"/>
          </a:xfrm>
          <a:prstGeom prst="ellipse">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1"/>
          <p:cNvSpPr/>
          <p:nvPr/>
        </p:nvSpPr>
        <p:spPr>
          <a:xfrm>
            <a:off x="658368" y="3950208"/>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782" name="Google Shape;782;p11"/>
          <p:cNvSpPr/>
          <p:nvPr/>
        </p:nvSpPr>
        <p:spPr>
          <a:xfrm>
            <a:off x="987552" y="3913632"/>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950"/>
              <a:buFont typeface="Calibri"/>
              <a:buNone/>
            </a:pPr>
            <a:r>
              <a:rPr b="0" i="0" lang="en-US" sz="950" u="none" cap="none" strike="noStrike">
                <a:solidFill>
                  <a:srgbClr val="2D2D2D"/>
                </a:solidFill>
                <a:latin typeface="Calibri"/>
                <a:ea typeface="Calibri"/>
                <a:cs typeface="Calibri"/>
                <a:sym typeface="Calibri"/>
              </a:rPr>
              <a:t>jest.mock() Mongoose models &amp; OpenAI</a:t>
            </a:r>
            <a:endParaRPr b="0" i="0" sz="950" u="none" cap="none" strike="noStrike">
              <a:solidFill>
                <a:schemeClr val="dk1"/>
              </a:solidFill>
              <a:latin typeface="Calibri"/>
              <a:ea typeface="Calibri"/>
              <a:cs typeface="Calibri"/>
              <a:sym typeface="Calibri"/>
            </a:endParaRPr>
          </a:p>
        </p:txBody>
      </p:sp>
      <p:sp>
        <p:nvSpPr>
          <p:cNvPr id="783" name="Google Shape;783;p11"/>
          <p:cNvSpPr/>
          <p:nvPr/>
        </p:nvSpPr>
        <p:spPr>
          <a:xfrm>
            <a:off x="658368" y="4251960"/>
            <a:ext cx="237744" cy="237744"/>
          </a:xfrm>
          <a:prstGeom prst="ellipse">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1"/>
          <p:cNvSpPr/>
          <p:nvPr/>
        </p:nvSpPr>
        <p:spPr>
          <a:xfrm>
            <a:off x="658368" y="42519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785" name="Google Shape;785;p11"/>
          <p:cNvSpPr/>
          <p:nvPr/>
        </p:nvSpPr>
        <p:spPr>
          <a:xfrm>
            <a:off x="987552" y="4215384"/>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950"/>
              <a:buFont typeface="Calibri"/>
              <a:buNone/>
            </a:pPr>
            <a:r>
              <a:rPr b="0" i="0" lang="en-US" sz="950" u="none" cap="none" strike="noStrike">
                <a:solidFill>
                  <a:srgbClr val="2D2D2D"/>
                </a:solidFill>
                <a:latin typeface="Calibri"/>
                <a:ea typeface="Calibri"/>
                <a:cs typeface="Calibri"/>
                <a:sym typeface="Calibri"/>
              </a:rPr>
              <a:t>Mount the route in a minimal Express app</a:t>
            </a:r>
            <a:endParaRPr b="0" i="0" sz="950" u="none" cap="none" strike="noStrike">
              <a:solidFill>
                <a:schemeClr val="dk1"/>
              </a:solidFill>
              <a:latin typeface="Calibri"/>
              <a:ea typeface="Calibri"/>
              <a:cs typeface="Calibri"/>
              <a:sym typeface="Calibri"/>
            </a:endParaRPr>
          </a:p>
        </p:txBody>
      </p:sp>
      <p:sp>
        <p:nvSpPr>
          <p:cNvPr id="786" name="Google Shape;786;p11"/>
          <p:cNvSpPr/>
          <p:nvPr/>
        </p:nvSpPr>
        <p:spPr>
          <a:xfrm>
            <a:off x="658368" y="4553712"/>
            <a:ext cx="237744" cy="237744"/>
          </a:xfrm>
          <a:prstGeom prst="ellipse">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1"/>
          <p:cNvSpPr/>
          <p:nvPr/>
        </p:nvSpPr>
        <p:spPr>
          <a:xfrm>
            <a:off x="658368" y="4553712"/>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788" name="Google Shape;788;p11"/>
          <p:cNvSpPr/>
          <p:nvPr/>
        </p:nvSpPr>
        <p:spPr>
          <a:xfrm>
            <a:off x="987552" y="4517136"/>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950"/>
              <a:buFont typeface="Calibri"/>
              <a:buNone/>
            </a:pPr>
            <a:r>
              <a:rPr b="0" i="0" lang="en-US" sz="950" u="none" cap="none" strike="noStrike">
                <a:solidFill>
                  <a:srgbClr val="2D2D2D"/>
                </a:solidFill>
                <a:latin typeface="Calibri"/>
                <a:ea typeface="Calibri"/>
                <a:cs typeface="Calibri"/>
                <a:sym typeface="Calibri"/>
              </a:rPr>
              <a:t>Fire real HTTP requests via Supertest</a:t>
            </a:r>
            <a:endParaRPr b="0" i="0" sz="950" u="none" cap="none" strike="noStrike">
              <a:solidFill>
                <a:schemeClr val="dk1"/>
              </a:solidFill>
              <a:latin typeface="Calibri"/>
              <a:ea typeface="Calibri"/>
              <a:cs typeface="Calibri"/>
              <a:sym typeface="Calibri"/>
            </a:endParaRPr>
          </a:p>
        </p:txBody>
      </p:sp>
      <p:sp>
        <p:nvSpPr>
          <p:cNvPr id="789" name="Google Shape;789;p11"/>
          <p:cNvSpPr/>
          <p:nvPr/>
        </p:nvSpPr>
        <p:spPr>
          <a:xfrm>
            <a:off x="4709160" y="3520440"/>
            <a:ext cx="3977640" cy="1371600"/>
          </a:xfrm>
          <a:prstGeom prst="roundRect">
            <a:avLst>
              <a:gd fmla="val 4000"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1"/>
          <p:cNvSpPr/>
          <p:nvPr/>
        </p:nvSpPr>
        <p:spPr>
          <a:xfrm>
            <a:off x="4892040" y="3621024"/>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250"/>
              <a:buFont typeface="Calibri"/>
              <a:buNone/>
            </a:pPr>
            <a:r>
              <a:rPr b="1" i="0" lang="en-US" sz="1250" u="none" cap="none" strike="noStrike">
                <a:solidFill>
                  <a:srgbClr val="A01E4A"/>
                </a:solidFill>
                <a:latin typeface="Calibri"/>
                <a:ea typeface="Calibri"/>
                <a:cs typeface="Calibri"/>
                <a:sym typeface="Calibri"/>
              </a:rPr>
              <a:t>Frontend — each test</a:t>
            </a:r>
            <a:endParaRPr b="0" i="0" sz="1250" u="none" cap="none" strike="noStrike">
              <a:solidFill>
                <a:schemeClr val="dk1"/>
              </a:solidFill>
              <a:latin typeface="Calibri"/>
              <a:ea typeface="Calibri"/>
              <a:cs typeface="Calibri"/>
              <a:sym typeface="Calibri"/>
            </a:endParaRPr>
          </a:p>
        </p:txBody>
      </p:sp>
      <p:sp>
        <p:nvSpPr>
          <p:cNvPr id="791" name="Google Shape;791;p11"/>
          <p:cNvSpPr/>
          <p:nvPr/>
        </p:nvSpPr>
        <p:spPr>
          <a:xfrm>
            <a:off x="4910328" y="3950208"/>
            <a:ext cx="237744" cy="237744"/>
          </a:xfrm>
          <a:prstGeom prst="ellipse">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1"/>
          <p:cNvSpPr/>
          <p:nvPr/>
        </p:nvSpPr>
        <p:spPr>
          <a:xfrm>
            <a:off x="4910328" y="3950208"/>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793" name="Google Shape;793;p11"/>
          <p:cNvSpPr/>
          <p:nvPr/>
        </p:nvSpPr>
        <p:spPr>
          <a:xfrm>
            <a:off x="5239512" y="3913632"/>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950"/>
              <a:buFont typeface="Calibri"/>
              <a:buNone/>
            </a:pPr>
            <a:r>
              <a:rPr b="0" i="0" lang="en-US" sz="950" u="none" cap="none" strike="noStrike">
                <a:solidFill>
                  <a:srgbClr val="2D2D2D"/>
                </a:solidFill>
                <a:latin typeface="Calibri"/>
                <a:ea typeface="Calibri"/>
                <a:cs typeface="Calibri"/>
                <a:sym typeface="Calibri"/>
              </a:rPr>
              <a:t>global.fetch = vi.fn() for fake responses</a:t>
            </a:r>
            <a:endParaRPr b="0" i="0" sz="950" u="none" cap="none" strike="noStrike">
              <a:solidFill>
                <a:schemeClr val="dk1"/>
              </a:solidFill>
              <a:latin typeface="Calibri"/>
              <a:ea typeface="Calibri"/>
              <a:cs typeface="Calibri"/>
              <a:sym typeface="Calibri"/>
            </a:endParaRPr>
          </a:p>
        </p:txBody>
      </p:sp>
      <p:sp>
        <p:nvSpPr>
          <p:cNvPr id="794" name="Google Shape;794;p11"/>
          <p:cNvSpPr/>
          <p:nvPr/>
        </p:nvSpPr>
        <p:spPr>
          <a:xfrm>
            <a:off x="4910328" y="4251960"/>
            <a:ext cx="237744" cy="237744"/>
          </a:xfrm>
          <a:prstGeom prst="ellipse">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1"/>
          <p:cNvSpPr/>
          <p:nvPr/>
        </p:nvSpPr>
        <p:spPr>
          <a:xfrm>
            <a:off x="4910328" y="42519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796" name="Google Shape;796;p11"/>
          <p:cNvSpPr/>
          <p:nvPr/>
        </p:nvSpPr>
        <p:spPr>
          <a:xfrm>
            <a:off x="5239512" y="4215384"/>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950"/>
              <a:buFont typeface="Calibri"/>
              <a:buNone/>
            </a:pPr>
            <a:r>
              <a:rPr b="0" i="0" lang="en-US" sz="950" u="none" cap="none" strike="noStrike">
                <a:solidFill>
                  <a:srgbClr val="2D2D2D"/>
                </a:solidFill>
                <a:latin typeface="Calibri"/>
                <a:ea typeface="Calibri"/>
                <a:cs typeface="Calibri"/>
                <a:sym typeface="Calibri"/>
              </a:rPr>
              <a:t>render(&lt;Component/&gt;) into a jsdom DOM</a:t>
            </a:r>
            <a:endParaRPr b="0" i="0" sz="950" u="none" cap="none" strike="noStrike">
              <a:solidFill>
                <a:schemeClr val="dk1"/>
              </a:solidFill>
              <a:latin typeface="Calibri"/>
              <a:ea typeface="Calibri"/>
              <a:cs typeface="Calibri"/>
              <a:sym typeface="Calibri"/>
            </a:endParaRPr>
          </a:p>
        </p:txBody>
      </p:sp>
      <p:sp>
        <p:nvSpPr>
          <p:cNvPr id="797" name="Google Shape;797;p11"/>
          <p:cNvSpPr/>
          <p:nvPr/>
        </p:nvSpPr>
        <p:spPr>
          <a:xfrm>
            <a:off x="4910328" y="4553712"/>
            <a:ext cx="237744" cy="237744"/>
          </a:xfrm>
          <a:prstGeom prst="ellipse">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1"/>
          <p:cNvSpPr/>
          <p:nvPr/>
        </p:nvSpPr>
        <p:spPr>
          <a:xfrm>
            <a:off x="4910328" y="4553712"/>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799" name="Google Shape;799;p11"/>
          <p:cNvSpPr/>
          <p:nvPr/>
        </p:nvSpPr>
        <p:spPr>
          <a:xfrm>
            <a:off x="5239512" y="4517136"/>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950"/>
              <a:buFont typeface="Calibri"/>
              <a:buNone/>
            </a:pPr>
            <a:r>
              <a:rPr b="0" i="0" lang="en-US" sz="950" u="none" cap="none" strike="noStrike">
                <a:solidFill>
                  <a:srgbClr val="2D2D2D"/>
                </a:solidFill>
                <a:latin typeface="Calibri"/>
                <a:ea typeface="Calibri"/>
                <a:cs typeface="Calibri"/>
                <a:sym typeface="Calibri"/>
              </a:rPr>
              <a:t>Query DOM + simulate with userEvent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4" name="Shape 804"/>
        <p:cNvGrpSpPr/>
        <p:nvPr/>
      </p:nvGrpSpPr>
      <p:grpSpPr>
        <a:xfrm>
          <a:off x="0" y="0"/>
          <a:ext cx="0" cy="0"/>
          <a:chOff x="0" y="0"/>
          <a:chExt cx="0" cy="0"/>
        </a:xfrm>
      </p:grpSpPr>
      <p:pic>
        <p:nvPicPr>
          <p:cNvPr descr="/tmp/band.png" id="805" name="Google Shape;805;p12"/>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806" name="Google Shape;806;p12"/>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PIPELINE</a:t>
            </a:r>
            <a:endParaRPr b="0" i="0" sz="1000" u="none" cap="none" strike="noStrike">
              <a:solidFill>
                <a:schemeClr val="dk1"/>
              </a:solidFill>
              <a:latin typeface="Calibri"/>
              <a:ea typeface="Calibri"/>
              <a:cs typeface="Calibri"/>
              <a:sym typeface="Calibri"/>
            </a:endParaRPr>
          </a:p>
        </p:txBody>
      </p:sp>
      <p:sp>
        <p:nvSpPr>
          <p:cNvPr id="807" name="Google Shape;807;p12"/>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CI/CD &amp; Quality Engineering</a:t>
            </a:r>
            <a:endParaRPr b="0" i="0" sz="2500" u="none" cap="none" strike="noStrike">
              <a:solidFill>
                <a:schemeClr val="dk1"/>
              </a:solidFill>
              <a:latin typeface="Calibri"/>
              <a:ea typeface="Calibri"/>
              <a:cs typeface="Calibri"/>
              <a:sym typeface="Calibri"/>
            </a:endParaRPr>
          </a:p>
        </p:txBody>
      </p:sp>
      <p:sp>
        <p:nvSpPr>
          <p:cNvPr id="808" name="Google Shape;808;p12"/>
          <p:cNvSpPr/>
          <p:nvPr/>
        </p:nvSpPr>
        <p:spPr>
          <a:xfrm>
            <a:off x="457200" y="1097280"/>
            <a:ext cx="4023360" cy="960120"/>
          </a:xfrm>
          <a:prstGeom prst="roundRect">
            <a:avLst>
              <a:gd fmla="val 5714"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2"/>
          <p:cNvSpPr/>
          <p:nvPr/>
        </p:nvSpPr>
        <p:spPr>
          <a:xfrm>
            <a:off x="640080" y="1261872"/>
            <a:ext cx="384048" cy="384048"/>
          </a:xfrm>
          <a:prstGeom prst="ellipse">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2"/>
          <p:cNvSpPr/>
          <p:nvPr/>
        </p:nvSpPr>
        <p:spPr>
          <a:xfrm>
            <a:off x="640080" y="12618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811" name="Google Shape;811;p12"/>
          <p:cNvSpPr/>
          <p:nvPr/>
        </p:nvSpPr>
        <p:spPr>
          <a:xfrm>
            <a:off x="1170432" y="1216152"/>
            <a:ext cx="3154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350"/>
              <a:buFont typeface="Calibri"/>
              <a:buNone/>
            </a:pPr>
            <a:r>
              <a:rPr b="1" i="0" lang="en-US" sz="1350" u="none" cap="none" strike="noStrike">
                <a:solidFill>
                  <a:srgbClr val="2D2D2D"/>
                </a:solidFill>
                <a:latin typeface="Calibri"/>
                <a:ea typeface="Calibri"/>
                <a:cs typeface="Calibri"/>
                <a:sym typeface="Calibri"/>
              </a:rPr>
              <a:t>GitHub Actions</a:t>
            </a:r>
            <a:endParaRPr b="0" i="0" sz="1350" u="none" cap="none" strike="noStrike">
              <a:solidFill>
                <a:schemeClr val="dk1"/>
              </a:solidFill>
              <a:latin typeface="Calibri"/>
              <a:ea typeface="Calibri"/>
              <a:cs typeface="Calibri"/>
              <a:sym typeface="Calibri"/>
            </a:endParaRPr>
          </a:p>
        </p:txBody>
      </p:sp>
      <p:sp>
        <p:nvSpPr>
          <p:cNvPr id="812" name="Google Shape;812;p12"/>
          <p:cNvSpPr/>
          <p:nvPr/>
        </p:nvSpPr>
        <p:spPr>
          <a:xfrm>
            <a:off x="1170432" y="1517904"/>
            <a:ext cx="315468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Full suite runs automatically on every pull request to development or main; failures block the merge.</a:t>
            </a:r>
            <a:endParaRPr b="0" i="0" sz="1000" u="none" cap="none" strike="noStrike">
              <a:solidFill>
                <a:schemeClr val="dk1"/>
              </a:solidFill>
              <a:latin typeface="Calibri"/>
              <a:ea typeface="Calibri"/>
              <a:cs typeface="Calibri"/>
              <a:sym typeface="Calibri"/>
            </a:endParaRPr>
          </a:p>
        </p:txBody>
      </p:sp>
      <p:sp>
        <p:nvSpPr>
          <p:cNvPr id="813" name="Google Shape;813;p12"/>
          <p:cNvSpPr/>
          <p:nvPr/>
        </p:nvSpPr>
        <p:spPr>
          <a:xfrm>
            <a:off x="4663440" y="1097280"/>
            <a:ext cx="4023360" cy="960120"/>
          </a:xfrm>
          <a:prstGeom prst="roundRect">
            <a:avLst>
              <a:gd fmla="val 5714"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2"/>
          <p:cNvSpPr/>
          <p:nvPr/>
        </p:nvSpPr>
        <p:spPr>
          <a:xfrm>
            <a:off x="4846320" y="1261872"/>
            <a:ext cx="384048" cy="384048"/>
          </a:xfrm>
          <a:prstGeom prst="ellipse">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2"/>
          <p:cNvSpPr/>
          <p:nvPr/>
        </p:nvSpPr>
        <p:spPr>
          <a:xfrm>
            <a:off x="4846320" y="12618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816" name="Google Shape;816;p12"/>
          <p:cNvSpPr/>
          <p:nvPr/>
        </p:nvSpPr>
        <p:spPr>
          <a:xfrm>
            <a:off x="5376672" y="1216152"/>
            <a:ext cx="3154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350"/>
              <a:buFont typeface="Calibri"/>
              <a:buNone/>
            </a:pPr>
            <a:r>
              <a:rPr b="1" i="0" lang="en-US" sz="1350" u="none" cap="none" strike="noStrike">
                <a:solidFill>
                  <a:srgbClr val="2D2D2D"/>
                </a:solidFill>
                <a:latin typeface="Calibri"/>
                <a:ea typeface="Calibri"/>
                <a:cs typeface="Calibri"/>
                <a:sym typeface="Calibri"/>
              </a:rPr>
              <a:t>Docker Compose</a:t>
            </a:r>
            <a:endParaRPr b="0" i="0" sz="1350" u="none" cap="none" strike="noStrike">
              <a:solidFill>
                <a:schemeClr val="dk1"/>
              </a:solidFill>
              <a:latin typeface="Calibri"/>
              <a:ea typeface="Calibri"/>
              <a:cs typeface="Calibri"/>
              <a:sym typeface="Calibri"/>
            </a:endParaRPr>
          </a:p>
        </p:txBody>
      </p:sp>
      <p:sp>
        <p:nvSpPr>
          <p:cNvPr id="817" name="Google Shape;817;p12"/>
          <p:cNvSpPr/>
          <p:nvPr/>
        </p:nvSpPr>
        <p:spPr>
          <a:xfrm>
            <a:off x="5376672" y="1517904"/>
            <a:ext cx="315468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CI spins up the app in containers so tests run against a consistent, production-like environment.</a:t>
            </a:r>
            <a:endParaRPr b="0" i="0" sz="1000" u="none" cap="none" strike="noStrike">
              <a:solidFill>
                <a:schemeClr val="dk1"/>
              </a:solidFill>
              <a:latin typeface="Calibri"/>
              <a:ea typeface="Calibri"/>
              <a:cs typeface="Calibri"/>
              <a:sym typeface="Calibri"/>
            </a:endParaRPr>
          </a:p>
        </p:txBody>
      </p:sp>
      <p:sp>
        <p:nvSpPr>
          <p:cNvPr id="818" name="Google Shape;818;p12"/>
          <p:cNvSpPr/>
          <p:nvPr/>
        </p:nvSpPr>
        <p:spPr>
          <a:xfrm>
            <a:off x="457200" y="2176272"/>
            <a:ext cx="4023360" cy="960120"/>
          </a:xfrm>
          <a:prstGeom prst="roundRect">
            <a:avLst>
              <a:gd fmla="val 5714"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2"/>
          <p:cNvSpPr/>
          <p:nvPr/>
        </p:nvSpPr>
        <p:spPr>
          <a:xfrm>
            <a:off x="640080" y="2340864"/>
            <a:ext cx="384048" cy="384048"/>
          </a:xfrm>
          <a:prstGeom prst="ellipse">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2"/>
          <p:cNvSpPr/>
          <p:nvPr/>
        </p:nvSpPr>
        <p:spPr>
          <a:xfrm>
            <a:off x="640080" y="23408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821" name="Google Shape;821;p12"/>
          <p:cNvSpPr/>
          <p:nvPr/>
        </p:nvSpPr>
        <p:spPr>
          <a:xfrm>
            <a:off x="1170432" y="2295144"/>
            <a:ext cx="3154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350"/>
              <a:buFont typeface="Calibri"/>
              <a:buNone/>
            </a:pPr>
            <a:r>
              <a:rPr b="1" i="0" lang="en-US" sz="1350" u="none" cap="none" strike="noStrike">
                <a:solidFill>
                  <a:srgbClr val="2D2D2D"/>
                </a:solidFill>
                <a:latin typeface="Calibri"/>
                <a:ea typeface="Calibri"/>
                <a:cs typeface="Calibri"/>
                <a:sym typeface="Calibri"/>
              </a:rPr>
              <a:t>In-browser fetch mock</a:t>
            </a:r>
            <a:endParaRPr b="0" i="0" sz="1350" u="none" cap="none" strike="noStrike">
              <a:solidFill>
                <a:schemeClr val="dk1"/>
              </a:solidFill>
              <a:latin typeface="Calibri"/>
              <a:ea typeface="Calibri"/>
              <a:cs typeface="Calibri"/>
              <a:sym typeface="Calibri"/>
            </a:endParaRPr>
          </a:p>
        </p:txBody>
      </p:sp>
      <p:sp>
        <p:nvSpPr>
          <p:cNvPr id="822" name="Google Shape;822;p12"/>
          <p:cNvSpPr/>
          <p:nvPr/>
        </p:nvSpPr>
        <p:spPr>
          <a:xfrm>
            <a:off x="1170432" y="2596896"/>
            <a:ext cx="315468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Backend calls intercepted in conftest.py — reliable CI with no MongoDB or OpenAI dependency.</a:t>
            </a:r>
            <a:endParaRPr b="0" i="0" sz="1000" u="none" cap="none" strike="noStrike">
              <a:solidFill>
                <a:schemeClr val="dk1"/>
              </a:solidFill>
              <a:latin typeface="Calibri"/>
              <a:ea typeface="Calibri"/>
              <a:cs typeface="Calibri"/>
              <a:sym typeface="Calibri"/>
            </a:endParaRPr>
          </a:p>
        </p:txBody>
      </p:sp>
      <p:sp>
        <p:nvSpPr>
          <p:cNvPr id="823" name="Google Shape;823;p12"/>
          <p:cNvSpPr/>
          <p:nvPr/>
        </p:nvSpPr>
        <p:spPr>
          <a:xfrm>
            <a:off x="4663440" y="2176272"/>
            <a:ext cx="4023360" cy="960120"/>
          </a:xfrm>
          <a:prstGeom prst="roundRect">
            <a:avLst>
              <a:gd fmla="val 5714"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2"/>
          <p:cNvSpPr/>
          <p:nvPr/>
        </p:nvSpPr>
        <p:spPr>
          <a:xfrm>
            <a:off x="4846320" y="2340864"/>
            <a:ext cx="384048" cy="384048"/>
          </a:xfrm>
          <a:prstGeom prst="ellipse">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2"/>
          <p:cNvSpPr/>
          <p:nvPr/>
        </p:nvSpPr>
        <p:spPr>
          <a:xfrm>
            <a:off x="4846320" y="23408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826" name="Google Shape;826;p12"/>
          <p:cNvSpPr/>
          <p:nvPr/>
        </p:nvSpPr>
        <p:spPr>
          <a:xfrm>
            <a:off x="5376672" y="2295144"/>
            <a:ext cx="3154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350"/>
              <a:buFont typeface="Calibri"/>
              <a:buNone/>
            </a:pPr>
            <a:r>
              <a:rPr b="1" i="0" lang="en-US" sz="1350" u="none" cap="none" strike="noStrike">
                <a:solidFill>
                  <a:srgbClr val="2D2D2D"/>
                </a:solidFill>
                <a:latin typeface="Calibri"/>
                <a:ea typeface="Calibri"/>
                <a:cs typeface="Calibri"/>
                <a:sym typeface="Calibri"/>
              </a:rPr>
              <a:t>Screenshot on failure</a:t>
            </a:r>
            <a:endParaRPr b="0" i="0" sz="1350" u="none" cap="none" strike="noStrike">
              <a:solidFill>
                <a:schemeClr val="dk1"/>
              </a:solidFill>
              <a:latin typeface="Calibri"/>
              <a:ea typeface="Calibri"/>
              <a:cs typeface="Calibri"/>
              <a:sym typeface="Calibri"/>
            </a:endParaRPr>
          </a:p>
        </p:txBody>
      </p:sp>
      <p:sp>
        <p:nvSpPr>
          <p:cNvPr id="827" name="Google Shape;827;p12"/>
          <p:cNvSpPr/>
          <p:nvPr/>
        </p:nvSpPr>
        <p:spPr>
          <a:xfrm>
            <a:off x="5376672" y="2596896"/>
            <a:ext cx="315468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Every failing scenario auto-captures a screenshot embedded in the pytest-html report.</a:t>
            </a:r>
            <a:endParaRPr b="0" i="0" sz="1000" u="none" cap="none" strike="noStrike">
              <a:solidFill>
                <a:schemeClr val="dk1"/>
              </a:solidFill>
              <a:latin typeface="Calibri"/>
              <a:ea typeface="Calibri"/>
              <a:cs typeface="Calibri"/>
              <a:sym typeface="Calibri"/>
            </a:endParaRPr>
          </a:p>
        </p:txBody>
      </p:sp>
      <p:sp>
        <p:nvSpPr>
          <p:cNvPr id="828" name="Google Shape;828;p12"/>
          <p:cNvSpPr/>
          <p:nvPr/>
        </p:nvSpPr>
        <p:spPr>
          <a:xfrm>
            <a:off x="457200" y="3255264"/>
            <a:ext cx="4023360" cy="960120"/>
          </a:xfrm>
          <a:prstGeom prst="roundRect">
            <a:avLst>
              <a:gd fmla="val 5714"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2"/>
          <p:cNvSpPr/>
          <p:nvPr/>
        </p:nvSpPr>
        <p:spPr>
          <a:xfrm>
            <a:off x="640080" y="3419856"/>
            <a:ext cx="384048" cy="384048"/>
          </a:xfrm>
          <a:prstGeom prst="ellipse">
            <a:avLst/>
          </a:prstGeom>
          <a:solidFill>
            <a:srgbClr val="D12B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2"/>
          <p:cNvSpPr/>
          <p:nvPr/>
        </p:nvSpPr>
        <p:spPr>
          <a:xfrm>
            <a:off x="640080" y="341985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831" name="Google Shape;831;p12"/>
          <p:cNvSpPr/>
          <p:nvPr/>
        </p:nvSpPr>
        <p:spPr>
          <a:xfrm>
            <a:off x="1170432" y="3374136"/>
            <a:ext cx="3154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350"/>
              <a:buFont typeface="Calibri"/>
              <a:buNone/>
            </a:pPr>
            <a:r>
              <a:rPr b="1" i="0" lang="en-US" sz="1350" u="none" cap="none" strike="noStrike">
                <a:solidFill>
                  <a:srgbClr val="2D2D2D"/>
                </a:solidFill>
                <a:latin typeface="Calibri"/>
                <a:ea typeface="Calibri"/>
                <a:cs typeface="Calibri"/>
                <a:sym typeface="Calibri"/>
              </a:rPr>
              <a:t>Reusable fixtures</a:t>
            </a:r>
            <a:endParaRPr b="0" i="0" sz="1350" u="none" cap="none" strike="noStrike">
              <a:solidFill>
                <a:schemeClr val="dk1"/>
              </a:solidFill>
              <a:latin typeface="Calibri"/>
              <a:ea typeface="Calibri"/>
              <a:cs typeface="Calibri"/>
              <a:sym typeface="Calibri"/>
            </a:endParaRPr>
          </a:p>
        </p:txBody>
      </p:sp>
      <p:sp>
        <p:nvSpPr>
          <p:cNvPr id="832" name="Google Shape;832;p12"/>
          <p:cNvSpPr/>
          <p:nvPr/>
        </p:nvSpPr>
        <p:spPr>
          <a:xfrm>
            <a:off x="1170432" y="3675888"/>
            <a:ext cx="315468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6 real test files exercise all upload paths: PDF, PNG, JPG, EXE, MP3 and oversized PDF.</a:t>
            </a:r>
            <a:endParaRPr b="0" i="0" sz="1000" u="none" cap="none" strike="noStrike">
              <a:solidFill>
                <a:schemeClr val="dk1"/>
              </a:solidFill>
              <a:latin typeface="Calibri"/>
              <a:ea typeface="Calibri"/>
              <a:cs typeface="Calibri"/>
              <a:sym typeface="Calibri"/>
            </a:endParaRPr>
          </a:p>
        </p:txBody>
      </p:sp>
      <p:sp>
        <p:nvSpPr>
          <p:cNvPr id="833" name="Google Shape;833;p12"/>
          <p:cNvSpPr/>
          <p:nvPr/>
        </p:nvSpPr>
        <p:spPr>
          <a:xfrm>
            <a:off x="4663440" y="3255264"/>
            <a:ext cx="4023360" cy="960120"/>
          </a:xfrm>
          <a:prstGeom prst="roundRect">
            <a:avLst>
              <a:gd fmla="val 5714"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2"/>
          <p:cNvSpPr/>
          <p:nvPr/>
        </p:nvSpPr>
        <p:spPr>
          <a:xfrm>
            <a:off x="4846320" y="3419856"/>
            <a:ext cx="384048" cy="384048"/>
          </a:xfrm>
          <a:prstGeom prst="ellipse">
            <a:avLst/>
          </a:prstGeom>
          <a:solidFill>
            <a:srgbClr val="A01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2"/>
          <p:cNvSpPr/>
          <p:nvPr/>
        </p:nvSpPr>
        <p:spPr>
          <a:xfrm>
            <a:off x="4846320" y="341985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836" name="Google Shape;836;p12"/>
          <p:cNvSpPr/>
          <p:nvPr/>
        </p:nvSpPr>
        <p:spPr>
          <a:xfrm>
            <a:off x="5376672" y="3374136"/>
            <a:ext cx="3154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350"/>
              <a:buFont typeface="Calibri"/>
              <a:buNone/>
            </a:pPr>
            <a:r>
              <a:rPr b="1" i="0" lang="en-US" sz="1350" u="none" cap="none" strike="noStrike">
                <a:solidFill>
                  <a:srgbClr val="2D2D2D"/>
                </a:solidFill>
                <a:latin typeface="Calibri"/>
                <a:ea typeface="Calibri"/>
                <a:cs typeface="Calibri"/>
                <a:sym typeface="Calibri"/>
              </a:rPr>
              <a:t>Retained artifacts</a:t>
            </a:r>
            <a:endParaRPr b="0" i="0" sz="1350" u="none" cap="none" strike="noStrike">
              <a:solidFill>
                <a:schemeClr val="dk1"/>
              </a:solidFill>
              <a:latin typeface="Calibri"/>
              <a:ea typeface="Calibri"/>
              <a:cs typeface="Calibri"/>
              <a:sym typeface="Calibri"/>
            </a:endParaRPr>
          </a:p>
        </p:txBody>
      </p:sp>
      <p:sp>
        <p:nvSpPr>
          <p:cNvPr id="837" name="Google Shape;837;p12"/>
          <p:cNvSpPr/>
          <p:nvPr/>
        </p:nvSpPr>
        <p:spPr>
          <a:xfrm>
            <a:off x="5376672" y="3675888"/>
            <a:ext cx="315468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HTML test report uploaded as a 14-day CI artifact for review after each run.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2" name="Shape 842"/>
        <p:cNvGrpSpPr/>
        <p:nvPr/>
      </p:nvGrpSpPr>
      <p:grpSpPr>
        <a:xfrm>
          <a:off x="0" y="0"/>
          <a:ext cx="0" cy="0"/>
          <a:chOff x="0" y="0"/>
          <a:chExt cx="0" cy="0"/>
        </a:xfrm>
      </p:grpSpPr>
      <p:pic>
        <p:nvPicPr>
          <p:cNvPr descr="/tmp/band.png" id="843" name="Google Shape;843;p13"/>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844" name="Google Shape;844;p13"/>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DEFINED IN THE SPPP</a:t>
            </a:r>
            <a:endParaRPr b="0" i="0" sz="1000" u="none" cap="none" strike="noStrike">
              <a:solidFill>
                <a:schemeClr val="dk1"/>
              </a:solidFill>
              <a:latin typeface="Calibri"/>
              <a:ea typeface="Calibri"/>
              <a:cs typeface="Calibri"/>
              <a:sym typeface="Calibri"/>
            </a:endParaRPr>
          </a:p>
        </p:txBody>
      </p:sp>
      <p:sp>
        <p:nvSpPr>
          <p:cNvPr id="845" name="Google Shape;845;p13"/>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Testing Metrics</a:t>
            </a:r>
            <a:endParaRPr b="0" i="0" sz="2500" u="none" cap="none" strike="noStrike">
              <a:solidFill>
                <a:schemeClr val="dk1"/>
              </a:solidFill>
              <a:latin typeface="Calibri"/>
              <a:ea typeface="Calibri"/>
              <a:cs typeface="Calibri"/>
              <a:sym typeface="Calibri"/>
            </a:endParaRPr>
          </a:p>
        </p:txBody>
      </p:sp>
      <p:graphicFrame>
        <p:nvGraphicFramePr>
          <p:cNvPr id="846" name="Google Shape;846;p13"/>
          <p:cNvGraphicFramePr/>
          <p:nvPr/>
        </p:nvGraphicFramePr>
        <p:xfrm>
          <a:off x="457200" y="1097280"/>
          <a:ext cx="3000000" cy="3000000"/>
        </p:xfrm>
        <a:graphic>
          <a:graphicData uri="http://schemas.openxmlformats.org/drawingml/2006/table">
            <a:tbl>
              <a:tblPr>
                <a:noFill/>
                <a:tableStyleId>{3A829425-CA47-42D2-BFA8-2A0952B3F607}</a:tableStyleId>
              </a:tblPr>
              <a:tblGrid>
                <a:gridCol w="2286000"/>
                <a:gridCol w="3566150"/>
                <a:gridCol w="2377450"/>
              </a:tblGrid>
              <a:tr h="38405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Metric</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Definition</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Result</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D12B63"/>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 of automated tests</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Unit + end-to-end coverage</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u="none" cap="none" strike="noStrike">
                          <a:solidFill>
                            <a:srgbClr val="A01E4A"/>
                          </a:solidFill>
                          <a:latin typeface="Calibri"/>
                          <a:ea typeface="Calibri"/>
                          <a:cs typeface="Calibri"/>
                          <a:sym typeface="Calibri"/>
                        </a:rPr>
                        <a:t>162 unit + 46 E2E = 208</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rtl="0" algn="l">
                        <a:spcBef>
                          <a:spcPts val="0"/>
                        </a:spcBef>
                        <a:spcAft>
                          <a:spcPts val="0"/>
                        </a:spcAft>
                        <a:buClr>
                          <a:srgbClr val="2D2D2D"/>
                        </a:buClr>
                        <a:buSzPts val="1150"/>
                        <a:buFont typeface="Calibri"/>
                        <a:buNone/>
                      </a:pPr>
                      <a:r>
                        <a:rPr lang="en-US" sz="1150">
                          <a:solidFill>
                            <a:srgbClr val="2D2D2D"/>
                          </a:solidFill>
                          <a:latin typeface="Calibri"/>
                          <a:ea typeface="Calibri"/>
                          <a:cs typeface="Calibri"/>
                          <a:sym typeface="Calibri"/>
                        </a:rPr>
                        <a:t># of manual tests</a:t>
                      </a:r>
                      <a:endParaRPr sz="1150">
                        <a:latin typeface="Calibri"/>
                        <a:ea typeface="Calibri"/>
                        <a:cs typeface="Calibri"/>
                        <a:sym typeface="Calibri"/>
                      </a:endParaRPr>
                    </a:p>
                    <a:p>
                      <a:pPr indent="0" lvl="0" marL="0" marR="0" rtl="0" algn="l">
                        <a:spcBef>
                          <a:spcPts val="0"/>
                        </a:spcBef>
                        <a:spcAft>
                          <a:spcPts val="0"/>
                        </a:spcAft>
                        <a:buNone/>
                      </a:pPr>
                      <a:r>
                        <a:t/>
                      </a:r>
                      <a:endParaRPr sz="1150">
                        <a:solidFill>
                          <a:srgbClr val="2D2D2D"/>
                        </a:solidFill>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50">
                          <a:solidFill>
                            <a:srgbClr val="2D2D2D"/>
                          </a:solidFill>
                          <a:latin typeface="Calibri"/>
                          <a:ea typeface="Calibri"/>
                          <a:cs typeface="Calibri"/>
                          <a:sym typeface="Calibri"/>
                        </a:rPr>
                        <a:t>manual test case(iteration 1+2)</a:t>
                      </a:r>
                      <a:endParaRPr sz="1150" u="none" cap="none" strike="noStrike">
                        <a:solidFill>
                          <a:srgbClr val="2D2D2D"/>
                        </a:solidFill>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US" sz="1150">
                          <a:solidFill>
                            <a:srgbClr val="A01E4A"/>
                          </a:solidFill>
                          <a:latin typeface="Calibri"/>
                          <a:ea typeface="Calibri"/>
                          <a:cs typeface="Calibri"/>
                          <a:sym typeface="Calibri"/>
                        </a:rPr>
                        <a:t>64</a:t>
                      </a:r>
                      <a:endParaRPr b="1" sz="1150" u="none" cap="none" strike="noStrike">
                        <a:solidFill>
                          <a:srgbClr val="A01E4A"/>
                        </a:solidFill>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 of generated test cases</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AI test cases produced per user story</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u="none" cap="none" strike="noStrike">
                          <a:solidFill>
                            <a:srgbClr val="A01E4A"/>
                          </a:solidFill>
                          <a:latin typeface="Calibri"/>
                          <a:ea typeface="Calibri"/>
                          <a:cs typeface="Calibri"/>
                          <a:sym typeface="Calibri"/>
                        </a:rPr>
                        <a:t>5–15 per request</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 of user stories</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Total stories planned</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u="none" cap="none" strike="noStrike">
                          <a:solidFill>
                            <a:srgbClr val="A01E4A"/>
                          </a:solidFill>
                          <a:latin typeface="Calibri"/>
                          <a:ea typeface="Calibri"/>
                          <a:cs typeface="Calibri"/>
                          <a:sym typeface="Calibri"/>
                        </a:rPr>
                        <a:t>13</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Person-hours</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Total project effort</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A01E4A"/>
                        </a:buClr>
                        <a:buSzPts val="1150"/>
                        <a:buFont typeface="Calibri"/>
                        <a:buNone/>
                      </a:pPr>
                      <a:r>
                        <a:rPr b="1" lang="en-US" sz="1150" u="none" cap="none" strike="noStrike">
                          <a:solidFill>
                            <a:srgbClr val="A01E4A"/>
                          </a:solidFill>
                          <a:latin typeface="Calibri"/>
                          <a:ea typeface="Calibri"/>
                          <a:cs typeface="Calibri"/>
                          <a:sym typeface="Calibri"/>
                        </a:rPr>
                        <a:t>140 (planned)</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Lines of code</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Backend + frontend total</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66666"/>
                        </a:buClr>
                        <a:buSzPts val="1150"/>
                        <a:buFont typeface="Calibri"/>
                        <a:buNone/>
                      </a:pPr>
                      <a:r>
                        <a:rPr i="1" lang="en-US" sz="1150">
                          <a:solidFill>
                            <a:srgbClr val="666666"/>
                          </a:solidFill>
                          <a:latin typeface="Calibri"/>
                          <a:ea typeface="Calibri"/>
                          <a:cs typeface="Calibri"/>
                          <a:sym typeface="Calibri"/>
                        </a:rPr>
                        <a:t>8463</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Test pass rate</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Passing unit + E2E tests</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66666"/>
                        </a:buClr>
                        <a:buSzPts val="1150"/>
                        <a:buFont typeface="Calibri"/>
                        <a:buNone/>
                      </a:pPr>
                      <a:r>
                        <a:rPr i="1" lang="en-US" sz="1150">
                          <a:solidFill>
                            <a:srgbClr val="666666"/>
                          </a:solidFill>
                          <a:latin typeface="Calibri"/>
                          <a:ea typeface="Calibri"/>
                          <a:cs typeface="Calibri"/>
                          <a:sym typeface="Calibri"/>
                        </a:rPr>
                        <a:t>90%</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Defect rate</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Bugs logged per iteration</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66666"/>
                        </a:buClr>
                        <a:buSzPts val="1150"/>
                        <a:buFont typeface="Calibri"/>
                        <a:buNone/>
                      </a:pPr>
                      <a:r>
                        <a:rPr i="1" lang="en-US" sz="1150">
                          <a:solidFill>
                            <a:srgbClr val="666666"/>
                          </a:solidFill>
                          <a:latin typeface="Calibri"/>
                          <a:ea typeface="Calibri"/>
                          <a:cs typeface="Calibri"/>
                          <a:sym typeface="Calibri"/>
                        </a:rPr>
                        <a:t>5%</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Test case accuracy</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2D2D"/>
                        </a:buClr>
                        <a:buSzPts val="1150"/>
                        <a:buFont typeface="Calibri"/>
                        <a:buNone/>
                      </a:pPr>
                      <a:r>
                        <a:rPr lang="en-US" sz="1150" u="none" cap="none" strike="noStrike">
                          <a:solidFill>
                            <a:srgbClr val="2D2D2D"/>
                          </a:solidFill>
                          <a:latin typeface="Calibri"/>
                          <a:ea typeface="Calibri"/>
                          <a:cs typeface="Calibri"/>
                          <a:sym typeface="Calibri"/>
                        </a:rPr>
                        <a:t>Generated cases match product docs</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666666"/>
                        </a:buClr>
                        <a:buSzPts val="1150"/>
                        <a:buFont typeface="Calibri"/>
                        <a:buNone/>
                      </a:pPr>
                      <a:r>
                        <a:rPr i="1" lang="en-US" sz="1150">
                          <a:solidFill>
                            <a:srgbClr val="666666"/>
                          </a:solidFill>
                          <a:latin typeface="Calibri"/>
                          <a:ea typeface="Calibri"/>
                          <a:cs typeface="Calibri"/>
                          <a:sym typeface="Calibri"/>
                        </a:rPr>
                        <a:t>95%</a:t>
                      </a:r>
                      <a:endParaRPr sz="1150" u="none" cap="none" strike="noStrike">
                        <a:latin typeface="Calibri"/>
                        <a:ea typeface="Calibri"/>
                        <a:cs typeface="Calibri"/>
                        <a:sym typeface="Calibri"/>
                      </a:endParaRPr>
                    </a:p>
                  </a:txBody>
                  <a:tcPr marT="45725" marB="45725" marR="91450" marL="91450" anchor="ctr">
                    <a:lnL cap="flat" cmpd="sng" w="12700">
                      <a:solidFill>
                        <a:srgbClr val="E8E8E8"/>
                      </a:solidFill>
                      <a:prstDash val="solid"/>
                      <a:round/>
                      <a:headEnd len="sm" w="sm" type="none"/>
                      <a:tailEnd len="sm" w="sm" type="none"/>
                    </a:lnL>
                    <a:lnR cap="flat" cmpd="sng" w="12700">
                      <a:solidFill>
                        <a:srgbClr val="E8E8E8"/>
                      </a:solidFill>
                      <a:prstDash val="solid"/>
                      <a:round/>
                      <a:headEnd len="sm" w="sm" type="none"/>
                      <a:tailEnd len="sm" w="sm" type="none"/>
                    </a:lnR>
                    <a:lnT cap="flat" cmpd="sng" w="12700">
                      <a:solidFill>
                        <a:srgbClr val="E8E8E8"/>
                      </a:solidFill>
                      <a:prstDash val="solid"/>
                      <a:round/>
                      <a:headEnd len="sm" w="sm" type="none"/>
                      <a:tailEnd len="sm" w="sm" type="none"/>
                    </a:lnT>
                    <a:lnB cap="flat" cmpd="sng" w="12700">
                      <a:solidFill>
                        <a:srgbClr val="E8E8E8"/>
                      </a:solidFill>
                      <a:prstDash val="solid"/>
                      <a:round/>
                      <a:headEnd len="sm" w="sm" type="none"/>
                      <a:tailEnd len="sm" w="sm" type="none"/>
                    </a:lnB>
                    <a:solidFill>
                      <a:srgbClr val="FFFFFF"/>
                    </a:solidFill>
                  </a:tcPr>
                </a:tc>
              </a:tr>
            </a:tbl>
          </a:graphicData>
        </a:graphic>
      </p:graphicFrame>
      <p:sp>
        <p:nvSpPr>
          <p:cNvPr id="847" name="Google Shape;847;p13"/>
          <p:cNvSpPr/>
          <p:nvPr/>
        </p:nvSpPr>
        <p:spPr>
          <a:xfrm>
            <a:off x="457200" y="45262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01E4A"/>
        </a:solidFill>
      </p:bgPr>
    </p:bg>
    <p:spTree>
      <p:nvGrpSpPr>
        <p:cNvPr id="852" name="Shape 852"/>
        <p:cNvGrpSpPr/>
        <p:nvPr/>
      </p:nvGrpSpPr>
      <p:grpSpPr>
        <a:xfrm>
          <a:off x="0" y="0"/>
          <a:ext cx="0" cy="0"/>
          <a:chOff x="0" y="0"/>
          <a:chExt cx="0" cy="0"/>
        </a:xfrm>
      </p:grpSpPr>
      <p:pic>
        <p:nvPicPr>
          <p:cNvPr descr="/tmp/divider.png" id="853" name="Google Shape;853;p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54" name="Google Shape;854;p14"/>
          <p:cNvSpPr/>
          <p:nvPr/>
        </p:nvSpPr>
        <p:spPr>
          <a:xfrm>
            <a:off x="0" y="2011680"/>
            <a:ext cx="9144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E4ED"/>
              </a:buClr>
              <a:buSzPts val="1300"/>
              <a:buFont typeface="Calibri"/>
              <a:buNone/>
            </a:pPr>
            <a:r>
              <a:rPr b="1" i="0" lang="en-US" sz="1300" u="none" cap="none" strike="noStrike">
                <a:solidFill>
                  <a:srgbClr val="FCE4ED"/>
                </a:solidFill>
                <a:latin typeface="Calibri"/>
                <a:ea typeface="Calibri"/>
                <a:cs typeface="Calibri"/>
                <a:sym typeface="Calibri"/>
              </a:rPr>
              <a:t>CONFIGURATION &amp; RELEASE</a:t>
            </a:r>
            <a:endParaRPr b="0" i="0" sz="1300" u="none" cap="none" strike="noStrike">
              <a:solidFill>
                <a:schemeClr val="dk1"/>
              </a:solidFill>
              <a:latin typeface="Calibri"/>
              <a:ea typeface="Calibri"/>
              <a:cs typeface="Calibri"/>
              <a:sym typeface="Calibri"/>
            </a:endParaRPr>
          </a:p>
        </p:txBody>
      </p:sp>
      <p:sp>
        <p:nvSpPr>
          <p:cNvPr id="855" name="Google Shape;855;p14"/>
          <p:cNvSpPr/>
          <p:nvPr/>
        </p:nvSpPr>
        <p:spPr>
          <a:xfrm>
            <a:off x="0" y="2331720"/>
            <a:ext cx="91440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Deployment</a:t>
            </a:r>
            <a:endParaRPr b="0" i="0" sz="4000" u="none" cap="none" strike="noStrike">
              <a:solidFill>
                <a:schemeClr val="dk1"/>
              </a:solidFill>
              <a:latin typeface="Calibri"/>
              <a:ea typeface="Calibri"/>
              <a:cs typeface="Calibri"/>
              <a:sym typeface="Calibri"/>
            </a:endParaRPr>
          </a:p>
        </p:txBody>
      </p:sp>
      <p:sp>
        <p:nvSpPr>
          <p:cNvPr id="856" name="Google Shape;856;p14"/>
          <p:cNvSpPr/>
          <p:nvPr/>
        </p:nvSpPr>
        <p:spPr>
          <a:xfrm>
            <a:off x="0" y="3108960"/>
            <a:ext cx="91440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E4ED"/>
              </a:buClr>
              <a:buSzPts val="1400"/>
              <a:buFont typeface="Calibri"/>
              <a:buNone/>
            </a:pPr>
            <a:r>
              <a:rPr b="0" i="0" lang="en-US" sz="1400" u="none" cap="none" strike="noStrike">
                <a:solidFill>
                  <a:srgbClr val="FCE4ED"/>
                </a:solidFill>
                <a:latin typeface="Calibri"/>
                <a:ea typeface="Calibri"/>
                <a:cs typeface="Calibri"/>
                <a:sym typeface="Calibri"/>
              </a:rPr>
              <a:t>Live on Render  •  MongoDB Atlas  •  Auto-deployed from GitHub</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1" name="Shape 861"/>
        <p:cNvGrpSpPr/>
        <p:nvPr/>
      </p:nvGrpSpPr>
      <p:grpSpPr>
        <a:xfrm>
          <a:off x="0" y="0"/>
          <a:ext cx="0" cy="0"/>
          <a:chOff x="0" y="0"/>
          <a:chExt cx="0" cy="0"/>
        </a:xfrm>
      </p:grpSpPr>
      <p:pic>
        <p:nvPicPr>
          <p:cNvPr descr="/tmp/band.png" id="862" name="Google Shape;862;p15"/>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863" name="Google Shape;863;p15"/>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RENDER</a:t>
            </a:r>
            <a:endParaRPr b="0" i="0" sz="1000" u="none" cap="none" strike="noStrike">
              <a:solidFill>
                <a:schemeClr val="dk1"/>
              </a:solidFill>
              <a:latin typeface="Calibri"/>
              <a:ea typeface="Calibri"/>
              <a:cs typeface="Calibri"/>
              <a:sym typeface="Calibri"/>
            </a:endParaRPr>
          </a:p>
        </p:txBody>
      </p:sp>
      <p:sp>
        <p:nvSpPr>
          <p:cNvPr id="864" name="Google Shape;864;p15"/>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Deployment Architecture</a:t>
            </a:r>
            <a:endParaRPr b="0" i="0" sz="2500" u="none" cap="none" strike="noStrike">
              <a:solidFill>
                <a:schemeClr val="dk1"/>
              </a:solidFill>
              <a:latin typeface="Calibri"/>
              <a:ea typeface="Calibri"/>
              <a:cs typeface="Calibri"/>
              <a:sym typeface="Calibri"/>
            </a:endParaRPr>
          </a:p>
        </p:txBody>
      </p:sp>
      <p:sp>
        <p:nvSpPr>
          <p:cNvPr id="865" name="Google Shape;865;p15"/>
          <p:cNvSpPr/>
          <p:nvPr/>
        </p:nvSpPr>
        <p:spPr>
          <a:xfrm>
            <a:off x="365760" y="1874520"/>
            <a:ext cx="1508760" cy="960120"/>
          </a:xfrm>
          <a:prstGeom prst="roundRect">
            <a:avLst>
              <a:gd fmla="val 5714"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5"/>
          <p:cNvSpPr/>
          <p:nvPr/>
        </p:nvSpPr>
        <p:spPr>
          <a:xfrm>
            <a:off x="475488" y="2020824"/>
            <a:ext cx="128930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1400"/>
              <a:buFont typeface="Calibri"/>
              <a:buNone/>
            </a:pPr>
            <a:r>
              <a:rPr b="1" i="0" lang="en-US" sz="1400" u="none" cap="none" strike="noStrike">
                <a:solidFill>
                  <a:srgbClr val="A01E4A"/>
                </a:solidFill>
                <a:latin typeface="Calibri"/>
                <a:ea typeface="Calibri"/>
                <a:cs typeface="Calibri"/>
                <a:sym typeface="Calibri"/>
              </a:rPr>
              <a:t>GitHub</a:t>
            </a:r>
            <a:endParaRPr b="0" i="0" sz="1400" u="none" cap="none" strike="noStrike">
              <a:solidFill>
                <a:schemeClr val="dk1"/>
              </a:solidFill>
              <a:latin typeface="Calibri"/>
              <a:ea typeface="Calibri"/>
              <a:cs typeface="Calibri"/>
              <a:sym typeface="Calibri"/>
            </a:endParaRPr>
          </a:p>
        </p:txBody>
      </p:sp>
      <p:sp>
        <p:nvSpPr>
          <p:cNvPr id="867" name="Google Shape;867;p15"/>
          <p:cNvSpPr/>
          <p:nvPr/>
        </p:nvSpPr>
        <p:spPr>
          <a:xfrm>
            <a:off x="475488" y="2377440"/>
            <a:ext cx="1289304"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repository</a:t>
            </a:r>
            <a:endParaRPr b="0" i="0" sz="1000" u="none" cap="none" strike="noStrike">
              <a:solidFill>
                <a:schemeClr val="dk1"/>
              </a:solidFill>
              <a:latin typeface="Calibri"/>
              <a:ea typeface="Calibri"/>
              <a:cs typeface="Calibri"/>
              <a:sym typeface="Calibri"/>
            </a:endParaRPr>
          </a:p>
        </p:txBody>
      </p:sp>
      <p:sp>
        <p:nvSpPr>
          <p:cNvPr id="868" name="Google Shape;868;p15"/>
          <p:cNvSpPr/>
          <p:nvPr/>
        </p:nvSpPr>
        <p:spPr>
          <a:xfrm>
            <a:off x="2148840" y="1188720"/>
            <a:ext cx="3246120" cy="2926080"/>
          </a:xfrm>
          <a:prstGeom prst="roundRect">
            <a:avLst>
              <a:gd fmla="val 1875" name="adj"/>
            </a:avLst>
          </a:prstGeom>
          <a:solidFill>
            <a:srgbClr val="FAFAFA"/>
          </a:solidFill>
          <a:ln cap="flat" cmpd="sng" w="19050">
            <a:solidFill>
              <a:srgbClr val="F4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5"/>
          <p:cNvSpPr/>
          <p:nvPr/>
        </p:nvSpPr>
        <p:spPr>
          <a:xfrm>
            <a:off x="2286000" y="1298448"/>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100"/>
              <a:buFont typeface="Calibri"/>
              <a:buNone/>
            </a:pPr>
            <a:r>
              <a:rPr b="1" i="0" lang="en-US" sz="1100" u="none" cap="none" strike="noStrike">
                <a:solidFill>
                  <a:srgbClr val="D12B63"/>
                </a:solidFill>
                <a:latin typeface="Calibri"/>
                <a:ea typeface="Calibri"/>
                <a:cs typeface="Calibri"/>
                <a:sym typeface="Calibri"/>
              </a:rPr>
              <a:t>RENDER</a:t>
            </a:r>
            <a:endParaRPr b="0" i="0" sz="1100" u="none" cap="none" strike="noStrike">
              <a:solidFill>
                <a:schemeClr val="dk1"/>
              </a:solidFill>
              <a:latin typeface="Calibri"/>
              <a:ea typeface="Calibri"/>
              <a:cs typeface="Calibri"/>
              <a:sym typeface="Calibri"/>
            </a:endParaRPr>
          </a:p>
        </p:txBody>
      </p:sp>
      <p:sp>
        <p:nvSpPr>
          <p:cNvPr id="870" name="Google Shape;870;p15"/>
          <p:cNvSpPr/>
          <p:nvPr/>
        </p:nvSpPr>
        <p:spPr>
          <a:xfrm>
            <a:off x="2377440" y="1691640"/>
            <a:ext cx="2788920" cy="960120"/>
          </a:xfrm>
          <a:prstGeom prst="roundRect">
            <a:avLst>
              <a:gd fmla="val 5714" name="adj"/>
            </a:avLst>
          </a:prstGeom>
          <a:solidFill>
            <a:srgbClr val="FCE4ED"/>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5"/>
          <p:cNvSpPr/>
          <p:nvPr/>
        </p:nvSpPr>
        <p:spPr>
          <a:xfrm>
            <a:off x="2487168" y="1837944"/>
            <a:ext cx="256946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400"/>
              <a:buFont typeface="Calibri"/>
              <a:buNone/>
            </a:pPr>
            <a:r>
              <a:rPr b="1" i="0" lang="en-US" sz="1400" u="none" cap="none" strike="noStrike">
                <a:solidFill>
                  <a:srgbClr val="2D2D2D"/>
                </a:solidFill>
                <a:latin typeface="Calibri"/>
                <a:ea typeface="Calibri"/>
                <a:cs typeface="Calibri"/>
                <a:sym typeface="Calibri"/>
              </a:rPr>
              <a:t>Frontend</a:t>
            </a:r>
            <a:endParaRPr b="0" i="0" sz="1400" u="none" cap="none" strike="noStrike">
              <a:solidFill>
                <a:schemeClr val="dk1"/>
              </a:solidFill>
              <a:latin typeface="Calibri"/>
              <a:ea typeface="Calibri"/>
              <a:cs typeface="Calibri"/>
              <a:sym typeface="Calibri"/>
            </a:endParaRPr>
          </a:p>
        </p:txBody>
      </p:sp>
      <p:sp>
        <p:nvSpPr>
          <p:cNvPr id="872" name="Google Shape;872;p15"/>
          <p:cNvSpPr/>
          <p:nvPr/>
        </p:nvSpPr>
        <p:spPr>
          <a:xfrm>
            <a:off x="2487168" y="2194560"/>
            <a:ext cx="2569464"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Static Site · React (Vite)</a:t>
            </a:r>
            <a:endParaRPr b="0" i="0" sz="1000" u="none" cap="none" strike="noStrike">
              <a:solidFill>
                <a:schemeClr val="dk1"/>
              </a:solidFill>
              <a:latin typeface="Calibri"/>
              <a:ea typeface="Calibri"/>
              <a:cs typeface="Calibri"/>
              <a:sym typeface="Calibri"/>
            </a:endParaRPr>
          </a:p>
        </p:txBody>
      </p:sp>
      <p:sp>
        <p:nvSpPr>
          <p:cNvPr id="873" name="Google Shape;873;p15"/>
          <p:cNvSpPr/>
          <p:nvPr/>
        </p:nvSpPr>
        <p:spPr>
          <a:xfrm>
            <a:off x="2377440" y="2926080"/>
            <a:ext cx="2788920" cy="960120"/>
          </a:xfrm>
          <a:prstGeom prst="roundRect">
            <a:avLst>
              <a:gd fmla="val 5714" name="adj"/>
            </a:avLst>
          </a:prstGeom>
          <a:solidFill>
            <a:srgbClr val="FCE4ED"/>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5"/>
          <p:cNvSpPr/>
          <p:nvPr/>
        </p:nvSpPr>
        <p:spPr>
          <a:xfrm>
            <a:off x="2487168" y="3072384"/>
            <a:ext cx="256946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D2D"/>
              </a:buClr>
              <a:buSzPts val="1400"/>
              <a:buFont typeface="Calibri"/>
              <a:buNone/>
            </a:pPr>
            <a:r>
              <a:rPr b="1" i="0" lang="en-US" sz="1400" u="none" cap="none" strike="noStrike">
                <a:solidFill>
                  <a:srgbClr val="2D2D2D"/>
                </a:solidFill>
                <a:latin typeface="Calibri"/>
                <a:ea typeface="Calibri"/>
                <a:cs typeface="Calibri"/>
                <a:sym typeface="Calibri"/>
              </a:rPr>
              <a:t>Backend</a:t>
            </a:r>
            <a:endParaRPr b="0" i="0" sz="1400" u="none" cap="none" strike="noStrike">
              <a:solidFill>
                <a:schemeClr val="dk1"/>
              </a:solidFill>
              <a:latin typeface="Calibri"/>
              <a:ea typeface="Calibri"/>
              <a:cs typeface="Calibri"/>
              <a:sym typeface="Calibri"/>
            </a:endParaRPr>
          </a:p>
        </p:txBody>
      </p:sp>
      <p:sp>
        <p:nvSpPr>
          <p:cNvPr id="875" name="Google Shape;875;p15"/>
          <p:cNvSpPr/>
          <p:nvPr/>
        </p:nvSpPr>
        <p:spPr>
          <a:xfrm>
            <a:off x="2487168" y="3429000"/>
            <a:ext cx="2569464"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Web Service · Docker (Node/Express)</a:t>
            </a:r>
            <a:endParaRPr b="0" i="0" sz="1000" u="none" cap="none" strike="noStrike">
              <a:solidFill>
                <a:schemeClr val="dk1"/>
              </a:solidFill>
              <a:latin typeface="Calibri"/>
              <a:ea typeface="Calibri"/>
              <a:cs typeface="Calibri"/>
              <a:sym typeface="Calibri"/>
            </a:endParaRPr>
          </a:p>
        </p:txBody>
      </p:sp>
      <p:sp>
        <p:nvSpPr>
          <p:cNvPr id="876" name="Google Shape;876;p15"/>
          <p:cNvSpPr/>
          <p:nvPr/>
        </p:nvSpPr>
        <p:spPr>
          <a:xfrm>
            <a:off x="5897880" y="1691640"/>
            <a:ext cx="2834640" cy="960120"/>
          </a:xfrm>
          <a:prstGeom prst="roundRect">
            <a:avLst>
              <a:gd fmla="val 5714"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5"/>
          <p:cNvSpPr/>
          <p:nvPr/>
        </p:nvSpPr>
        <p:spPr>
          <a:xfrm>
            <a:off x="6007608" y="1837944"/>
            <a:ext cx="261518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1400"/>
              <a:buFont typeface="Calibri"/>
              <a:buNone/>
            </a:pPr>
            <a:r>
              <a:rPr b="1" i="0" lang="en-US" sz="1400" u="none" cap="none" strike="noStrike">
                <a:solidFill>
                  <a:srgbClr val="A01E4A"/>
                </a:solidFill>
                <a:latin typeface="Calibri"/>
                <a:ea typeface="Calibri"/>
                <a:cs typeface="Calibri"/>
                <a:sym typeface="Calibri"/>
              </a:rPr>
              <a:t>MongoDB Atlas</a:t>
            </a:r>
            <a:endParaRPr b="0" i="0" sz="1400" u="none" cap="none" strike="noStrike">
              <a:solidFill>
                <a:schemeClr val="dk1"/>
              </a:solidFill>
              <a:latin typeface="Calibri"/>
              <a:ea typeface="Calibri"/>
              <a:cs typeface="Calibri"/>
              <a:sym typeface="Calibri"/>
            </a:endParaRPr>
          </a:p>
        </p:txBody>
      </p:sp>
      <p:sp>
        <p:nvSpPr>
          <p:cNvPr id="878" name="Google Shape;878;p15"/>
          <p:cNvSpPr/>
          <p:nvPr/>
        </p:nvSpPr>
        <p:spPr>
          <a:xfrm>
            <a:off x="6007608" y="2194560"/>
            <a:ext cx="2615184"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testgen-cluster · vector search</a:t>
            </a:r>
            <a:endParaRPr b="0" i="0" sz="1000" u="none" cap="none" strike="noStrike">
              <a:solidFill>
                <a:schemeClr val="dk1"/>
              </a:solidFill>
              <a:latin typeface="Calibri"/>
              <a:ea typeface="Calibri"/>
              <a:cs typeface="Calibri"/>
              <a:sym typeface="Calibri"/>
            </a:endParaRPr>
          </a:p>
        </p:txBody>
      </p:sp>
      <p:sp>
        <p:nvSpPr>
          <p:cNvPr id="879" name="Google Shape;879;p15"/>
          <p:cNvSpPr/>
          <p:nvPr/>
        </p:nvSpPr>
        <p:spPr>
          <a:xfrm>
            <a:off x="5897880" y="2926080"/>
            <a:ext cx="2834640" cy="960120"/>
          </a:xfrm>
          <a:prstGeom prst="roundRect">
            <a:avLst>
              <a:gd fmla="val 5714"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5"/>
          <p:cNvSpPr/>
          <p:nvPr/>
        </p:nvSpPr>
        <p:spPr>
          <a:xfrm>
            <a:off x="6007608" y="3072384"/>
            <a:ext cx="261518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1400"/>
              <a:buFont typeface="Calibri"/>
              <a:buNone/>
            </a:pPr>
            <a:r>
              <a:rPr b="1" i="0" lang="en-US" sz="1400" u="none" cap="none" strike="noStrike">
                <a:solidFill>
                  <a:srgbClr val="A01E4A"/>
                </a:solidFill>
                <a:latin typeface="Calibri"/>
                <a:ea typeface="Calibri"/>
                <a:cs typeface="Calibri"/>
                <a:sym typeface="Calibri"/>
              </a:rPr>
              <a:t>OpenAI API</a:t>
            </a:r>
            <a:endParaRPr b="0" i="0" sz="1400" u="none" cap="none" strike="noStrike">
              <a:solidFill>
                <a:schemeClr val="dk1"/>
              </a:solidFill>
              <a:latin typeface="Calibri"/>
              <a:ea typeface="Calibri"/>
              <a:cs typeface="Calibri"/>
              <a:sym typeface="Calibri"/>
            </a:endParaRPr>
          </a:p>
        </p:txBody>
      </p:sp>
      <p:sp>
        <p:nvSpPr>
          <p:cNvPr id="881" name="Google Shape;881;p15"/>
          <p:cNvSpPr/>
          <p:nvPr/>
        </p:nvSpPr>
        <p:spPr>
          <a:xfrm>
            <a:off x="6007608" y="3429000"/>
            <a:ext cx="2615184"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66666"/>
              </a:buClr>
              <a:buSzPts val="1000"/>
              <a:buFont typeface="Calibri"/>
              <a:buNone/>
            </a:pPr>
            <a:r>
              <a:rPr b="0" i="0" lang="en-US" sz="1000" u="none" cap="none" strike="noStrike">
                <a:solidFill>
                  <a:srgbClr val="666666"/>
                </a:solidFill>
                <a:latin typeface="Calibri"/>
                <a:ea typeface="Calibri"/>
                <a:cs typeface="Calibri"/>
                <a:sym typeface="Calibri"/>
              </a:rPr>
              <a:t>AI test-case generation</a:t>
            </a:r>
            <a:endParaRPr b="0" i="0" sz="1000" u="none" cap="none" strike="noStrike">
              <a:solidFill>
                <a:schemeClr val="dk1"/>
              </a:solidFill>
              <a:latin typeface="Calibri"/>
              <a:ea typeface="Calibri"/>
              <a:cs typeface="Calibri"/>
              <a:sym typeface="Calibri"/>
            </a:endParaRPr>
          </a:p>
        </p:txBody>
      </p:sp>
      <p:cxnSp>
        <p:nvCxnSpPr>
          <p:cNvPr id="882" name="Google Shape;882;p15"/>
          <p:cNvCxnSpPr/>
          <p:nvPr/>
        </p:nvCxnSpPr>
        <p:spPr>
          <a:xfrm>
            <a:off x="1874520" y="2354580"/>
            <a:ext cx="274320" cy="0"/>
          </a:xfrm>
          <a:prstGeom prst="straightConnector1">
            <a:avLst/>
          </a:prstGeom>
          <a:noFill/>
          <a:ln cap="flat" cmpd="sng" w="22225">
            <a:solidFill>
              <a:srgbClr val="999999"/>
            </a:solidFill>
            <a:prstDash val="solid"/>
            <a:round/>
            <a:headEnd len="sm" w="sm" type="none"/>
            <a:tailEnd len="med" w="med" type="triangle"/>
          </a:ln>
        </p:spPr>
      </p:cxnSp>
      <p:sp>
        <p:nvSpPr>
          <p:cNvPr id="883" name="Google Shape;883;p15"/>
          <p:cNvSpPr/>
          <p:nvPr/>
        </p:nvSpPr>
        <p:spPr>
          <a:xfrm>
            <a:off x="1645920" y="2061972"/>
            <a:ext cx="7315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900"/>
              <a:buFont typeface="Calibri"/>
              <a:buNone/>
            </a:pPr>
            <a:r>
              <a:rPr b="1" i="0" lang="en-US" sz="900" u="none" cap="none" strike="noStrike">
                <a:solidFill>
                  <a:srgbClr val="A01E4A"/>
                </a:solidFill>
                <a:latin typeface="Calibri"/>
                <a:ea typeface="Calibri"/>
                <a:cs typeface="Calibri"/>
                <a:sym typeface="Calibri"/>
              </a:rPr>
              <a:t>push</a:t>
            </a:r>
            <a:endParaRPr b="0" i="0" sz="900" u="none" cap="none" strike="noStrike">
              <a:solidFill>
                <a:schemeClr val="dk1"/>
              </a:solidFill>
              <a:latin typeface="Calibri"/>
              <a:ea typeface="Calibri"/>
              <a:cs typeface="Calibri"/>
              <a:sym typeface="Calibri"/>
            </a:endParaRPr>
          </a:p>
        </p:txBody>
      </p:sp>
      <p:cxnSp>
        <p:nvCxnSpPr>
          <p:cNvPr id="884" name="Google Shape;884;p15"/>
          <p:cNvCxnSpPr/>
          <p:nvPr/>
        </p:nvCxnSpPr>
        <p:spPr>
          <a:xfrm>
            <a:off x="3767328" y="2651760"/>
            <a:ext cx="0" cy="274320"/>
          </a:xfrm>
          <a:prstGeom prst="straightConnector1">
            <a:avLst/>
          </a:prstGeom>
          <a:noFill/>
          <a:ln cap="flat" cmpd="sng" w="22225">
            <a:solidFill>
              <a:srgbClr val="999999"/>
            </a:solidFill>
            <a:prstDash val="solid"/>
            <a:round/>
            <a:headEnd len="sm" w="sm" type="none"/>
            <a:tailEnd len="med" w="med" type="triangle"/>
          </a:ln>
        </p:spPr>
      </p:cxnSp>
      <p:sp>
        <p:nvSpPr>
          <p:cNvPr id="885" name="Google Shape;885;p15"/>
          <p:cNvSpPr/>
          <p:nvPr/>
        </p:nvSpPr>
        <p:spPr>
          <a:xfrm>
            <a:off x="3401568" y="2496312"/>
            <a:ext cx="7315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1E4A"/>
              </a:buClr>
              <a:buSzPts val="900"/>
              <a:buFont typeface="Calibri"/>
              <a:buNone/>
            </a:pPr>
            <a:r>
              <a:rPr b="1" i="0" lang="en-US" sz="900" u="none" cap="none" strike="noStrike">
                <a:solidFill>
                  <a:srgbClr val="A01E4A"/>
                </a:solidFill>
                <a:latin typeface="Calibri"/>
                <a:ea typeface="Calibri"/>
                <a:cs typeface="Calibri"/>
                <a:sym typeface="Calibri"/>
              </a:rPr>
              <a:t>API</a:t>
            </a:r>
            <a:endParaRPr b="0" i="0" sz="900" u="none" cap="none" strike="noStrike">
              <a:solidFill>
                <a:schemeClr val="dk1"/>
              </a:solidFill>
              <a:latin typeface="Calibri"/>
              <a:ea typeface="Calibri"/>
              <a:cs typeface="Calibri"/>
              <a:sym typeface="Calibri"/>
            </a:endParaRPr>
          </a:p>
        </p:txBody>
      </p:sp>
      <p:cxnSp>
        <p:nvCxnSpPr>
          <p:cNvPr id="886" name="Google Shape;886;p15"/>
          <p:cNvCxnSpPr/>
          <p:nvPr/>
        </p:nvCxnSpPr>
        <p:spPr>
          <a:xfrm flipH="1" rot="10800000">
            <a:off x="5166360" y="2240280"/>
            <a:ext cx="731520" cy="1005840"/>
          </a:xfrm>
          <a:prstGeom prst="straightConnector1">
            <a:avLst/>
          </a:prstGeom>
          <a:noFill/>
          <a:ln cap="flat" cmpd="sng" w="22225">
            <a:solidFill>
              <a:srgbClr val="999999"/>
            </a:solidFill>
            <a:prstDash val="solid"/>
            <a:round/>
            <a:headEnd len="sm" w="sm" type="none"/>
            <a:tailEnd len="med" w="med" type="triangle"/>
          </a:ln>
        </p:spPr>
      </p:cxnSp>
      <p:cxnSp>
        <p:nvCxnSpPr>
          <p:cNvPr id="887" name="Google Shape;887;p15"/>
          <p:cNvCxnSpPr/>
          <p:nvPr/>
        </p:nvCxnSpPr>
        <p:spPr>
          <a:xfrm>
            <a:off x="5166360" y="3401568"/>
            <a:ext cx="731520" cy="0"/>
          </a:xfrm>
          <a:prstGeom prst="straightConnector1">
            <a:avLst/>
          </a:prstGeom>
          <a:noFill/>
          <a:ln cap="flat" cmpd="sng" w="22225">
            <a:solidFill>
              <a:srgbClr val="999999"/>
            </a:solidFill>
            <a:prstDash val="solid"/>
            <a:round/>
            <a:headEnd len="sm" w="sm" type="none"/>
            <a:tailEnd len="med" w="med" type="triangle"/>
          </a:ln>
        </p:spPr>
      </p:cxnSp>
      <p:sp>
        <p:nvSpPr>
          <p:cNvPr id="888" name="Google Shape;888;p15"/>
          <p:cNvSpPr/>
          <p:nvPr/>
        </p:nvSpPr>
        <p:spPr>
          <a:xfrm>
            <a:off x="457200" y="4224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Calibri"/>
              <a:buNone/>
            </a:pPr>
            <a:r>
              <a:rPr b="0" i="0" lang="en-US" sz="1100" u="none" cap="none" strike="noStrike">
                <a:solidFill>
                  <a:srgbClr val="2D2D2D"/>
                </a:solidFill>
                <a:latin typeface="Calibri"/>
                <a:ea typeface="Calibri"/>
                <a:cs typeface="Calibri"/>
                <a:sym typeface="Calibri"/>
              </a:rPr>
              <a:t>Deployed from branch </a:t>
            </a:r>
            <a:r>
              <a:rPr b="1" lang="en-US" sz="1100">
                <a:solidFill>
                  <a:srgbClr val="A01E4A"/>
                </a:solidFill>
                <a:latin typeface="Courier New"/>
                <a:ea typeface="Courier New"/>
                <a:cs typeface="Courier New"/>
                <a:sym typeface="Courier New"/>
              </a:rPr>
              <a:t>main</a:t>
            </a:r>
            <a:r>
              <a:rPr b="0" i="0" lang="en-US" sz="1100" u="none" cap="none" strike="noStrike">
                <a:solidFill>
                  <a:srgbClr val="2D2D2D"/>
                </a:solidFill>
                <a:latin typeface="Calibri"/>
                <a:ea typeface="Calibri"/>
                <a:cs typeface="Calibri"/>
                <a:sym typeface="Calibri"/>
              </a:rPr>
              <a:t>  ·   Render auto-deploys on each push to that branch.</a:t>
            </a:r>
            <a:endParaRPr b="0" i="0" sz="1100" u="none" cap="none" strike="noStrike">
              <a:solidFill>
                <a:schemeClr val="dk1"/>
              </a:solidFill>
              <a:latin typeface="Calibri"/>
              <a:ea typeface="Calibri"/>
              <a:cs typeface="Calibri"/>
              <a:sym typeface="Calibri"/>
            </a:endParaRPr>
          </a:p>
        </p:txBody>
      </p:sp>
      <p:sp>
        <p:nvSpPr>
          <p:cNvPr id="889" name="Google Shape;889;p15"/>
          <p:cNvSpPr/>
          <p:nvPr/>
        </p:nvSpPr>
        <p:spPr>
          <a:xfrm>
            <a:off x="457200" y="449884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050"/>
              <a:buFont typeface="Calibri"/>
              <a:buNone/>
            </a:pPr>
            <a:r>
              <a:rPr b="0" i="0" lang="en-US" sz="1050" u="none" cap="none" strike="noStrike">
                <a:solidFill>
                  <a:srgbClr val="666666"/>
                </a:solidFill>
                <a:latin typeface="Calibri"/>
                <a:ea typeface="Calibri"/>
                <a:cs typeface="Calibri"/>
                <a:sym typeface="Calibri"/>
              </a:rPr>
              <a:t>Frontend  </a:t>
            </a:r>
            <a:r>
              <a:rPr b="1" i="0" lang="en-US" sz="1050" u="none" cap="none" strike="noStrike">
                <a:solidFill>
                  <a:srgbClr val="D12B63"/>
                </a:solidFill>
                <a:latin typeface="Calibri"/>
                <a:ea typeface="Calibri"/>
                <a:cs typeface="Calibri"/>
                <a:sym typeface="Calibri"/>
              </a:rPr>
              <a:t>speccheck-frontend.onrender.com</a:t>
            </a:r>
            <a:r>
              <a:rPr b="0" i="0" lang="en-US" sz="1050" u="none" cap="none" strike="noStrike">
                <a:solidFill>
                  <a:srgbClr val="666666"/>
                </a:solidFill>
                <a:latin typeface="Calibri"/>
                <a:ea typeface="Calibri"/>
                <a:cs typeface="Calibri"/>
                <a:sym typeface="Calibri"/>
              </a:rPr>
              <a:t>      Backend  </a:t>
            </a:r>
            <a:r>
              <a:rPr b="1" i="0" lang="en-US" sz="1050" u="none" cap="none" strike="noStrike">
                <a:solidFill>
                  <a:srgbClr val="D12B63"/>
                </a:solidFill>
                <a:latin typeface="Calibri"/>
                <a:ea typeface="Calibri"/>
                <a:cs typeface="Calibri"/>
                <a:sym typeface="Calibri"/>
              </a:rPr>
              <a:t>speccheck-backend.onrender.com</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4" name="Shape 894"/>
        <p:cNvGrpSpPr/>
        <p:nvPr/>
      </p:nvGrpSpPr>
      <p:grpSpPr>
        <a:xfrm>
          <a:off x="0" y="0"/>
          <a:ext cx="0" cy="0"/>
          <a:chOff x="0" y="0"/>
          <a:chExt cx="0" cy="0"/>
        </a:xfrm>
      </p:grpSpPr>
      <p:pic>
        <p:nvPicPr>
          <p:cNvPr descr="/tmp/band.png" id="895" name="Google Shape;895;p16"/>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896" name="Google Shape;896;p16"/>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DEPLOYMENT</a:t>
            </a:r>
            <a:endParaRPr b="0" i="0" sz="1000" u="none" cap="none" strike="noStrike">
              <a:solidFill>
                <a:schemeClr val="dk1"/>
              </a:solidFill>
              <a:latin typeface="Calibri"/>
              <a:ea typeface="Calibri"/>
              <a:cs typeface="Calibri"/>
              <a:sym typeface="Calibri"/>
            </a:endParaRPr>
          </a:p>
        </p:txBody>
      </p:sp>
      <p:sp>
        <p:nvSpPr>
          <p:cNvPr id="897" name="Google Shape;897;p16"/>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Render Service Configuration</a:t>
            </a:r>
            <a:endParaRPr b="0" i="0" sz="2500" u="none" cap="none" strike="noStrike">
              <a:solidFill>
                <a:schemeClr val="dk1"/>
              </a:solidFill>
              <a:latin typeface="Calibri"/>
              <a:ea typeface="Calibri"/>
              <a:cs typeface="Calibri"/>
              <a:sym typeface="Calibri"/>
            </a:endParaRPr>
          </a:p>
        </p:txBody>
      </p:sp>
      <p:sp>
        <p:nvSpPr>
          <p:cNvPr id="898" name="Google Shape;898;p16"/>
          <p:cNvSpPr/>
          <p:nvPr/>
        </p:nvSpPr>
        <p:spPr>
          <a:xfrm>
            <a:off x="457200" y="1097280"/>
            <a:ext cx="4023360" cy="3154680"/>
          </a:xfrm>
          <a:prstGeom prst="roundRect">
            <a:avLst>
              <a:gd fmla="val 1739"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6"/>
          <p:cNvSpPr/>
          <p:nvPr/>
        </p:nvSpPr>
        <p:spPr>
          <a:xfrm>
            <a:off x="685800" y="1261872"/>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2B63"/>
              </a:buClr>
              <a:buSzPts val="1500"/>
              <a:buFont typeface="Calibri"/>
              <a:buNone/>
            </a:pPr>
            <a:r>
              <a:rPr b="1" i="0" lang="en-US" sz="1500" u="none" cap="none" strike="noStrike">
                <a:solidFill>
                  <a:srgbClr val="D12B63"/>
                </a:solidFill>
                <a:latin typeface="Calibri"/>
                <a:ea typeface="Calibri"/>
                <a:cs typeface="Calibri"/>
                <a:sym typeface="Calibri"/>
              </a:rPr>
              <a:t>Backend — Web Service</a:t>
            </a:r>
            <a:endParaRPr b="0" i="0" sz="1500" u="none" cap="none" strike="noStrike">
              <a:solidFill>
                <a:schemeClr val="dk1"/>
              </a:solidFill>
              <a:latin typeface="Calibri"/>
              <a:ea typeface="Calibri"/>
              <a:cs typeface="Calibri"/>
              <a:sym typeface="Calibri"/>
            </a:endParaRPr>
          </a:p>
        </p:txBody>
      </p:sp>
      <p:sp>
        <p:nvSpPr>
          <p:cNvPr id="900" name="Google Shape;900;p16"/>
          <p:cNvSpPr/>
          <p:nvPr/>
        </p:nvSpPr>
        <p:spPr>
          <a:xfrm>
            <a:off x="685800" y="1572768"/>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50"/>
              <a:buFont typeface="Courier New"/>
              <a:buNone/>
            </a:pPr>
            <a:r>
              <a:rPr b="0" i="0" lang="en-US" sz="950" u="none" cap="none" strike="noStrike">
                <a:solidFill>
                  <a:srgbClr val="666666"/>
                </a:solidFill>
                <a:latin typeface="Courier New"/>
                <a:ea typeface="Courier New"/>
                <a:cs typeface="Courier New"/>
                <a:sym typeface="Courier New"/>
              </a:rPr>
              <a:t>speccheck-backend.onrender.com</a:t>
            </a:r>
            <a:endParaRPr b="0" i="0" sz="950" u="none" cap="none" strike="noStrike">
              <a:solidFill>
                <a:schemeClr val="dk1"/>
              </a:solidFill>
              <a:latin typeface="Calibri"/>
              <a:ea typeface="Calibri"/>
              <a:cs typeface="Calibri"/>
              <a:sym typeface="Calibri"/>
            </a:endParaRPr>
          </a:p>
        </p:txBody>
      </p:sp>
      <p:sp>
        <p:nvSpPr>
          <p:cNvPr id="901" name="Google Shape;901;p16"/>
          <p:cNvSpPr/>
          <p:nvPr/>
        </p:nvSpPr>
        <p:spPr>
          <a:xfrm>
            <a:off x="685800" y="1993392"/>
            <a:ext cx="105156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2B63"/>
              </a:buClr>
              <a:buSzPts val="950"/>
              <a:buFont typeface="Calibri"/>
              <a:buNone/>
            </a:pPr>
            <a:r>
              <a:rPr b="1" i="0" lang="en-US" sz="950" u="none" cap="none" strike="noStrike">
                <a:solidFill>
                  <a:srgbClr val="D12B63"/>
                </a:solidFill>
                <a:latin typeface="Calibri"/>
                <a:ea typeface="Calibri"/>
                <a:cs typeface="Calibri"/>
                <a:sym typeface="Calibri"/>
              </a:rPr>
              <a:t>Type</a:t>
            </a:r>
            <a:endParaRPr b="0" i="0" sz="950" u="none" cap="none" strike="noStrike">
              <a:solidFill>
                <a:schemeClr val="dk1"/>
              </a:solidFill>
              <a:latin typeface="Calibri"/>
              <a:ea typeface="Calibri"/>
              <a:cs typeface="Calibri"/>
              <a:sym typeface="Calibri"/>
            </a:endParaRPr>
          </a:p>
        </p:txBody>
      </p:sp>
      <p:sp>
        <p:nvSpPr>
          <p:cNvPr id="902" name="Google Shape;902;p16"/>
          <p:cNvSpPr/>
          <p:nvPr/>
        </p:nvSpPr>
        <p:spPr>
          <a:xfrm>
            <a:off x="1755648" y="1993392"/>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Docker (Dockerfile)</a:t>
            </a:r>
            <a:endParaRPr b="0" i="0" sz="950" u="none" cap="none" strike="noStrike">
              <a:solidFill>
                <a:schemeClr val="dk1"/>
              </a:solidFill>
              <a:latin typeface="Calibri"/>
              <a:ea typeface="Calibri"/>
              <a:cs typeface="Calibri"/>
              <a:sym typeface="Calibri"/>
            </a:endParaRPr>
          </a:p>
        </p:txBody>
      </p:sp>
      <p:sp>
        <p:nvSpPr>
          <p:cNvPr id="903" name="Google Shape;903;p16"/>
          <p:cNvSpPr/>
          <p:nvPr/>
        </p:nvSpPr>
        <p:spPr>
          <a:xfrm>
            <a:off x="685800" y="2322576"/>
            <a:ext cx="105156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2B63"/>
              </a:buClr>
              <a:buSzPts val="950"/>
              <a:buFont typeface="Calibri"/>
              <a:buNone/>
            </a:pPr>
            <a:r>
              <a:rPr b="1" i="0" lang="en-US" sz="950" u="none" cap="none" strike="noStrike">
                <a:solidFill>
                  <a:srgbClr val="D12B63"/>
                </a:solidFill>
                <a:latin typeface="Calibri"/>
                <a:ea typeface="Calibri"/>
                <a:cs typeface="Calibri"/>
                <a:sym typeface="Calibri"/>
              </a:rPr>
              <a:t>Root</a:t>
            </a:r>
            <a:endParaRPr b="0" i="0" sz="950" u="none" cap="none" strike="noStrike">
              <a:solidFill>
                <a:schemeClr val="dk1"/>
              </a:solidFill>
              <a:latin typeface="Calibri"/>
              <a:ea typeface="Calibri"/>
              <a:cs typeface="Calibri"/>
              <a:sym typeface="Calibri"/>
            </a:endParaRPr>
          </a:p>
        </p:txBody>
      </p:sp>
      <p:sp>
        <p:nvSpPr>
          <p:cNvPr id="904" name="Google Shape;904;p16"/>
          <p:cNvSpPr/>
          <p:nvPr/>
        </p:nvSpPr>
        <p:spPr>
          <a:xfrm>
            <a:off x="1755648" y="2322576"/>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test-case-generator/backend</a:t>
            </a:r>
            <a:endParaRPr b="0" i="0" sz="950" u="none" cap="none" strike="noStrike">
              <a:solidFill>
                <a:schemeClr val="dk1"/>
              </a:solidFill>
              <a:latin typeface="Calibri"/>
              <a:ea typeface="Calibri"/>
              <a:cs typeface="Calibri"/>
              <a:sym typeface="Calibri"/>
            </a:endParaRPr>
          </a:p>
        </p:txBody>
      </p:sp>
      <p:sp>
        <p:nvSpPr>
          <p:cNvPr id="905" name="Google Shape;905;p16"/>
          <p:cNvSpPr/>
          <p:nvPr/>
        </p:nvSpPr>
        <p:spPr>
          <a:xfrm>
            <a:off x="685800" y="2651760"/>
            <a:ext cx="105156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2B63"/>
              </a:buClr>
              <a:buSzPts val="950"/>
              <a:buFont typeface="Calibri"/>
              <a:buNone/>
            </a:pPr>
            <a:r>
              <a:rPr b="1" i="0" lang="en-US" sz="950" u="none" cap="none" strike="noStrike">
                <a:solidFill>
                  <a:srgbClr val="D12B63"/>
                </a:solidFill>
                <a:latin typeface="Calibri"/>
                <a:ea typeface="Calibri"/>
                <a:cs typeface="Calibri"/>
                <a:sym typeface="Calibri"/>
              </a:rPr>
              <a:t>Instance</a:t>
            </a:r>
            <a:endParaRPr b="0" i="0" sz="950" u="none" cap="none" strike="noStrike">
              <a:solidFill>
                <a:schemeClr val="dk1"/>
              </a:solidFill>
              <a:latin typeface="Calibri"/>
              <a:ea typeface="Calibri"/>
              <a:cs typeface="Calibri"/>
              <a:sym typeface="Calibri"/>
            </a:endParaRPr>
          </a:p>
        </p:txBody>
      </p:sp>
      <p:sp>
        <p:nvSpPr>
          <p:cNvPr id="906" name="Google Shape;906;p16"/>
          <p:cNvSpPr/>
          <p:nvPr/>
        </p:nvSpPr>
        <p:spPr>
          <a:xfrm>
            <a:off x="1755648" y="2651760"/>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Free</a:t>
            </a:r>
            <a:endParaRPr b="0" i="0" sz="950" u="none" cap="none" strike="noStrike">
              <a:solidFill>
                <a:schemeClr val="dk1"/>
              </a:solidFill>
              <a:latin typeface="Calibri"/>
              <a:ea typeface="Calibri"/>
              <a:cs typeface="Calibri"/>
              <a:sym typeface="Calibri"/>
            </a:endParaRPr>
          </a:p>
        </p:txBody>
      </p:sp>
      <p:sp>
        <p:nvSpPr>
          <p:cNvPr id="907" name="Google Shape;907;p16"/>
          <p:cNvSpPr/>
          <p:nvPr/>
        </p:nvSpPr>
        <p:spPr>
          <a:xfrm>
            <a:off x="685800" y="2980944"/>
            <a:ext cx="105156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2B63"/>
              </a:buClr>
              <a:buSzPts val="950"/>
              <a:buFont typeface="Calibri"/>
              <a:buNone/>
            </a:pPr>
            <a:r>
              <a:rPr b="1" i="0" lang="en-US" sz="950" u="none" cap="none" strike="noStrike">
                <a:solidFill>
                  <a:srgbClr val="D12B63"/>
                </a:solidFill>
                <a:latin typeface="Calibri"/>
                <a:ea typeface="Calibri"/>
                <a:cs typeface="Calibri"/>
                <a:sym typeface="Calibri"/>
              </a:rPr>
              <a:t>Env vars</a:t>
            </a:r>
            <a:endParaRPr b="0" i="0" sz="950" u="none" cap="none" strike="noStrike">
              <a:solidFill>
                <a:schemeClr val="dk1"/>
              </a:solidFill>
              <a:latin typeface="Calibri"/>
              <a:ea typeface="Calibri"/>
              <a:cs typeface="Calibri"/>
              <a:sym typeface="Calibri"/>
            </a:endParaRPr>
          </a:p>
        </p:txBody>
      </p:sp>
      <p:sp>
        <p:nvSpPr>
          <p:cNvPr id="908" name="Google Shape;908;p16"/>
          <p:cNvSpPr/>
          <p:nvPr/>
        </p:nvSpPr>
        <p:spPr>
          <a:xfrm>
            <a:off x="1755648" y="2980944"/>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PORT = 5001</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MONGODB_URI</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OPENAI_API_KEY</a:t>
            </a:r>
            <a:endParaRPr b="0" i="0" sz="950" u="none" cap="none" strike="noStrike">
              <a:solidFill>
                <a:schemeClr val="dk1"/>
              </a:solidFill>
              <a:latin typeface="Calibri"/>
              <a:ea typeface="Calibri"/>
              <a:cs typeface="Calibri"/>
              <a:sym typeface="Calibri"/>
            </a:endParaRPr>
          </a:p>
        </p:txBody>
      </p:sp>
      <p:sp>
        <p:nvSpPr>
          <p:cNvPr id="909" name="Google Shape;909;p16"/>
          <p:cNvSpPr/>
          <p:nvPr/>
        </p:nvSpPr>
        <p:spPr>
          <a:xfrm>
            <a:off x="4709160" y="1097280"/>
            <a:ext cx="4023360" cy="3154680"/>
          </a:xfrm>
          <a:prstGeom prst="roundRect">
            <a:avLst>
              <a:gd fmla="val 1739" name="adj"/>
            </a:avLst>
          </a:prstGeom>
          <a:solidFill>
            <a:srgbClr val="FFFFFF"/>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6"/>
          <p:cNvSpPr/>
          <p:nvPr/>
        </p:nvSpPr>
        <p:spPr>
          <a:xfrm>
            <a:off x="4937760" y="1261872"/>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1E4A"/>
              </a:buClr>
              <a:buSzPts val="1500"/>
              <a:buFont typeface="Calibri"/>
              <a:buNone/>
            </a:pPr>
            <a:r>
              <a:rPr b="1" i="0" lang="en-US" sz="1500" u="none" cap="none" strike="noStrike">
                <a:solidFill>
                  <a:srgbClr val="A01E4A"/>
                </a:solidFill>
                <a:latin typeface="Calibri"/>
                <a:ea typeface="Calibri"/>
                <a:cs typeface="Calibri"/>
                <a:sym typeface="Calibri"/>
              </a:rPr>
              <a:t>Frontend — Static Site</a:t>
            </a:r>
            <a:endParaRPr b="0" i="0" sz="1500" u="none" cap="none" strike="noStrike">
              <a:solidFill>
                <a:schemeClr val="dk1"/>
              </a:solidFill>
              <a:latin typeface="Calibri"/>
              <a:ea typeface="Calibri"/>
              <a:cs typeface="Calibri"/>
              <a:sym typeface="Calibri"/>
            </a:endParaRPr>
          </a:p>
        </p:txBody>
      </p:sp>
      <p:sp>
        <p:nvSpPr>
          <p:cNvPr id="911" name="Google Shape;911;p16"/>
          <p:cNvSpPr/>
          <p:nvPr/>
        </p:nvSpPr>
        <p:spPr>
          <a:xfrm>
            <a:off x="4937760" y="1572768"/>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50"/>
              <a:buFont typeface="Courier New"/>
              <a:buNone/>
            </a:pPr>
            <a:r>
              <a:rPr b="0" i="0" lang="en-US" sz="950" u="none" cap="none" strike="noStrike">
                <a:solidFill>
                  <a:srgbClr val="666666"/>
                </a:solidFill>
                <a:latin typeface="Courier New"/>
                <a:ea typeface="Courier New"/>
                <a:cs typeface="Courier New"/>
                <a:sym typeface="Courier New"/>
              </a:rPr>
              <a:t>speccheck-frontend.onrender.com</a:t>
            </a:r>
            <a:endParaRPr b="0" i="0" sz="950" u="none" cap="none" strike="noStrike">
              <a:solidFill>
                <a:schemeClr val="dk1"/>
              </a:solidFill>
              <a:latin typeface="Calibri"/>
              <a:ea typeface="Calibri"/>
              <a:cs typeface="Calibri"/>
              <a:sym typeface="Calibri"/>
            </a:endParaRPr>
          </a:p>
        </p:txBody>
      </p:sp>
      <p:sp>
        <p:nvSpPr>
          <p:cNvPr id="912" name="Google Shape;912;p16"/>
          <p:cNvSpPr/>
          <p:nvPr/>
        </p:nvSpPr>
        <p:spPr>
          <a:xfrm>
            <a:off x="4937760" y="1993392"/>
            <a:ext cx="105156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1E4A"/>
              </a:buClr>
              <a:buSzPts val="950"/>
              <a:buFont typeface="Calibri"/>
              <a:buNone/>
            </a:pPr>
            <a:r>
              <a:rPr b="1" i="0" lang="en-US" sz="950" u="none" cap="none" strike="noStrike">
                <a:solidFill>
                  <a:srgbClr val="A01E4A"/>
                </a:solidFill>
                <a:latin typeface="Calibri"/>
                <a:ea typeface="Calibri"/>
                <a:cs typeface="Calibri"/>
                <a:sym typeface="Calibri"/>
              </a:rPr>
              <a:t>Type</a:t>
            </a:r>
            <a:endParaRPr b="0" i="0" sz="950" u="none" cap="none" strike="noStrike">
              <a:solidFill>
                <a:schemeClr val="dk1"/>
              </a:solidFill>
              <a:latin typeface="Calibri"/>
              <a:ea typeface="Calibri"/>
              <a:cs typeface="Calibri"/>
              <a:sym typeface="Calibri"/>
            </a:endParaRPr>
          </a:p>
        </p:txBody>
      </p:sp>
      <p:sp>
        <p:nvSpPr>
          <p:cNvPr id="913" name="Google Shape;913;p16"/>
          <p:cNvSpPr/>
          <p:nvPr/>
        </p:nvSpPr>
        <p:spPr>
          <a:xfrm>
            <a:off x="6007608" y="1993392"/>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Static Site</a:t>
            </a:r>
            <a:endParaRPr b="0" i="0" sz="950" u="none" cap="none" strike="noStrike">
              <a:solidFill>
                <a:schemeClr val="dk1"/>
              </a:solidFill>
              <a:latin typeface="Calibri"/>
              <a:ea typeface="Calibri"/>
              <a:cs typeface="Calibri"/>
              <a:sym typeface="Calibri"/>
            </a:endParaRPr>
          </a:p>
        </p:txBody>
      </p:sp>
      <p:sp>
        <p:nvSpPr>
          <p:cNvPr id="914" name="Google Shape;914;p16"/>
          <p:cNvSpPr/>
          <p:nvPr/>
        </p:nvSpPr>
        <p:spPr>
          <a:xfrm>
            <a:off x="4937760" y="2322576"/>
            <a:ext cx="105156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1E4A"/>
              </a:buClr>
              <a:buSzPts val="950"/>
              <a:buFont typeface="Calibri"/>
              <a:buNone/>
            </a:pPr>
            <a:r>
              <a:rPr b="1" i="0" lang="en-US" sz="950" u="none" cap="none" strike="noStrike">
                <a:solidFill>
                  <a:srgbClr val="A01E4A"/>
                </a:solidFill>
                <a:latin typeface="Calibri"/>
                <a:ea typeface="Calibri"/>
                <a:cs typeface="Calibri"/>
                <a:sym typeface="Calibri"/>
              </a:rPr>
              <a:t>Root</a:t>
            </a:r>
            <a:endParaRPr b="0" i="0" sz="950" u="none" cap="none" strike="noStrike">
              <a:solidFill>
                <a:schemeClr val="dk1"/>
              </a:solidFill>
              <a:latin typeface="Calibri"/>
              <a:ea typeface="Calibri"/>
              <a:cs typeface="Calibri"/>
              <a:sym typeface="Calibri"/>
            </a:endParaRPr>
          </a:p>
        </p:txBody>
      </p:sp>
      <p:sp>
        <p:nvSpPr>
          <p:cNvPr id="915" name="Google Shape;915;p16"/>
          <p:cNvSpPr/>
          <p:nvPr/>
        </p:nvSpPr>
        <p:spPr>
          <a:xfrm>
            <a:off x="6007608" y="2322576"/>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test-case-generator/frontend</a:t>
            </a:r>
            <a:endParaRPr b="0" i="0" sz="950" u="none" cap="none" strike="noStrike">
              <a:solidFill>
                <a:schemeClr val="dk1"/>
              </a:solidFill>
              <a:latin typeface="Calibri"/>
              <a:ea typeface="Calibri"/>
              <a:cs typeface="Calibri"/>
              <a:sym typeface="Calibri"/>
            </a:endParaRPr>
          </a:p>
        </p:txBody>
      </p:sp>
      <p:sp>
        <p:nvSpPr>
          <p:cNvPr id="916" name="Google Shape;916;p16"/>
          <p:cNvSpPr/>
          <p:nvPr/>
        </p:nvSpPr>
        <p:spPr>
          <a:xfrm>
            <a:off x="4937760" y="2651760"/>
            <a:ext cx="105156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1E4A"/>
              </a:buClr>
              <a:buSzPts val="950"/>
              <a:buFont typeface="Calibri"/>
              <a:buNone/>
            </a:pPr>
            <a:r>
              <a:rPr b="1" i="0" lang="en-US" sz="950" u="none" cap="none" strike="noStrike">
                <a:solidFill>
                  <a:srgbClr val="A01E4A"/>
                </a:solidFill>
                <a:latin typeface="Calibri"/>
                <a:ea typeface="Calibri"/>
                <a:cs typeface="Calibri"/>
                <a:sym typeface="Calibri"/>
              </a:rPr>
              <a:t>Build</a:t>
            </a:r>
            <a:endParaRPr b="0" i="0" sz="950" u="none" cap="none" strike="noStrike">
              <a:solidFill>
                <a:schemeClr val="dk1"/>
              </a:solidFill>
              <a:latin typeface="Calibri"/>
              <a:ea typeface="Calibri"/>
              <a:cs typeface="Calibri"/>
              <a:sym typeface="Calibri"/>
            </a:endParaRPr>
          </a:p>
        </p:txBody>
      </p:sp>
      <p:sp>
        <p:nvSpPr>
          <p:cNvPr id="917" name="Google Shape;917;p16"/>
          <p:cNvSpPr/>
          <p:nvPr/>
        </p:nvSpPr>
        <p:spPr>
          <a:xfrm>
            <a:off x="6007608" y="2651760"/>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npm install &amp;&amp; npm run build</a:t>
            </a:r>
            <a:endParaRPr b="0" i="0" sz="950" u="none" cap="none" strike="noStrike">
              <a:solidFill>
                <a:schemeClr val="dk1"/>
              </a:solidFill>
              <a:latin typeface="Calibri"/>
              <a:ea typeface="Calibri"/>
              <a:cs typeface="Calibri"/>
              <a:sym typeface="Calibri"/>
            </a:endParaRPr>
          </a:p>
        </p:txBody>
      </p:sp>
      <p:sp>
        <p:nvSpPr>
          <p:cNvPr id="918" name="Google Shape;918;p16"/>
          <p:cNvSpPr/>
          <p:nvPr/>
        </p:nvSpPr>
        <p:spPr>
          <a:xfrm>
            <a:off x="4937760" y="2980944"/>
            <a:ext cx="105156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1E4A"/>
              </a:buClr>
              <a:buSzPts val="950"/>
              <a:buFont typeface="Calibri"/>
              <a:buNone/>
            </a:pPr>
            <a:r>
              <a:rPr b="1" i="0" lang="en-US" sz="950" u="none" cap="none" strike="noStrike">
                <a:solidFill>
                  <a:srgbClr val="A01E4A"/>
                </a:solidFill>
                <a:latin typeface="Calibri"/>
                <a:ea typeface="Calibri"/>
                <a:cs typeface="Calibri"/>
                <a:sym typeface="Calibri"/>
              </a:rPr>
              <a:t>Publish</a:t>
            </a:r>
            <a:endParaRPr b="0" i="0" sz="950" u="none" cap="none" strike="noStrike">
              <a:solidFill>
                <a:schemeClr val="dk1"/>
              </a:solidFill>
              <a:latin typeface="Calibri"/>
              <a:ea typeface="Calibri"/>
              <a:cs typeface="Calibri"/>
              <a:sym typeface="Calibri"/>
            </a:endParaRPr>
          </a:p>
        </p:txBody>
      </p:sp>
      <p:sp>
        <p:nvSpPr>
          <p:cNvPr id="919" name="Google Shape;919;p16"/>
          <p:cNvSpPr/>
          <p:nvPr/>
        </p:nvSpPr>
        <p:spPr>
          <a:xfrm>
            <a:off x="6007608" y="2980944"/>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dist</a:t>
            </a:r>
            <a:endParaRPr b="0" i="0" sz="950" u="none" cap="none" strike="noStrike">
              <a:solidFill>
                <a:schemeClr val="dk1"/>
              </a:solidFill>
              <a:latin typeface="Calibri"/>
              <a:ea typeface="Calibri"/>
              <a:cs typeface="Calibri"/>
              <a:sym typeface="Calibri"/>
            </a:endParaRPr>
          </a:p>
        </p:txBody>
      </p:sp>
      <p:sp>
        <p:nvSpPr>
          <p:cNvPr id="920" name="Google Shape;920;p16"/>
          <p:cNvSpPr/>
          <p:nvPr/>
        </p:nvSpPr>
        <p:spPr>
          <a:xfrm>
            <a:off x="4937760" y="3310128"/>
            <a:ext cx="105156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01E4A"/>
              </a:buClr>
              <a:buSzPts val="950"/>
              <a:buFont typeface="Calibri"/>
              <a:buNone/>
            </a:pPr>
            <a:r>
              <a:rPr b="1" i="0" lang="en-US" sz="950" u="none" cap="none" strike="noStrike">
                <a:solidFill>
                  <a:srgbClr val="A01E4A"/>
                </a:solidFill>
                <a:latin typeface="Calibri"/>
                <a:ea typeface="Calibri"/>
                <a:cs typeface="Calibri"/>
                <a:sym typeface="Calibri"/>
              </a:rPr>
              <a:t>Env var</a:t>
            </a:r>
            <a:endParaRPr b="0" i="0" sz="950" u="none" cap="none" strike="noStrike">
              <a:solidFill>
                <a:schemeClr val="dk1"/>
              </a:solidFill>
              <a:latin typeface="Calibri"/>
              <a:ea typeface="Calibri"/>
              <a:cs typeface="Calibri"/>
              <a:sym typeface="Calibri"/>
            </a:endParaRPr>
          </a:p>
        </p:txBody>
      </p:sp>
      <p:sp>
        <p:nvSpPr>
          <p:cNvPr id="921" name="Google Shape;921;p16"/>
          <p:cNvSpPr/>
          <p:nvPr/>
        </p:nvSpPr>
        <p:spPr>
          <a:xfrm>
            <a:off x="6007608" y="3310128"/>
            <a:ext cx="2606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Courier New"/>
              <a:buNone/>
            </a:pPr>
            <a:r>
              <a:rPr b="0" i="0" lang="en-US" sz="950" u="none" cap="none" strike="noStrike">
                <a:solidFill>
                  <a:srgbClr val="2D2D2D"/>
                </a:solidFill>
                <a:latin typeface="Courier New"/>
                <a:ea typeface="Courier New"/>
                <a:cs typeface="Courier New"/>
                <a:sym typeface="Courier New"/>
              </a:rPr>
              <a:t>VITE_API_URL → backend URL</a:t>
            </a:r>
            <a:endParaRPr b="0" i="0" sz="950" u="none" cap="none" strike="noStrike">
              <a:solidFill>
                <a:schemeClr val="dk1"/>
              </a:solidFill>
              <a:latin typeface="Calibri"/>
              <a:ea typeface="Calibri"/>
              <a:cs typeface="Calibri"/>
              <a:sym typeface="Calibri"/>
            </a:endParaRPr>
          </a:p>
        </p:txBody>
      </p:sp>
      <p:sp>
        <p:nvSpPr>
          <p:cNvPr id="922" name="Google Shape;922;p16"/>
          <p:cNvSpPr/>
          <p:nvPr/>
        </p:nvSpPr>
        <p:spPr>
          <a:xfrm>
            <a:off x="457200" y="438912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50"/>
              <a:buFont typeface="Calibri"/>
              <a:buNone/>
            </a:pPr>
            <a:r>
              <a:rPr b="1" i="1" lang="en-US" sz="1050" u="none" cap="none" strike="noStrike">
                <a:solidFill>
                  <a:srgbClr val="2D2D2D"/>
                </a:solidFill>
                <a:latin typeface="Calibri"/>
                <a:ea typeface="Calibri"/>
                <a:cs typeface="Calibri"/>
                <a:sym typeface="Calibri"/>
              </a:rPr>
              <a:t>Secrets </a:t>
            </a:r>
            <a:r>
              <a:rPr b="0" i="1" lang="en-US" sz="1050" u="none" cap="none" strike="noStrike">
                <a:solidFill>
                  <a:srgbClr val="A01E4A"/>
                </a:solidFill>
                <a:latin typeface="Courier New"/>
                <a:ea typeface="Courier New"/>
                <a:cs typeface="Courier New"/>
                <a:sym typeface="Courier New"/>
              </a:rPr>
              <a:t>(MONGODB_URI, OPENAI_API_KEY)</a:t>
            </a:r>
            <a:r>
              <a:rPr b="0" i="1" lang="en-US" sz="1050" u="none" cap="none" strike="noStrike">
                <a:solidFill>
                  <a:srgbClr val="666666"/>
                </a:solidFill>
                <a:latin typeface="Calibri"/>
                <a:ea typeface="Calibri"/>
                <a:cs typeface="Calibri"/>
                <a:sym typeface="Calibri"/>
              </a:rPr>
              <a:t> live in Render env vars and a local .env — never committed; the repo ships an .env template only.</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7" name="Shape 927"/>
        <p:cNvGrpSpPr/>
        <p:nvPr/>
      </p:nvGrpSpPr>
      <p:grpSpPr>
        <a:xfrm>
          <a:off x="0" y="0"/>
          <a:ext cx="0" cy="0"/>
          <a:chOff x="0" y="0"/>
          <a:chExt cx="0" cy="0"/>
        </a:xfrm>
      </p:grpSpPr>
      <p:pic>
        <p:nvPicPr>
          <p:cNvPr descr="/tmp/band.png" id="928" name="Google Shape;928;p17"/>
          <p:cNvPicPr preferRelativeResize="0"/>
          <p:nvPr/>
        </p:nvPicPr>
        <p:blipFill rotWithShape="1">
          <a:blip r:embed="rId3">
            <a:alphaModFix/>
          </a:blip>
          <a:srcRect b="0" l="0" r="0" t="0"/>
          <a:stretch/>
        </p:blipFill>
        <p:spPr>
          <a:xfrm>
            <a:off x="0" y="0"/>
            <a:ext cx="9144000" cy="868680"/>
          </a:xfrm>
          <a:prstGeom prst="rect">
            <a:avLst/>
          </a:prstGeom>
          <a:noFill/>
          <a:ln>
            <a:noFill/>
          </a:ln>
        </p:spPr>
      </p:pic>
      <p:sp>
        <p:nvSpPr>
          <p:cNvPr id="929" name="Google Shape;929;p17"/>
          <p:cNvSpPr/>
          <p:nvPr/>
        </p:nvSpPr>
        <p:spPr>
          <a:xfrm>
            <a:off x="457200" y="146304"/>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ABF"/>
              </a:buClr>
              <a:buSzPts val="1000"/>
              <a:buFont typeface="Calibri"/>
              <a:buNone/>
            </a:pPr>
            <a:r>
              <a:rPr b="1" i="0" lang="en-US" sz="1000" u="none" cap="none" strike="noStrike">
                <a:solidFill>
                  <a:srgbClr val="F4AABF"/>
                </a:solidFill>
                <a:latin typeface="Calibri"/>
                <a:ea typeface="Calibri"/>
                <a:cs typeface="Calibri"/>
                <a:sym typeface="Calibri"/>
              </a:rPr>
              <a:t>DEPLOYMENT</a:t>
            </a:r>
            <a:endParaRPr b="0" i="0" sz="1000" u="none" cap="none" strike="noStrike">
              <a:solidFill>
                <a:schemeClr val="dk1"/>
              </a:solidFill>
              <a:latin typeface="Calibri"/>
              <a:ea typeface="Calibri"/>
              <a:cs typeface="Calibri"/>
              <a:sym typeface="Calibri"/>
            </a:endParaRPr>
          </a:p>
        </p:txBody>
      </p:sp>
      <p:sp>
        <p:nvSpPr>
          <p:cNvPr id="930" name="Google Shape;930;p17"/>
          <p:cNvSpPr/>
          <p:nvPr/>
        </p:nvSpPr>
        <p:spPr>
          <a:xfrm>
            <a:off x="457200" y="365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Calibri"/>
              <a:buNone/>
            </a:pPr>
            <a:r>
              <a:rPr b="1" i="0" lang="en-US" sz="2500" u="none" cap="none" strike="noStrike">
                <a:solidFill>
                  <a:srgbClr val="FFFFFF"/>
                </a:solidFill>
                <a:latin typeface="Calibri"/>
                <a:ea typeface="Calibri"/>
                <a:cs typeface="Calibri"/>
                <a:sym typeface="Calibri"/>
              </a:rPr>
              <a:t>Deployment </a:t>
            </a:r>
            <a:endParaRPr b="0" i="0" sz="2500" u="none" cap="none" strike="noStrike">
              <a:solidFill>
                <a:schemeClr val="dk1"/>
              </a:solidFill>
              <a:latin typeface="Calibri"/>
              <a:ea typeface="Calibri"/>
              <a:cs typeface="Calibri"/>
              <a:sym typeface="Calibri"/>
            </a:endParaRPr>
          </a:p>
        </p:txBody>
      </p:sp>
      <p:sp>
        <p:nvSpPr>
          <p:cNvPr id="931" name="Google Shape;931;p17"/>
          <p:cNvSpPr/>
          <p:nvPr/>
        </p:nvSpPr>
        <p:spPr>
          <a:xfrm>
            <a:off x="457205" y="1253410"/>
            <a:ext cx="393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400"/>
              <a:buFont typeface="Calibri"/>
              <a:buNone/>
            </a:pPr>
            <a:r>
              <a:rPr b="1" i="0" lang="en-US" sz="1400" u="none" cap="none" strike="noStrike">
                <a:solidFill>
                  <a:srgbClr val="2D2D2D"/>
                </a:solidFill>
                <a:latin typeface="Calibri"/>
                <a:ea typeface="Calibri"/>
                <a:cs typeface="Calibri"/>
                <a:sym typeface="Calibri"/>
              </a:rPr>
              <a:t>Status</a:t>
            </a:r>
            <a:endParaRPr b="0" i="0" sz="1400" u="none" cap="none" strike="noStrike">
              <a:solidFill>
                <a:schemeClr val="dk1"/>
              </a:solidFill>
              <a:latin typeface="Calibri"/>
              <a:ea typeface="Calibri"/>
              <a:cs typeface="Calibri"/>
              <a:sym typeface="Calibri"/>
            </a:endParaRPr>
          </a:p>
        </p:txBody>
      </p:sp>
      <p:sp>
        <p:nvSpPr>
          <p:cNvPr id="932" name="Google Shape;932;p17"/>
          <p:cNvSpPr/>
          <p:nvPr/>
        </p:nvSpPr>
        <p:spPr>
          <a:xfrm>
            <a:off x="457205" y="1619170"/>
            <a:ext cx="3931800" cy="3017400"/>
          </a:xfrm>
          <a:prstGeom prst="roundRect">
            <a:avLst>
              <a:gd fmla="val 1818" name="adj"/>
            </a:avLst>
          </a:prstGeom>
          <a:solidFill>
            <a:srgbClr val="FDF5F8"/>
          </a:solidFill>
          <a:ln cap="flat" cmpd="sng" w="12700">
            <a:solidFill>
              <a:srgbClr val="E8E8E8"/>
            </a:solidFill>
            <a:prstDash val="solid"/>
            <a:round/>
            <a:headEnd len="sm" w="sm" type="none"/>
            <a:tailEnd len="sm" w="sm" type="none"/>
          </a:ln>
          <a:effectLst>
            <a:outerShdw blurRad="63500" rotWithShape="0" algn="bl" dir="54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7"/>
          <p:cNvSpPr/>
          <p:nvPr/>
        </p:nvSpPr>
        <p:spPr>
          <a:xfrm>
            <a:off x="685805" y="1866058"/>
            <a:ext cx="183000" cy="183000"/>
          </a:xfrm>
          <a:prstGeom prst="ellipse">
            <a:avLst/>
          </a:prstGeom>
          <a:solidFill>
            <a:srgbClr val="1E9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7"/>
          <p:cNvSpPr/>
          <p:nvPr/>
        </p:nvSpPr>
        <p:spPr>
          <a:xfrm>
            <a:off x="960125" y="1792906"/>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50"/>
              <a:buFont typeface="Calibri"/>
              <a:buNone/>
            </a:pPr>
            <a:r>
              <a:rPr b="1" i="0" lang="en-US" sz="1150" u="none" cap="none" strike="noStrike">
                <a:solidFill>
                  <a:srgbClr val="2D2D2D"/>
                </a:solidFill>
                <a:latin typeface="Calibri"/>
                <a:ea typeface="Calibri"/>
                <a:cs typeface="Calibri"/>
                <a:sym typeface="Calibri"/>
              </a:rPr>
              <a:t>Frontend — live</a:t>
            </a:r>
            <a:endParaRPr b="0" i="0" sz="1150" u="none" cap="none" strike="noStrike">
              <a:solidFill>
                <a:schemeClr val="dk1"/>
              </a:solidFill>
              <a:latin typeface="Calibri"/>
              <a:ea typeface="Calibri"/>
              <a:cs typeface="Calibri"/>
              <a:sym typeface="Calibri"/>
            </a:endParaRPr>
          </a:p>
        </p:txBody>
      </p:sp>
      <p:sp>
        <p:nvSpPr>
          <p:cNvPr id="935" name="Google Shape;935;p17"/>
          <p:cNvSpPr/>
          <p:nvPr/>
        </p:nvSpPr>
        <p:spPr>
          <a:xfrm>
            <a:off x="960125" y="2048938"/>
            <a:ext cx="3246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950"/>
              <a:buFont typeface="Calibri"/>
              <a:buNone/>
            </a:pPr>
            <a:r>
              <a:rPr b="0" i="0" lang="en-US" sz="950" u="none" cap="none" strike="noStrike">
                <a:solidFill>
                  <a:srgbClr val="666666"/>
                </a:solidFill>
                <a:latin typeface="Calibri"/>
                <a:ea typeface="Calibri"/>
                <a:cs typeface="Calibri"/>
                <a:sym typeface="Calibri"/>
              </a:rPr>
              <a:t>Static site serving the React build</a:t>
            </a:r>
            <a:endParaRPr b="0" i="0" sz="950" u="none" cap="none" strike="noStrike">
              <a:solidFill>
                <a:schemeClr val="dk1"/>
              </a:solidFill>
              <a:latin typeface="Calibri"/>
              <a:ea typeface="Calibri"/>
              <a:cs typeface="Calibri"/>
              <a:sym typeface="Calibri"/>
            </a:endParaRPr>
          </a:p>
        </p:txBody>
      </p:sp>
      <p:sp>
        <p:nvSpPr>
          <p:cNvPr id="936" name="Google Shape;936;p17"/>
          <p:cNvSpPr/>
          <p:nvPr/>
        </p:nvSpPr>
        <p:spPr>
          <a:xfrm>
            <a:off x="685805" y="2570146"/>
            <a:ext cx="183000" cy="183000"/>
          </a:xfrm>
          <a:prstGeom prst="ellipse">
            <a:avLst/>
          </a:prstGeom>
          <a:solidFill>
            <a:srgbClr val="1E9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7"/>
          <p:cNvSpPr/>
          <p:nvPr/>
        </p:nvSpPr>
        <p:spPr>
          <a:xfrm>
            <a:off x="960125" y="2496994"/>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50"/>
              <a:buFont typeface="Calibri"/>
              <a:buNone/>
            </a:pPr>
            <a:r>
              <a:rPr b="1" i="0" lang="en-US" sz="1150" u="none" cap="none" strike="noStrike">
                <a:solidFill>
                  <a:srgbClr val="2D2D2D"/>
                </a:solidFill>
                <a:latin typeface="Calibri"/>
                <a:ea typeface="Calibri"/>
                <a:cs typeface="Calibri"/>
                <a:sym typeface="Calibri"/>
              </a:rPr>
              <a:t>Backend — live</a:t>
            </a:r>
            <a:endParaRPr b="0" i="0" sz="1150" u="none" cap="none" strike="noStrike">
              <a:solidFill>
                <a:schemeClr val="dk1"/>
              </a:solidFill>
              <a:latin typeface="Calibri"/>
              <a:ea typeface="Calibri"/>
              <a:cs typeface="Calibri"/>
              <a:sym typeface="Calibri"/>
            </a:endParaRPr>
          </a:p>
        </p:txBody>
      </p:sp>
      <p:sp>
        <p:nvSpPr>
          <p:cNvPr id="938" name="Google Shape;938;p17"/>
          <p:cNvSpPr/>
          <p:nvPr/>
        </p:nvSpPr>
        <p:spPr>
          <a:xfrm>
            <a:off x="960125" y="2753026"/>
            <a:ext cx="3246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950"/>
              <a:buFont typeface="Calibri"/>
              <a:buNone/>
            </a:pPr>
            <a:r>
              <a:rPr b="0" i="0" lang="en-US" sz="950" u="none" cap="none" strike="noStrike">
                <a:solidFill>
                  <a:srgbClr val="666666"/>
                </a:solidFill>
                <a:latin typeface="Calibri"/>
                <a:ea typeface="Calibri"/>
                <a:cs typeface="Calibri"/>
                <a:sym typeface="Calibri"/>
              </a:rPr>
              <a:t>Docker web service responding on Render</a:t>
            </a:r>
            <a:endParaRPr b="0" i="0" sz="950" u="none" cap="none" strike="noStrike">
              <a:solidFill>
                <a:schemeClr val="dk1"/>
              </a:solidFill>
              <a:latin typeface="Calibri"/>
              <a:ea typeface="Calibri"/>
              <a:cs typeface="Calibri"/>
              <a:sym typeface="Calibri"/>
            </a:endParaRPr>
          </a:p>
        </p:txBody>
      </p:sp>
      <p:sp>
        <p:nvSpPr>
          <p:cNvPr id="939" name="Google Shape;939;p17"/>
          <p:cNvSpPr/>
          <p:nvPr/>
        </p:nvSpPr>
        <p:spPr>
          <a:xfrm>
            <a:off x="685805" y="3274234"/>
            <a:ext cx="183000" cy="183000"/>
          </a:xfrm>
          <a:prstGeom prst="ellipse">
            <a:avLst/>
          </a:prstGeom>
          <a:solidFill>
            <a:srgbClr val="1E9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7"/>
          <p:cNvSpPr/>
          <p:nvPr/>
        </p:nvSpPr>
        <p:spPr>
          <a:xfrm>
            <a:off x="960125" y="3201082"/>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50"/>
              <a:buFont typeface="Calibri"/>
              <a:buNone/>
            </a:pPr>
            <a:r>
              <a:rPr b="1" i="0" lang="en-US" sz="1150" u="none" cap="none" strike="noStrike">
                <a:solidFill>
                  <a:srgbClr val="2D2D2D"/>
                </a:solidFill>
                <a:latin typeface="Calibri"/>
                <a:ea typeface="Calibri"/>
                <a:cs typeface="Calibri"/>
                <a:sym typeface="Calibri"/>
              </a:rPr>
              <a:t>MongoDB — connected</a:t>
            </a:r>
            <a:endParaRPr b="0" i="0" sz="1150" u="none" cap="none" strike="noStrike">
              <a:solidFill>
                <a:schemeClr val="dk1"/>
              </a:solidFill>
              <a:latin typeface="Calibri"/>
              <a:ea typeface="Calibri"/>
              <a:cs typeface="Calibri"/>
              <a:sym typeface="Calibri"/>
            </a:endParaRPr>
          </a:p>
        </p:txBody>
      </p:sp>
      <p:sp>
        <p:nvSpPr>
          <p:cNvPr id="941" name="Google Shape;941;p17"/>
          <p:cNvSpPr/>
          <p:nvPr/>
        </p:nvSpPr>
        <p:spPr>
          <a:xfrm>
            <a:off x="960125" y="3457114"/>
            <a:ext cx="3246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950"/>
              <a:buFont typeface="Calibri"/>
              <a:buNone/>
            </a:pPr>
            <a:r>
              <a:rPr b="0" i="0" lang="en-US" sz="950" u="none" cap="none" strike="noStrike">
                <a:solidFill>
                  <a:srgbClr val="666666"/>
                </a:solidFill>
                <a:latin typeface="Calibri"/>
                <a:ea typeface="Calibri"/>
                <a:cs typeface="Calibri"/>
                <a:sym typeface="Calibri"/>
              </a:rPr>
              <a:t>Atlas testgen-cluster (DB: speccheck) connected; login &amp; data persistence working</a:t>
            </a:r>
            <a:endParaRPr b="0" i="0" sz="950" u="none" cap="none" strike="noStrike">
              <a:solidFill>
                <a:schemeClr val="dk1"/>
              </a:solidFill>
              <a:latin typeface="Calibri"/>
              <a:ea typeface="Calibri"/>
              <a:cs typeface="Calibri"/>
              <a:sym typeface="Calibri"/>
            </a:endParaRPr>
          </a:p>
        </p:txBody>
      </p:sp>
      <p:sp>
        <p:nvSpPr>
          <p:cNvPr id="942" name="Google Shape;942;p17"/>
          <p:cNvSpPr/>
          <p:nvPr/>
        </p:nvSpPr>
        <p:spPr>
          <a:xfrm>
            <a:off x="685805" y="3978322"/>
            <a:ext cx="183000" cy="183000"/>
          </a:xfrm>
          <a:prstGeom prst="ellipse">
            <a:avLst/>
          </a:prstGeom>
          <a:solidFill>
            <a:srgbClr val="8888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7"/>
          <p:cNvSpPr/>
          <p:nvPr/>
        </p:nvSpPr>
        <p:spPr>
          <a:xfrm>
            <a:off x="960125" y="3905170"/>
            <a:ext cx="3200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50"/>
              <a:buFont typeface="Calibri"/>
              <a:buNone/>
            </a:pPr>
            <a:r>
              <a:rPr b="1" i="0" lang="en-US" sz="1150" u="none" cap="none" strike="noStrike">
                <a:solidFill>
                  <a:srgbClr val="2D2D2D"/>
                </a:solidFill>
                <a:latin typeface="Calibri"/>
                <a:ea typeface="Calibri"/>
                <a:cs typeface="Calibri"/>
                <a:sym typeface="Calibri"/>
              </a:rPr>
              <a:t>Free-tier cold start</a:t>
            </a:r>
            <a:endParaRPr b="0" i="0" sz="1150" u="none" cap="none" strike="noStrike">
              <a:solidFill>
                <a:schemeClr val="dk1"/>
              </a:solidFill>
              <a:latin typeface="Calibri"/>
              <a:ea typeface="Calibri"/>
              <a:cs typeface="Calibri"/>
              <a:sym typeface="Calibri"/>
            </a:endParaRPr>
          </a:p>
        </p:txBody>
      </p:sp>
      <p:sp>
        <p:nvSpPr>
          <p:cNvPr id="944" name="Google Shape;944;p17"/>
          <p:cNvSpPr/>
          <p:nvPr/>
        </p:nvSpPr>
        <p:spPr>
          <a:xfrm>
            <a:off x="960125" y="4161202"/>
            <a:ext cx="3246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950"/>
              <a:buFont typeface="Calibri"/>
              <a:buNone/>
            </a:pPr>
            <a:r>
              <a:rPr b="0" i="0" lang="en-US" sz="950" u="none" cap="none" strike="noStrike">
                <a:solidFill>
                  <a:srgbClr val="666666"/>
                </a:solidFill>
                <a:latin typeface="Calibri"/>
                <a:ea typeface="Calibri"/>
                <a:cs typeface="Calibri"/>
                <a:sym typeface="Calibri"/>
              </a:rPr>
              <a:t>First request may take ~60s after idle spin-down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g3ec043b165a_0_350"/>
          <p:cNvSpPr txBox="1"/>
          <p:nvPr/>
        </p:nvSpPr>
        <p:spPr>
          <a:xfrm>
            <a:off x="3245125" y="2071125"/>
            <a:ext cx="73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2"/>
                </a:solidFill>
                <a:latin typeface="Source Code Pro"/>
                <a:ea typeface="Source Code Pro"/>
                <a:cs typeface="Source Code Pro"/>
                <a:sym typeface="Source Code Pro"/>
              </a:rPr>
              <a:t>Demo</a:t>
            </a:r>
            <a:endParaRPr b="1" sz="1800">
              <a:solidFill>
                <a:schemeClr val="dk2"/>
              </a:solidFill>
              <a:latin typeface="Source Code Pro"/>
              <a:ea typeface="Source Code Pro"/>
              <a:cs typeface="Source Code Pro"/>
              <a:sym typeface="Source Code Pr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2026-06-14T21:30:20Z</dcterms:created>
  <dc:creator>Team 3 - SpecCheck</dc:creator>
</cp:coreProperties>
</file>